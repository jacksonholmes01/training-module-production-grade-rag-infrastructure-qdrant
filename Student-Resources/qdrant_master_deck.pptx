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Lab 1. This deck covers the full lab from first boot through the security memory extension. Students should have Docker installed and at least 16GB RAM available. The lab uses Qdrant as the vector database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the lab students will have all 6 components running locally in Docker. This is not a tutorial chatbot — it is a production-pattern multi-service system with real security controls. The security memory extension is optional but highly recommended.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 solves the hallucination problem by grounding the LLM in real documents. The model only sees what you put in the prompt. Sources are returned alongside the answer so students can verify where information came from — this auditability is a key production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diagram in the deck. Point out that the arrow path NGINX → FastAPI → Qdrant → Prompt → Ollama → Response is exactly what happens on every /chat call. The LLM has no direct database access — it only sees what FastAPI puts in the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two ports are exposed to the student's laptop: 7860 (Gradio UI) and 8088 (NGINX proxy). Everything else — Qdrant, text2vec, FastAPI, Ollama — is internal-only. Students cannot call Qdrant directly from their browser, which is intentional and mirrors production security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Qdrant stores two things per document: the vector (numbers) and the payload (metadata). The REST API is at qdrant:6333 internally. Students can verify the collection using the dashboard at localhost:6333/dashboard if they want a visual confirmation during ingestion.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ask 'why not just use OpenAI embeddings?' The answer is that this lab runs fully locally with no external API keys or internet dependence. text2vec-transformers uses a sentence-transformer model (all-MiniLM-L6-v2) that produces 384-dimensional vectors.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FastAPI is the brain of the system. It never stores data itself — it orchestrates between Qdrant, text2vec-transformers, and Ollama. The debug endpoints (/debug/retrieve, /debug/prompt, /debug/ollama) are a major teaching tool that lets students isolate which layer is failing.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student misconception is that the LLM knows everything. It only knows what is in the prompt. If retrieval returns empty results, the LLM gets no context and will hallucinate or give generic answers. This is why retrieval must be verified before debugging generation.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try to hit Qdrant directly from their browser and are surprised it doesn't work. That's intentional. NGINX is the only way in. The Gradio UI also goes through NGINX — it is not a backdoor. Both NGINX and FastAPI check the key independently (defense in depth).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common student mistake is running docker compose down thinking it will reset everything. It won't — volumes persist. The reset script is the way to do a full wipe. Also clarify that ollama_data is why they only need to pull the model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summarizes the 6 security controls baked into the lab architecture. Each one teaches a real production concept. Emphasize that these aren't added for complexity — they're the minimum viable security posture for any AI system that will be used by real users.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repo root is intentionally flat. The most important files for getting started are docker-compose.yml and .env.example. Students should not edit docker-compose.yml until Lesson 3 where they learn what each section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ingestion-api/ folder is where students will spend most of their time when doing optional code changes. The security_memory/ package inside ingestion-api/app/ contains the 5 files added during Lesson 4.2. The lessons/ folder is the primary guide — students should keep it open while working.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 is conceptual — no commands yet. The goal is mental model formation before students touch any files. Encourage students to draw the request flow on paper: UI → NGINX → FastAPI → Qdrant/Ollama → back to UI.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EDGE_API_KEY must be set before anything works. A common mistake is leaving it as 'change-me' or empty. Generate it with the Python command shown. The .env file is gitignored — students should never commit it. First docker compose up can take 5-10 minutes to pull all images.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should open docker-compose.yml and follow along. Point out that mem_limit: 8g on Qdrant and Ollama is what makes this lab heavy on RAM. If students have 8GB total Docker memory, they may need to reduce one of those limits. docker stats is the first tool to reach for when something feels slow.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401 vs 403 distinction is something students often confuse. 401 = you didn't provide credentials at all. 403 = you provided credentials but they're wrong. This is a real HTTP semantics lesson. Defense in depth means neither layer trusts the other — both check independently.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key teaching point here is that Qdrant's flexibility (no schema migration needed) is both a strength and a responsibility. If you add a field in schemas.py you don't need to touch Qdrant. But if you change the embedding model or vector dimension, you must recreate the collection.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intentional 422 exercise is one of the best teaching moments in the lab. Students see that the system rejects bad data before it ever touches Qdrant. A 422 response means Pydantic caught the validation error — the URL field failed validation because 'not-a-real-url' is not a valid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debug-first workflow is a professional habit this lab intentionally teaches. Never start debugging by looking at /chat output. Start at /debug/retrieve. If retrieval works, check /debug/prompt. If prompt looks right, check /debug/ollama. Only then look at /chat. This isolates the failure layer.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6-step pipeline diagram matches the data flow diagram from Slide 4. This lesson makes it concrete with actual code functions. Retrieval always happens before generation — the model only receives what retrieve_sources() returns. If the collection is empty, the model gets no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most important debugging insight in the whole lab: the LLM only sees the prompt string. If retrieval returns wrong documents, the prompt will be wrong, and the answer will be wrong. Students should run /debug/prompt and read the full output before blaming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RAG_TOP_K=4 is the default. Encourage students to experiment: try 2 (focused) vs 8 (broad) and compare the answers. The /chat endpoint should work end-to-end after this lesson. Common failure: Ollama not yet loaded. Check docker logs ollama.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often see example.org sources and think something is broken. Clarify that those are the sample articles that were ingested in Lesson 6. They ARE the correct sources for the sample dataset. If students want security-specific sources they need to complete the security memory extension.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smoke test script is the definitive answer to 'is the system working?' If it passes, every layer is functional. If it fails at a specific step, students know exactly which layer to debug. This is professional operational discipline — never assume, always verify with a repeatable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failure drills teach students to reason about service dependencies. Drill A shows retrieval is independent from generation. Drill B shows how critical Qdrant is — everything depends on it. Drill C shows the embedding service is needed for both ingest and query. Run smoke_test.sh before and after each drill.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10 is the most important lesson for students to internalize. Many students will describe what they built as 'a chatbot' to future employers. Correct that framing — they built a multi-service AI infrastructure system with real security controls, not a ChatGPT wrapper.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worth spending time on. The debugging framework (retrieve → prompt → ollama → chat) is a genuinely professional skill students can use in any RAG system, not just this one. The production parallels show that what they built is not a toy — the pattern scales to enterprise deployments.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security memory extension is where this lab goes from a general RAG demo to a practical security tool. ExpandedVSCodeMemory is completely separate from LabDoc — querying one never touches the other. Students need to ingest the security corpus first (Lesson 4.1) before any of the API endpoints in Lesson 4.2 will return results.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organization matters because the subfolder name becomes the 'source' field and drives tag inference. A file under cis/ automatically gets the tag 'cis'. Files can be .md or .txt — .md is preferred because it preserves heading structure which the chunker uses for better splits.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Ingestion is slow because each chunk requires a separate Ollama embedding call. 3596 chunks (a typical corpus) takes 30-90 minutes on a laptop. Students should monitor with docker stats and docker logs — as long as Ollama CPU is high, it's working. The Qdrant dashboard at localhost:6333/dashboard is useful for visual verification.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contract concept is key — the API must be predictable because the LLM and IDE tools will call it programmatically. If the response shape changes, downstream tools break. The security_memory package files are already in the repo for the Qdrant version — students don't need to create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Steps 4 and 5 are the most interesting optional additions. Follow-up suggestions turn the chatbot from a one-shot Q&amp;A into a guided exploration tool. Scope enforcement makes it a dedicated security assistant. Both require Step 1 (the security classifier) to be in place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Grounding is the key concept of this lesson. 'We followed CIS Benchmark v1.6 section 4.1' is an auditable security claim. 'The AI said it was fine' is not. Teaching students to demand citations from AI tools is a professional habit that transfers to real security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prompt library is what converts the memory from a database into a practical security workflow. Each template has example curl commands at the top so students know exactly what memory query to run before using the template. The 9-step process: decide file → run query → preview results → open template → copy prompt → paste into IDE chat → read findings → implement one fix at a time → re-run lab to confirm it still 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(Weaviate) and Lab 3 (Milvus) follow the same lesson structure as Lab 1, so students who complete this lab will find the next ones much easier — the architecture pattern is identical, only the database client and query syntax change. The MCP integration is the most advanced optional extension and transforms the security review workflow from manual curl to automatic IDE tool calls.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slideLayout" Target="../slideLayouts/slideLayout1.xml"/><Relationship Id="rId6"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image" Target="../media/image-37-2.png"/><Relationship Id="rId3" Type="http://schemas.openxmlformats.org/officeDocument/2006/relationships/image" Target="../media/image-37-3.png"/><Relationship Id="rId4" Type="http://schemas.openxmlformats.org/officeDocument/2006/relationships/image" Target="../media/image-37-4.png"/><Relationship Id="rId5" Type="http://schemas.openxmlformats.org/officeDocument/2006/relationships/image" Target="../media/image-37-5.png"/><Relationship Id="rId6" Type="http://schemas.openxmlformats.org/officeDocument/2006/relationships/slideLayout" Target="../slideLayouts/slideLayout1.xml"/><Relationship Id="rId7"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D1117"/>
          </a:solidFill>
          <a:ln/>
        </p:spPr>
      </p:sp>
      <p:sp>
        <p:nvSpPr>
          <p:cNvPr id="3" name="Shape 1"/>
          <p:cNvSpPr/>
          <p:nvPr/>
        </p:nvSpPr>
        <p:spPr>
          <a:xfrm>
            <a:off x="0" y="0"/>
            <a:ext cx="109728" cy="5143500"/>
          </a:xfrm>
          <a:prstGeom prst="rect">
            <a:avLst/>
          </a:prstGeom>
          <a:solidFill>
            <a:srgbClr val="00D4AA"/>
          </a:solidFill>
          <a:ln/>
        </p:spPr>
      </p:sp>
      <p:sp>
        <p:nvSpPr>
          <p:cNvPr id="4" name="Shape 2"/>
          <p:cNvSpPr/>
          <p:nvPr/>
        </p:nvSpPr>
        <p:spPr>
          <a:xfrm>
            <a:off x="6858000" y="-1097280"/>
            <a:ext cx="3657600" cy="3657600"/>
          </a:xfrm>
          <a:prstGeom prst="ellipse">
            <a:avLst/>
          </a:prstGeom>
          <a:solidFill>
            <a:srgbClr val="00D4AA">
              <a:alpha val="12000"/>
            </a:srgbClr>
          </a:solidFill>
          <a:ln/>
        </p:spPr>
      </p:sp>
      <p:sp>
        <p:nvSpPr>
          <p:cNvPr id="5" name="Shape 3"/>
          <p:cNvSpPr/>
          <p:nvPr/>
        </p:nvSpPr>
        <p:spPr>
          <a:xfrm>
            <a:off x="7315200" y="-457200"/>
            <a:ext cx="2286000" cy="2286000"/>
          </a:xfrm>
          <a:prstGeom prst="ellipse">
            <a:avLst/>
          </a:prstGeom>
          <a:solidFill>
            <a:srgbClr val="00D4AA">
              <a:alpha val="20000"/>
            </a:srgbClr>
          </a:solidFill>
          <a:ln/>
        </p:spPr>
      </p:sp>
      <p:pic>
        <p:nvPicPr>
          <p:cNvPr id="6" name="Image 0" descr="preencoded.png">    </p:cNvPr>
          <p:cNvPicPr>
            <a:picLocks noChangeAspect="1"/>
          </p:cNvPicPr>
          <p:nvPr/>
        </p:nvPicPr>
        <p:blipFill>
          <a:blip r:embed="rId1"/>
          <a:stretch>
            <a:fillRect/>
          </a:stretch>
        </p:blipFill>
        <p:spPr>
          <a:xfrm>
            <a:off x="457200" y="914400"/>
            <a:ext cx="640080" cy="640080"/>
          </a:xfrm>
          <a:prstGeom prst="rect">
            <a:avLst/>
          </a:prstGeom>
        </p:spPr>
      </p:pic>
      <p:sp>
        <p:nvSpPr>
          <p:cNvPr id="7" name="Text 4"/>
          <p:cNvSpPr/>
          <p:nvPr/>
        </p:nvSpPr>
        <p:spPr>
          <a:xfrm>
            <a:off x="1280160" y="822960"/>
            <a:ext cx="7315200" cy="502920"/>
          </a:xfrm>
          <a:prstGeom prst="rect">
            <a:avLst/>
          </a:prstGeom>
          <a:noFill/>
          <a:ln/>
        </p:spPr>
        <p:txBody>
          <a:bodyPr wrap="square" rtlCol="0" anchor="ctr"/>
          <a:lstStyle/>
          <a:p>
            <a:pPr indent="0" marL="0">
              <a:buNone/>
            </a:pPr>
            <a:r>
              <a:rPr lang="en-US" sz="1800" b="1" dirty="0">
                <a:solidFill>
                  <a:srgbClr val="00D4AA"/>
                </a:solidFill>
                <a:latin typeface="Calibri" pitchFamily="34" charset="0"/>
                <a:ea typeface="Calibri" pitchFamily="34" charset="-122"/>
                <a:cs typeface="Calibri" pitchFamily="34" charset="-120"/>
              </a:rPr>
              <a:t>Lab 1</a:t>
            </a:r>
            <a:endParaRPr lang="en-US" sz="1800" dirty="0"/>
          </a:p>
        </p:txBody>
      </p:sp>
      <p:sp>
        <p:nvSpPr>
          <p:cNvPr id="8" name="Text 5"/>
          <p:cNvSpPr/>
          <p:nvPr/>
        </p:nvSpPr>
        <p:spPr>
          <a:xfrm>
            <a:off x="1280160" y="1325880"/>
            <a:ext cx="6858000" cy="1280160"/>
          </a:xfrm>
          <a:prstGeom prst="rect">
            <a:avLst/>
          </a:prstGeom>
          <a:noFill/>
          <a:ln/>
        </p:spPr>
        <p:txBody>
          <a:bodyPr wrap="square" rtlCol="0" anchor="ctr"/>
          <a:lstStyle/>
          <a:p>
            <a:pPr indent="0" marL="0">
              <a:buNone/>
            </a:pPr>
            <a:r>
              <a:rPr lang="en-US" sz="3600" b="1" dirty="0">
                <a:solidFill>
                  <a:srgbClr val="E6EDF3"/>
                </a:solidFill>
                <a:latin typeface="Calibri" pitchFamily="34" charset="0"/>
                <a:ea typeface="Calibri" pitchFamily="34" charset="-122"/>
                <a:cs typeface="Calibri" pitchFamily="34" charset="-120"/>
              </a:rPr>
              <a:t>Production-Grade RAG</a:t>
            </a:r>
            <a:endParaRPr lang="en-US" sz="3600" dirty="0"/>
          </a:p>
          <a:p>
            <a:pPr indent="0" marL="0">
              <a:buNone/>
            </a:pPr>
            <a:r>
              <a:rPr lang="en-US" sz="3600" b="1" dirty="0">
                <a:solidFill>
                  <a:srgbClr val="E6EDF3"/>
                </a:solidFill>
                <a:latin typeface="Calibri" pitchFamily="34" charset="0"/>
                <a:ea typeface="Calibri" pitchFamily="34" charset="-122"/>
                <a:cs typeface="Calibri" pitchFamily="34" charset="-120"/>
              </a:rPr>
              <a:t>Infrastructure with Qdrant</a:t>
            </a:r>
            <a:endParaRPr lang="en-US" sz="3600" dirty="0"/>
          </a:p>
        </p:txBody>
      </p:sp>
      <p:sp>
        <p:nvSpPr>
          <p:cNvPr id="9" name="Text 6"/>
          <p:cNvSpPr/>
          <p:nvPr/>
        </p:nvSpPr>
        <p:spPr>
          <a:xfrm>
            <a:off x="1280160" y="2697480"/>
            <a:ext cx="6400800" cy="457200"/>
          </a:xfrm>
          <a:prstGeom prst="rect">
            <a:avLst/>
          </a:prstGeom>
          <a:noFill/>
          <a:ln/>
        </p:spPr>
        <p:txBody>
          <a:bodyPr wrap="square" rtlCol="0" anchor="ctr"/>
          <a:lstStyle/>
          <a:p>
            <a:pPr indent="0" marL="0">
              <a:buNone/>
            </a:pPr>
            <a:r>
              <a:rPr lang="en-US" sz="1500" i="1" dirty="0">
                <a:solidFill>
                  <a:srgbClr val="8B949E"/>
                </a:solidFill>
                <a:latin typeface="Calibri" pitchFamily="34" charset="0"/>
                <a:ea typeface="Calibri" pitchFamily="34" charset="-122"/>
                <a:cs typeface="Calibri" pitchFamily="34" charset="-120"/>
              </a:rPr>
              <a:t>Build a secured, multi-service AI retrieval pipeline from scratch</a:t>
            </a:r>
            <a:endParaRPr lang="en-US" sz="1500" dirty="0"/>
          </a:p>
        </p:txBody>
      </p:sp>
      <p:sp>
        <p:nvSpPr>
          <p:cNvPr id="10" name="Shape 7"/>
          <p:cNvSpPr/>
          <p:nvPr/>
        </p:nvSpPr>
        <p:spPr>
          <a:xfrm>
            <a:off x="1280160" y="3337560"/>
            <a:ext cx="1188720" cy="292608"/>
          </a:xfrm>
          <a:prstGeom prst="rect">
            <a:avLst/>
          </a:prstGeom>
          <a:solidFill>
            <a:srgbClr val="161B22"/>
          </a:solidFill>
          <a:ln/>
        </p:spPr>
      </p:sp>
      <p:sp>
        <p:nvSpPr>
          <p:cNvPr id="11" name="Text 8"/>
          <p:cNvSpPr/>
          <p:nvPr/>
        </p:nvSpPr>
        <p:spPr>
          <a:xfrm>
            <a:off x="1280160"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Qdrant</a:t>
            </a:r>
            <a:endParaRPr lang="en-US" sz="1000" dirty="0"/>
          </a:p>
        </p:txBody>
      </p:sp>
      <p:sp>
        <p:nvSpPr>
          <p:cNvPr id="12" name="Shape 9"/>
          <p:cNvSpPr/>
          <p:nvPr/>
        </p:nvSpPr>
        <p:spPr>
          <a:xfrm>
            <a:off x="2578608" y="3337560"/>
            <a:ext cx="1188720" cy="292608"/>
          </a:xfrm>
          <a:prstGeom prst="rect">
            <a:avLst/>
          </a:prstGeom>
          <a:solidFill>
            <a:srgbClr val="161B22"/>
          </a:solidFill>
          <a:ln/>
        </p:spPr>
      </p:sp>
      <p:sp>
        <p:nvSpPr>
          <p:cNvPr id="13" name="Text 10"/>
          <p:cNvSpPr/>
          <p:nvPr/>
        </p:nvSpPr>
        <p:spPr>
          <a:xfrm>
            <a:off x="2578608"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FastAPI</a:t>
            </a:r>
            <a:endParaRPr lang="en-US" sz="1000" dirty="0"/>
          </a:p>
        </p:txBody>
      </p:sp>
      <p:sp>
        <p:nvSpPr>
          <p:cNvPr id="14" name="Shape 11"/>
          <p:cNvSpPr/>
          <p:nvPr/>
        </p:nvSpPr>
        <p:spPr>
          <a:xfrm>
            <a:off x="3877056" y="3337560"/>
            <a:ext cx="1188720" cy="292608"/>
          </a:xfrm>
          <a:prstGeom prst="rect">
            <a:avLst/>
          </a:prstGeom>
          <a:solidFill>
            <a:srgbClr val="161B22"/>
          </a:solidFill>
          <a:ln/>
        </p:spPr>
      </p:sp>
      <p:sp>
        <p:nvSpPr>
          <p:cNvPr id="15" name="Text 12"/>
          <p:cNvSpPr/>
          <p:nvPr/>
        </p:nvSpPr>
        <p:spPr>
          <a:xfrm>
            <a:off x="3877056"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Ollama</a:t>
            </a:r>
            <a:endParaRPr lang="en-US" sz="1000" dirty="0"/>
          </a:p>
        </p:txBody>
      </p:sp>
      <p:sp>
        <p:nvSpPr>
          <p:cNvPr id="16" name="Shape 13"/>
          <p:cNvSpPr/>
          <p:nvPr/>
        </p:nvSpPr>
        <p:spPr>
          <a:xfrm>
            <a:off x="5175504" y="3337560"/>
            <a:ext cx="1188720" cy="292608"/>
          </a:xfrm>
          <a:prstGeom prst="rect">
            <a:avLst/>
          </a:prstGeom>
          <a:solidFill>
            <a:srgbClr val="161B22"/>
          </a:solidFill>
          <a:ln/>
        </p:spPr>
      </p:sp>
      <p:sp>
        <p:nvSpPr>
          <p:cNvPr id="17" name="Text 14"/>
          <p:cNvSpPr/>
          <p:nvPr/>
        </p:nvSpPr>
        <p:spPr>
          <a:xfrm>
            <a:off x="5175504"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NGINX</a:t>
            </a:r>
            <a:endParaRPr lang="en-US" sz="1000" dirty="0"/>
          </a:p>
        </p:txBody>
      </p:sp>
      <p:sp>
        <p:nvSpPr>
          <p:cNvPr id="18" name="Shape 15"/>
          <p:cNvSpPr/>
          <p:nvPr/>
        </p:nvSpPr>
        <p:spPr>
          <a:xfrm>
            <a:off x="6473952" y="3337560"/>
            <a:ext cx="1188720" cy="292608"/>
          </a:xfrm>
          <a:prstGeom prst="rect">
            <a:avLst/>
          </a:prstGeom>
          <a:solidFill>
            <a:srgbClr val="161B22"/>
          </a:solidFill>
          <a:ln/>
        </p:spPr>
      </p:sp>
      <p:sp>
        <p:nvSpPr>
          <p:cNvPr id="19" name="Text 16"/>
          <p:cNvSpPr/>
          <p:nvPr/>
        </p:nvSpPr>
        <p:spPr>
          <a:xfrm>
            <a:off x="6473952"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Gradio</a:t>
            </a:r>
            <a:endParaRPr lang="en-US" sz="1000" dirty="0"/>
          </a:p>
        </p:txBody>
      </p:sp>
      <p:sp>
        <p:nvSpPr>
          <p:cNvPr id="20" name="Shape 17"/>
          <p:cNvSpPr/>
          <p:nvPr/>
        </p:nvSpPr>
        <p:spPr>
          <a:xfrm>
            <a:off x="7772400" y="3337560"/>
            <a:ext cx="1188720" cy="292608"/>
          </a:xfrm>
          <a:prstGeom prst="rect">
            <a:avLst/>
          </a:prstGeom>
          <a:solidFill>
            <a:srgbClr val="161B22"/>
          </a:solidFill>
          <a:ln/>
        </p:spPr>
      </p:sp>
      <p:sp>
        <p:nvSpPr>
          <p:cNvPr id="21" name="Text 18"/>
          <p:cNvSpPr/>
          <p:nvPr/>
        </p:nvSpPr>
        <p:spPr>
          <a:xfrm>
            <a:off x="7772400" y="3337560"/>
            <a:ext cx="1188720" cy="292608"/>
          </a:xfrm>
          <a:prstGeom prst="rect">
            <a:avLst/>
          </a:prstGeom>
          <a:noFill/>
          <a:ln/>
        </p:spPr>
        <p:txBody>
          <a:bodyPr wrap="square" lIns="0" tIns="0" rIns="0" bIns="0" rtlCol="0" anchor="ctr"/>
          <a:lstStyle/>
          <a:p>
            <a:pPr algn="ctr" indent="0" marL="0">
              <a:buNone/>
            </a:pPr>
            <a:r>
              <a:rPr lang="en-US" sz="1000" b="1" dirty="0">
                <a:solidFill>
                  <a:srgbClr val="00D4AA"/>
                </a:solidFill>
                <a:latin typeface="Calibri" pitchFamily="34" charset="0"/>
                <a:ea typeface="Calibri" pitchFamily="34" charset="-122"/>
                <a:cs typeface="Calibri" pitchFamily="34" charset="-120"/>
              </a:rPr>
              <a:t>Docker</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OVERVIEW</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What You Will Build</a:t>
            </a:r>
            <a:endParaRPr lang="en-US" sz="2800" dirty="0"/>
          </a:p>
        </p:txBody>
      </p:sp>
      <p:sp>
        <p:nvSpPr>
          <p:cNvPr id="5" name="Shape 3"/>
          <p:cNvSpPr/>
          <p:nvPr/>
        </p:nvSpPr>
        <p:spPr>
          <a:xfrm>
            <a:off x="365760" y="132588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25880"/>
            <a:ext cx="54864" cy="868680"/>
          </a:xfrm>
          <a:prstGeom prst="rect">
            <a:avLst/>
          </a:prstGeom>
          <a:solidFill>
            <a:srgbClr val="00D4AA"/>
          </a:solidFill>
          <a:ln/>
        </p:spPr>
      </p:sp>
      <p:pic>
        <p:nvPicPr>
          <p:cNvPr id="7" name="Image 0" descr="preencoded.png">    </p:cNvPr>
          <p:cNvPicPr>
            <a:picLocks noChangeAspect="1"/>
          </p:cNvPicPr>
          <p:nvPr/>
        </p:nvPicPr>
        <p:blipFill>
          <a:blip r:embed="rId1"/>
          <a:stretch>
            <a:fillRect/>
          </a:stretch>
        </p:blipFill>
        <p:spPr>
          <a:xfrm>
            <a:off x="548640" y="1527048"/>
            <a:ext cx="411480" cy="411480"/>
          </a:xfrm>
          <a:prstGeom prst="rect">
            <a:avLst/>
          </a:prstGeom>
        </p:spPr>
      </p:pic>
      <p:sp>
        <p:nvSpPr>
          <p:cNvPr id="8" name="Text 5"/>
          <p:cNvSpPr/>
          <p:nvPr/>
        </p:nvSpPr>
        <p:spPr>
          <a:xfrm>
            <a:off x="1097280" y="141732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Qdrant</a:t>
            </a:r>
            <a:endParaRPr lang="en-US" sz="1300" dirty="0"/>
          </a:p>
        </p:txBody>
      </p:sp>
      <p:sp>
        <p:nvSpPr>
          <p:cNvPr id="9" name="Text 6"/>
          <p:cNvSpPr/>
          <p:nvPr/>
        </p:nvSpPr>
        <p:spPr>
          <a:xfrm>
            <a:off x="1097280" y="173736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Private vector database — semantic search over your documents</a:t>
            </a:r>
            <a:endParaRPr lang="en-US" sz="1000" dirty="0"/>
          </a:p>
        </p:txBody>
      </p:sp>
      <p:sp>
        <p:nvSpPr>
          <p:cNvPr id="10" name="Shape 7"/>
          <p:cNvSpPr/>
          <p:nvPr/>
        </p:nvSpPr>
        <p:spPr>
          <a:xfrm>
            <a:off x="4800600" y="132588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8"/>
          <p:cNvSpPr/>
          <p:nvPr/>
        </p:nvSpPr>
        <p:spPr>
          <a:xfrm>
            <a:off x="4800600" y="1325880"/>
            <a:ext cx="54864" cy="868680"/>
          </a:xfrm>
          <a:prstGeom prst="rect">
            <a:avLst/>
          </a:prstGeom>
          <a:solidFill>
            <a:srgbClr val="00D4AA"/>
          </a:solidFill>
          <a:ln/>
        </p:spPr>
      </p:sp>
      <p:pic>
        <p:nvPicPr>
          <p:cNvPr id="12" name="Image 1" descr="preencoded.png">    </p:cNvPr>
          <p:cNvPicPr>
            <a:picLocks noChangeAspect="1"/>
          </p:cNvPicPr>
          <p:nvPr/>
        </p:nvPicPr>
        <p:blipFill>
          <a:blip r:embed="rId2"/>
          <a:stretch>
            <a:fillRect/>
          </a:stretch>
        </p:blipFill>
        <p:spPr>
          <a:xfrm>
            <a:off x="4983480" y="1527048"/>
            <a:ext cx="411480" cy="411480"/>
          </a:xfrm>
          <a:prstGeom prst="rect">
            <a:avLst/>
          </a:prstGeom>
        </p:spPr>
      </p:pic>
      <p:sp>
        <p:nvSpPr>
          <p:cNvPr id="13" name="Text 9"/>
          <p:cNvSpPr/>
          <p:nvPr/>
        </p:nvSpPr>
        <p:spPr>
          <a:xfrm>
            <a:off x="5532120" y="141732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FastAPI</a:t>
            </a:r>
            <a:endParaRPr lang="en-US" sz="1300" dirty="0"/>
          </a:p>
        </p:txBody>
      </p:sp>
      <p:sp>
        <p:nvSpPr>
          <p:cNvPr id="14" name="Text 10"/>
          <p:cNvSpPr/>
          <p:nvPr/>
        </p:nvSpPr>
        <p:spPr>
          <a:xfrm>
            <a:off x="5532120" y="173736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Ingestion + RAG API — validates, stores, retrieves, and generates</a:t>
            </a:r>
            <a:endParaRPr lang="en-US" sz="1000" dirty="0"/>
          </a:p>
        </p:txBody>
      </p:sp>
      <p:sp>
        <p:nvSpPr>
          <p:cNvPr id="15" name="Shape 11"/>
          <p:cNvSpPr/>
          <p:nvPr/>
        </p:nvSpPr>
        <p:spPr>
          <a:xfrm>
            <a:off x="365760" y="233172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2"/>
          <p:cNvSpPr/>
          <p:nvPr/>
        </p:nvSpPr>
        <p:spPr>
          <a:xfrm>
            <a:off x="365760" y="2331720"/>
            <a:ext cx="54864" cy="868680"/>
          </a:xfrm>
          <a:prstGeom prst="rect">
            <a:avLst/>
          </a:prstGeom>
          <a:solidFill>
            <a:srgbClr val="00D4AA"/>
          </a:solidFill>
          <a:ln/>
        </p:spPr>
      </p:sp>
      <p:pic>
        <p:nvPicPr>
          <p:cNvPr id="17" name="Image 2" descr="preencoded.png">    </p:cNvPr>
          <p:cNvPicPr>
            <a:picLocks noChangeAspect="1"/>
          </p:cNvPicPr>
          <p:nvPr/>
        </p:nvPicPr>
        <p:blipFill>
          <a:blip r:embed="rId3"/>
          <a:stretch>
            <a:fillRect/>
          </a:stretch>
        </p:blipFill>
        <p:spPr>
          <a:xfrm>
            <a:off x="548640" y="2532888"/>
            <a:ext cx="411480" cy="411480"/>
          </a:xfrm>
          <a:prstGeom prst="rect">
            <a:avLst/>
          </a:prstGeom>
        </p:spPr>
      </p:pic>
      <p:sp>
        <p:nvSpPr>
          <p:cNvPr id="18" name="Text 13"/>
          <p:cNvSpPr/>
          <p:nvPr/>
        </p:nvSpPr>
        <p:spPr>
          <a:xfrm>
            <a:off x="1097280" y="242316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Ollama</a:t>
            </a:r>
            <a:endParaRPr lang="en-US" sz="1300" dirty="0"/>
          </a:p>
        </p:txBody>
      </p:sp>
      <p:sp>
        <p:nvSpPr>
          <p:cNvPr id="19" name="Text 14"/>
          <p:cNvSpPr/>
          <p:nvPr/>
        </p:nvSpPr>
        <p:spPr>
          <a:xfrm>
            <a:off x="1097280" y="274320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Local LLM — generates grounded answers with no OpenAI key needed</a:t>
            </a:r>
            <a:endParaRPr lang="en-US" sz="1000" dirty="0"/>
          </a:p>
        </p:txBody>
      </p:sp>
      <p:sp>
        <p:nvSpPr>
          <p:cNvPr id="20" name="Shape 15"/>
          <p:cNvSpPr/>
          <p:nvPr/>
        </p:nvSpPr>
        <p:spPr>
          <a:xfrm>
            <a:off x="4800600" y="233172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6"/>
          <p:cNvSpPr/>
          <p:nvPr/>
        </p:nvSpPr>
        <p:spPr>
          <a:xfrm>
            <a:off x="4800600" y="2331720"/>
            <a:ext cx="54864" cy="868680"/>
          </a:xfrm>
          <a:prstGeom prst="rect">
            <a:avLst/>
          </a:prstGeom>
          <a:solidFill>
            <a:srgbClr val="00D4AA"/>
          </a:solidFill>
          <a:ln/>
        </p:spPr>
      </p:sp>
      <p:pic>
        <p:nvPicPr>
          <p:cNvPr id="22" name="Image 3" descr="preencoded.png">    </p:cNvPr>
          <p:cNvPicPr>
            <a:picLocks noChangeAspect="1"/>
          </p:cNvPicPr>
          <p:nvPr/>
        </p:nvPicPr>
        <p:blipFill>
          <a:blip r:embed="rId4"/>
          <a:stretch>
            <a:fillRect/>
          </a:stretch>
        </p:blipFill>
        <p:spPr>
          <a:xfrm>
            <a:off x="4983480" y="2532888"/>
            <a:ext cx="411480" cy="411480"/>
          </a:xfrm>
          <a:prstGeom prst="rect">
            <a:avLst/>
          </a:prstGeom>
        </p:spPr>
      </p:pic>
      <p:sp>
        <p:nvSpPr>
          <p:cNvPr id="23" name="Text 17"/>
          <p:cNvSpPr/>
          <p:nvPr/>
        </p:nvSpPr>
        <p:spPr>
          <a:xfrm>
            <a:off x="5532120" y="242316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NGINX</a:t>
            </a:r>
            <a:endParaRPr lang="en-US" sz="1300" dirty="0"/>
          </a:p>
        </p:txBody>
      </p:sp>
      <p:sp>
        <p:nvSpPr>
          <p:cNvPr id="24" name="Text 18"/>
          <p:cNvSpPr/>
          <p:nvPr/>
        </p:nvSpPr>
        <p:spPr>
          <a:xfrm>
            <a:off x="5532120" y="274320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Authentication gateway — API key enforcement at the edge</a:t>
            </a:r>
            <a:endParaRPr lang="en-US" sz="1000" dirty="0"/>
          </a:p>
        </p:txBody>
      </p:sp>
      <p:sp>
        <p:nvSpPr>
          <p:cNvPr id="25" name="Shape 19"/>
          <p:cNvSpPr/>
          <p:nvPr/>
        </p:nvSpPr>
        <p:spPr>
          <a:xfrm>
            <a:off x="365760" y="333756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0"/>
          <p:cNvSpPr/>
          <p:nvPr/>
        </p:nvSpPr>
        <p:spPr>
          <a:xfrm>
            <a:off x="365760" y="3337560"/>
            <a:ext cx="54864" cy="868680"/>
          </a:xfrm>
          <a:prstGeom prst="rect">
            <a:avLst/>
          </a:prstGeom>
          <a:solidFill>
            <a:srgbClr val="00D4AA"/>
          </a:solidFill>
          <a:ln/>
        </p:spPr>
      </p:sp>
      <p:pic>
        <p:nvPicPr>
          <p:cNvPr id="27" name="Image 4" descr="preencoded.png">    </p:cNvPr>
          <p:cNvPicPr>
            <a:picLocks noChangeAspect="1"/>
          </p:cNvPicPr>
          <p:nvPr/>
        </p:nvPicPr>
        <p:blipFill>
          <a:blip r:embed="rId5"/>
          <a:stretch>
            <a:fillRect/>
          </a:stretch>
        </p:blipFill>
        <p:spPr>
          <a:xfrm>
            <a:off x="548640" y="3538728"/>
            <a:ext cx="411480" cy="411480"/>
          </a:xfrm>
          <a:prstGeom prst="rect">
            <a:avLst/>
          </a:prstGeom>
        </p:spPr>
      </p:pic>
      <p:sp>
        <p:nvSpPr>
          <p:cNvPr id="28" name="Text 21"/>
          <p:cNvSpPr/>
          <p:nvPr/>
        </p:nvSpPr>
        <p:spPr>
          <a:xfrm>
            <a:off x="1097280" y="342900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Gradio UI</a:t>
            </a:r>
            <a:endParaRPr lang="en-US" sz="1300" dirty="0"/>
          </a:p>
        </p:txBody>
      </p:sp>
      <p:sp>
        <p:nvSpPr>
          <p:cNvPr id="29" name="Text 22"/>
          <p:cNvSpPr/>
          <p:nvPr/>
        </p:nvSpPr>
        <p:spPr>
          <a:xfrm>
            <a:off x="1097280" y="374904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Browser chat interface — talk to your dataset at localhost:7860</a:t>
            </a:r>
            <a:endParaRPr lang="en-US" sz="1000" dirty="0"/>
          </a:p>
        </p:txBody>
      </p:sp>
      <p:sp>
        <p:nvSpPr>
          <p:cNvPr id="30" name="Shape 23"/>
          <p:cNvSpPr/>
          <p:nvPr/>
        </p:nvSpPr>
        <p:spPr>
          <a:xfrm>
            <a:off x="4800600" y="3337560"/>
            <a:ext cx="4206240" cy="8686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31" name="Shape 24"/>
          <p:cNvSpPr/>
          <p:nvPr/>
        </p:nvSpPr>
        <p:spPr>
          <a:xfrm>
            <a:off x="4800600" y="3337560"/>
            <a:ext cx="54864" cy="868680"/>
          </a:xfrm>
          <a:prstGeom prst="rect">
            <a:avLst/>
          </a:prstGeom>
          <a:solidFill>
            <a:srgbClr val="00D4AA"/>
          </a:solidFill>
          <a:ln/>
        </p:spPr>
      </p:sp>
      <p:pic>
        <p:nvPicPr>
          <p:cNvPr id="32" name="Image 5" descr="preencoded.png">    </p:cNvPr>
          <p:cNvPicPr>
            <a:picLocks noChangeAspect="1"/>
          </p:cNvPicPr>
          <p:nvPr/>
        </p:nvPicPr>
        <p:blipFill>
          <a:blip r:embed="rId6"/>
          <a:stretch>
            <a:fillRect/>
          </a:stretch>
        </p:blipFill>
        <p:spPr>
          <a:xfrm>
            <a:off x="4983480" y="3538728"/>
            <a:ext cx="411480" cy="411480"/>
          </a:xfrm>
          <a:prstGeom prst="rect">
            <a:avLst/>
          </a:prstGeom>
        </p:spPr>
      </p:pic>
      <p:sp>
        <p:nvSpPr>
          <p:cNvPr id="33" name="Text 25"/>
          <p:cNvSpPr/>
          <p:nvPr/>
        </p:nvSpPr>
        <p:spPr>
          <a:xfrm>
            <a:off x="5532120" y="3429000"/>
            <a:ext cx="329184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Security Memory</a:t>
            </a:r>
            <a:endParaRPr lang="en-US" sz="1300" dirty="0"/>
          </a:p>
        </p:txBody>
      </p:sp>
      <p:sp>
        <p:nvSpPr>
          <p:cNvPr id="34" name="Text 26"/>
          <p:cNvSpPr/>
          <p:nvPr/>
        </p:nvSpPr>
        <p:spPr>
          <a:xfrm>
            <a:off x="5532120" y="3749040"/>
            <a:ext cx="3291840" cy="36576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Cybersecurity knowledge base — NIST, CIS, MITRE, OWASP indexed</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CONCEPTS</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What Is RAG?</a:t>
            </a:r>
            <a:endParaRPr lang="en-US" sz="2800" dirty="0"/>
          </a:p>
        </p:txBody>
      </p:sp>
      <p:sp>
        <p:nvSpPr>
          <p:cNvPr id="5" name="Shape 3"/>
          <p:cNvSpPr/>
          <p:nvPr/>
        </p:nvSpPr>
        <p:spPr>
          <a:xfrm>
            <a:off x="365760" y="1234440"/>
            <a:ext cx="3931920" cy="33832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34440"/>
            <a:ext cx="54864" cy="3383280"/>
          </a:xfrm>
          <a:prstGeom prst="rect">
            <a:avLst/>
          </a:prstGeom>
          <a:solidFill>
            <a:srgbClr val="00D4AA"/>
          </a:solidFill>
          <a:ln/>
        </p:spPr>
      </p:sp>
      <p:sp>
        <p:nvSpPr>
          <p:cNvPr id="7" name="Text 5"/>
          <p:cNvSpPr/>
          <p:nvPr/>
        </p:nvSpPr>
        <p:spPr>
          <a:xfrm>
            <a:off x="548640" y="1325880"/>
            <a:ext cx="3657600" cy="41148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Retrieval-Augmented Generation</a:t>
            </a:r>
            <a:endParaRPr lang="en-US" sz="1400" dirty="0"/>
          </a:p>
        </p:txBody>
      </p:sp>
      <p:sp>
        <p:nvSpPr>
          <p:cNvPr id="8" name="Text 6"/>
          <p:cNvSpPr/>
          <p:nvPr/>
        </p:nvSpPr>
        <p:spPr>
          <a:xfrm>
            <a:off x="548640" y="1783080"/>
            <a:ext cx="3657600" cy="731520"/>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Instead of relying on the LLM's training data alone, RAG first searches a knowledge base for relevant context, then passes that context into the prompt.</a:t>
            </a:r>
            <a:endParaRPr lang="en-US" sz="1200" dirty="0"/>
          </a:p>
        </p:txBody>
      </p:sp>
      <p:sp>
        <p:nvSpPr>
          <p:cNvPr id="9" name="Text 7"/>
          <p:cNvSpPr/>
          <p:nvPr/>
        </p:nvSpPr>
        <p:spPr>
          <a:xfrm>
            <a:off x="548640" y="2606040"/>
            <a:ext cx="3657600" cy="320040"/>
          </a:xfrm>
          <a:prstGeom prst="rect">
            <a:avLst/>
          </a:prstGeom>
          <a:noFill/>
          <a:ln/>
        </p:spPr>
        <p:txBody>
          <a:bodyPr wrap="square" rtlCol="0" anchor="ctr"/>
          <a:lstStyle/>
          <a:p>
            <a:pPr indent="0" marL="0">
              <a:buNone/>
            </a:pPr>
            <a:r>
              <a:rPr lang="en-US" sz="1200" dirty="0">
                <a:solidFill>
                  <a:srgbClr val="8B949E"/>
                </a:solidFill>
                <a:latin typeface="Calibri" pitchFamily="34" charset="0"/>
                <a:ea typeface="Calibri" pitchFamily="34" charset="-122"/>
                <a:cs typeface="Calibri" pitchFamily="34" charset="-120"/>
              </a:rPr>
              <a:t>The system has three components:</a:t>
            </a:r>
            <a:endParaRPr lang="en-US" sz="1200" dirty="0"/>
          </a:p>
        </p:txBody>
      </p:sp>
      <p:sp>
        <p:nvSpPr>
          <p:cNvPr id="10" name="Text 8"/>
          <p:cNvSpPr/>
          <p:nvPr/>
        </p:nvSpPr>
        <p:spPr>
          <a:xfrm>
            <a:off x="548640" y="2926080"/>
            <a:ext cx="3657600" cy="1371600"/>
          </a:xfrm>
          <a:prstGeom prst="rect">
            <a:avLst/>
          </a:prstGeom>
          <a:noFill/>
          <a:ln/>
        </p:spPr>
        <p:txBody>
          <a:bodyPr wrap="square" rtlCol="0" anchor="t"/>
          <a:lstStyle/>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Retriever — semantic search over stored documents</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Knowledge Store — Qdrant vector database</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Generator — Ollama local LLM</a:t>
            </a:r>
            <a:endParaRPr lang="en-US" sz="1100" dirty="0"/>
          </a:p>
        </p:txBody>
      </p:sp>
      <p:sp>
        <p:nvSpPr>
          <p:cNvPr id="11" name="Shape 9"/>
          <p:cNvSpPr/>
          <p:nvPr/>
        </p:nvSpPr>
        <p:spPr>
          <a:xfrm>
            <a:off x="4663440" y="1234440"/>
            <a:ext cx="4114800" cy="420624"/>
          </a:xfrm>
          <a:prstGeom prst="rect">
            <a:avLst/>
          </a:prstGeom>
          <a:solidFill>
            <a:srgbClr val="161B22"/>
          </a:solidFill>
          <a:ln/>
        </p:spPr>
      </p:sp>
      <p:sp>
        <p:nvSpPr>
          <p:cNvPr id="12" name="Shape 10"/>
          <p:cNvSpPr/>
          <p:nvPr/>
        </p:nvSpPr>
        <p:spPr>
          <a:xfrm>
            <a:off x="4663440" y="1234440"/>
            <a:ext cx="54864" cy="420624"/>
          </a:xfrm>
          <a:prstGeom prst="rect">
            <a:avLst/>
          </a:prstGeom>
          <a:solidFill>
            <a:srgbClr val="79C0FF"/>
          </a:solidFill>
          <a:ln/>
        </p:spPr>
      </p:sp>
      <p:sp>
        <p:nvSpPr>
          <p:cNvPr id="13" name="Text 11"/>
          <p:cNvSpPr/>
          <p:nvPr/>
        </p:nvSpPr>
        <p:spPr>
          <a:xfrm>
            <a:off x="4846320" y="1280160"/>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1. User asks a question</a:t>
            </a:r>
            <a:endParaRPr lang="en-US" sz="1200" dirty="0"/>
          </a:p>
        </p:txBody>
      </p:sp>
      <p:sp>
        <p:nvSpPr>
          <p:cNvPr id="14" name="Text 12"/>
          <p:cNvSpPr/>
          <p:nvPr/>
        </p:nvSpPr>
        <p:spPr>
          <a:xfrm>
            <a:off x="6537960" y="1655064"/>
            <a:ext cx="365760" cy="146304"/>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15" name="Shape 13"/>
          <p:cNvSpPr/>
          <p:nvPr/>
        </p:nvSpPr>
        <p:spPr>
          <a:xfrm>
            <a:off x="4663440" y="1801368"/>
            <a:ext cx="4114800" cy="420624"/>
          </a:xfrm>
          <a:prstGeom prst="rect">
            <a:avLst/>
          </a:prstGeom>
          <a:solidFill>
            <a:srgbClr val="161B22"/>
          </a:solidFill>
          <a:ln/>
        </p:spPr>
      </p:sp>
      <p:sp>
        <p:nvSpPr>
          <p:cNvPr id="16" name="Shape 14"/>
          <p:cNvSpPr/>
          <p:nvPr/>
        </p:nvSpPr>
        <p:spPr>
          <a:xfrm>
            <a:off x="4663440" y="1801368"/>
            <a:ext cx="54864" cy="420624"/>
          </a:xfrm>
          <a:prstGeom prst="rect">
            <a:avLst/>
          </a:prstGeom>
          <a:solidFill>
            <a:srgbClr val="00D4AA"/>
          </a:solidFill>
          <a:ln/>
        </p:spPr>
      </p:sp>
      <p:sp>
        <p:nvSpPr>
          <p:cNvPr id="17" name="Text 15"/>
          <p:cNvSpPr/>
          <p:nvPr/>
        </p:nvSpPr>
        <p:spPr>
          <a:xfrm>
            <a:off x="4846320" y="1847088"/>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2. Embed the question</a:t>
            </a:r>
            <a:endParaRPr lang="en-US" sz="1200" dirty="0"/>
          </a:p>
        </p:txBody>
      </p:sp>
      <p:sp>
        <p:nvSpPr>
          <p:cNvPr id="18" name="Text 16"/>
          <p:cNvSpPr/>
          <p:nvPr/>
        </p:nvSpPr>
        <p:spPr>
          <a:xfrm>
            <a:off x="6537960" y="2221992"/>
            <a:ext cx="365760" cy="146304"/>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19" name="Shape 17"/>
          <p:cNvSpPr/>
          <p:nvPr/>
        </p:nvSpPr>
        <p:spPr>
          <a:xfrm>
            <a:off x="4663440" y="2368296"/>
            <a:ext cx="4114800" cy="420624"/>
          </a:xfrm>
          <a:prstGeom prst="rect">
            <a:avLst/>
          </a:prstGeom>
          <a:solidFill>
            <a:srgbClr val="161B22"/>
          </a:solidFill>
          <a:ln/>
        </p:spPr>
      </p:sp>
      <p:sp>
        <p:nvSpPr>
          <p:cNvPr id="20" name="Shape 18"/>
          <p:cNvSpPr/>
          <p:nvPr/>
        </p:nvSpPr>
        <p:spPr>
          <a:xfrm>
            <a:off x="4663440" y="2368296"/>
            <a:ext cx="54864" cy="420624"/>
          </a:xfrm>
          <a:prstGeom prst="rect">
            <a:avLst/>
          </a:prstGeom>
          <a:solidFill>
            <a:srgbClr val="00D4AA"/>
          </a:solidFill>
          <a:ln/>
        </p:spPr>
      </p:sp>
      <p:sp>
        <p:nvSpPr>
          <p:cNvPr id="21" name="Text 19"/>
          <p:cNvSpPr/>
          <p:nvPr/>
        </p:nvSpPr>
        <p:spPr>
          <a:xfrm>
            <a:off x="4846320" y="2414016"/>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3. Search Qdrant for matches</a:t>
            </a:r>
            <a:endParaRPr lang="en-US" sz="1200" dirty="0"/>
          </a:p>
        </p:txBody>
      </p:sp>
      <p:sp>
        <p:nvSpPr>
          <p:cNvPr id="22" name="Text 20"/>
          <p:cNvSpPr/>
          <p:nvPr/>
        </p:nvSpPr>
        <p:spPr>
          <a:xfrm>
            <a:off x="6537960" y="2788920"/>
            <a:ext cx="365760" cy="146304"/>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23" name="Shape 21"/>
          <p:cNvSpPr/>
          <p:nvPr/>
        </p:nvSpPr>
        <p:spPr>
          <a:xfrm>
            <a:off x="4663440" y="2935224"/>
            <a:ext cx="4114800" cy="420624"/>
          </a:xfrm>
          <a:prstGeom prst="rect">
            <a:avLst/>
          </a:prstGeom>
          <a:solidFill>
            <a:srgbClr val="161B22"/>
          </a:solidFill>
          <a:ln/>
        </p:spPr>
      </p:sp>
      <p:sp>
        <p:nvSpPr>
          <p:cNvPr id="24" name="Shape 22"/>
          <p:cNvSpPr/>
          <p:nvPr/>
        </p:nvSpPr>
        <p:spPr>
          <a:xfrm>
            <a:off x="4663440" y="2935224"/>
            <a:ext cx="54864" cy="420624"/>
          </a:xfrm>
          <a:prstGeom prst="rect">
            <a:avLst/>
          </a:prstGeom>
          <a:solidFill>
            <a:srgbClr val="D29922"/>
          </a:solidFill>
          <a:ln/>
        </p:spPr>
      </p:sp>
      <p:sp>
        <p:nvSpPr>
          <p:cNvPr id="25" name="Text 23"/>
          <p:cNvSpPr/>
          <p:nvPr/>
        </p:nvSpPr>
        <p:spPr>
          <a:xfrm>
            <a:off x="4846320" y="2980944"/>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4. Inject matches into prompt</a:t>
            </a:r>
            <a:endParaRPr lang="en-US" sz="1200" dirty="0"/>
          </a:p>
        </p:txBody>
      </p:sp>
      <p:sp>
        <p:nvSpPr>
          <p:cNvPr id="26" name="Text 24"/>
          <p:cNvSpPr/>
          <p:nvPr/>
        </p:nvSpPr>
        <p:spPr>
          <a:xfrm>
            <a:off x="6537960" y="3355848"/>
            <a:ext cx="365760" cy="146304"/>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27" name="Shape 25"/>
          <p:cNvSpPr/>
          <p:nvPr/>
        </p:nvSpPr>
        <p:spPr>
          <a:xfrm>
            <a:off x="4663440" y="3502152"/>
            <a:ext cx="4114800" cy="420624"/>
          </a:xfrm>
          <a:prstGeom prst="rect">
            <a:avLst/>
          </a:prstGeom>
          <a:solidFill>
            <a:srgbClr val="161B22"/>
          </a:solidFill>
          <a:ln/>
        </p:spPr>
      </p:sp>
      <p:sp>
        <p:nvSpPr>
          <p:cNvPr id="28" name="Shape 26"/>
          <p:cNvSpPr/>
          <p:nvPr/>
        </p:nvSpPr>
        <p:spPr>
          <a:xfrm>
            <a:off x="4663440" y="3502152"/>
            <a:ext cx="54864" cy="420624"/>
          </a:xfrm>
          <a:prstGeom prst="rect">
            <a:avLst/>
          </a:prstGeom>
          <a:solidFill>
            <a:srgbClr val="BC8CFF"/>
          </a:solidFill>
          <a:ln/>
        </p:spPr>
      </p:sp>
      <p:sp>
        <p:nvSpPr>
          <p:cNvPr id="29" name="Text 27"/>
          <p:cNvSpPr/>
          <p:nvPr/>
        </p:nvSpPr>
        <p:spPr>
          <a:xfrm>
            <a:off x="4846320" y="3547872"/>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5. Ollama generates answer</a:t>
            </a:r>
            <a:endParaRPr lang="en-US" sz="1200" dirty="0"/>
          </a:p>
        </p:txBody>
      </p:sp>
      <p:sp>
        <p:nvSpPr>
          <p:cNvPr id="30" name="Text 28"/>
          <p:cNvSpPr/>
          <p:nvPr/>
        </p:nvSpPr>
        <p:spPr>
          <a:xfrm>
            <a:off x="6537960" y="3922776"/>
            <a:ext cx="365760" cy="146304"/>
          </a:xfrm>
          <a:prstGeom prst="rect">
            <a:avLst/>
          </a:prstGeom>
          <a:noFill/>
          <a:ln/>
        </p:spPr>
        <p:txBody>
          <a:bodyPr wrap="square" rtlCol="0" anchor="ctr"/>
          <a:lstStyle/>
          <a:p>
            <a:pPr algn="ctr" indent="0" marL="0">
              <a:buNone/>
            </a:pPr>
            <a:r>
              <a:rPr lang="en-US" sz="1000" dirty="0">
                <a:solidFill>
                  <a:srgbClr val="8B949E"/>
                </a:solidFill>
              </a:rPr>
              <a:t>↓</a:t>
            </a:r>
            <a:endParaRPr lang="en-US" sz="1000" dirty="0"/>
          </a:p>
        </p:txBody>
      </p:sp>
      <p:sp>
        <p:nvSpPr>
          <p:cNvPr id="31" name="Shape 29"/>
          <p:cNvSpPr/>
          <p:nvPr/>
        </p:nvSpPr>
        <p:spPr>
          <a:xfrm>
            <a:off x="4663440" y="4069080"/>
            <a:ext cx="4114800" cy="420624"/>
          </a:xfrm>
          <a:prstGeom prst="rect">
            <a:avLst/>
          </a:prstGeom>
          <a:solidFill>
            <a:srgbClr val="161B22"/>
          </a:solidFill>
          <a:ln/>
        </p:spPr>
      </p:sp>
      <p:sp>
        <p:nvSpPr>
          <p:cNvPr id="32" name="Shape 30"/>
          <p:cNvSpPr/>
          <p:nvPr/>
        </p:nvSpPr>
        <p:spPr>
          <a:xfrm>
            <a:off x="4663440" y="4069080"/>
            <a:ext cx="54864" cy="420624"/>
          </a:xfrm>
          <a:prstGeom prst="rect">
            <a:avLst/>
          </a:prstGeom>
          <a:solidFill>
            <a:srgbClr val="3FB950"/>
          </a:solidFill>
          <a:ln/>
        </p:spPr>
      </p:sp>
      <p:sp>
        <p:nvSpPr>
          <p:cNvPr id="33" name="Text 31"/>
          <p:cNvSpPr/>
          <p:nvPr/>
        </p:nvSpPr>
        <p:spPr>
          <a:xfrm>
            <a:off x="4846320" y="4114800"/>
            <a:ext cx="3840480" cy="329184"/>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6. Return answer + sources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CONCEPTS</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End-to-End RAG Flow</a:t>
            </a:r>
            <a:endParaRPr lang="en-US" sz="2800" dirty="0"/>
          </a:p>
        </p:txBody>
      </p:sp>
      <p:sp>
        <p:nvSpPr>
          <p:cNvPr id="5" name="Shape 3"/>
          <p:cNvSpPr/>
          <p:nvPr/>
        </p:nvSpPr>
        <p:spPr>
          <a:xfrm>
            <a:off x="274320" y="137160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274320" y="1371600"/>
            <a:ext cx="1508760" cy="73152"/>
          </a:xfrm>
          <a:prstGeom prst="rect">
            <a:avLst/>
          </a:prstGeom>
          <a:solidFill>
            <a:srgbClr val="79C0FF"/>
          </a:solidFill>
          <a:ln/>
        </p:spPr>
      </p:sp>
      <p:pic>
        <p:nvPicPr>
          <p:cNvPr id="7" name="Image 0" descr="preencoded.png">    </p:cNvPr>
          <p:cNvPicPr>
            <a:picLocks noChangeAspect="1"/>
          </p:cNvPicPr>
          <p:nvPr/>
        </p:nvPicPr>
        <p:blipFill>
          <a:blip r:embed="rId1"/>
          <a:stretch>
            <a:fillRect/>
          </a:stretch>
        </p:blipFill>
        <p:spPr>
          <a:xfrm>
            <a:off x="804672" y="1508760"/>
            <a:ext cx="411480" cy="411480"/>
          </a:xfrm>
          <a:prstGeom prst="rect">
            <a:avLst/>
          </a:prstGeom>
        </p:spPr>
      </p:pic>
      <p:sp>
        <p:nvSpPr>
          <p:cNvPr id="8" name="Text 5"/>
          <p:cNvSpPr/>
          <p:nvPr/>
        </p:nvSpPr>
        <p:spPr>
          <a:xfrm>
            <a:off x="274320" y="196596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User</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Question</a:t>
            </a:r>
            <a:endParaRPr lang="en-US" sz="1000" dirty="0"/>
          </a:p>
        </p:txBody>
      </p:sp>
      <p:sp>
        <p:nvSpPr>
          <p:cNvPr id="9" name="Text 6"/>
          <p:cNvSpPr/>
          <p:nvPr/>
        </p:nvSpPr>
        <p:spPr>
          <a:xfrm>
            <a:off x="1783080" y="1828800"/>
            <a:ext cx="41148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10" name="Shape 7"/>
          <p:cNvSpPr/>
          <p:nvPr/>
        </p:nvSpPr>
        <p:spPr>
          <a:xfrm>
            <a:off x="1920240" y="137160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8"/>
          <p:cNvSpPr/>
          <p:nvPr/>
        </p:nvSpPr>
        <p:spPr>
          <a:xfrm>
            <a:off x="1920240" y="1371600"/>
            <a:ext cx="1508760" cy="73152"/>
          </a:xfrm>
          <a:prstGeom prst="rect">
            <a:avLst/>
          </a:prstGeom>
          <a:solidFill>
            <a:srgbClr val="F78166"/>
          </a:solidFill>
          <a:ln/>
        </p:spPr>
      </p:sp>
      <p:pic>
        <p:nvPicPr>
          <p:cNvPr id="12" name="Image 1" descr="preencoded.png">    </p:cNvPr>
          <p:cNvPicPr>
            <a:picLocks noChangeAspect="1"/>
          </p:cNvPicPr>
          <p:nvPr/>
        </p:nvPicPr>
        <p:blipFill>
          <a:blip r:embed="rId2"/>
          <a:stretch>
            <a:fillRect/>
          </a:stretch>
        </p:blipFill>
        <p:spPr>
          <a:xfrm>
            <a:off x="2450592" y="1508760"/>
            <a:ext cx="411480" cy="411480"/>
          </a:xfrm>
          <a:prstGeom prst="rect">
            <a:avLst/>
          </a:prstGeom>
        </p:spPr>
      </p:pic>
      <p:sp>
        <p:nvSpPr>
          <p:cNvPr id="13" name="Text 9"/>
          <p:cNvSpPr/>
          <p:nvPr/>
        </p:nvSpPr>
        <p:spPr>
          <a:xfrm>
            <a:off x="1920240" y="196596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NGINX</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Auth Check</a:t>
            </a:r>
            <a:endParaRPr lang="en-US" sz="1000" dirty="0"/>
          </a:p>
        </p:txBody>
      </p:sp>
      <p:sp>
        <p:nvSpPr>
          <p:cNvPr id="14" name="Text 10"/>
          <p:cNvSpPr/>
          <p:nvPr/>
        </p:nvSpPr>
        <p:spPr>
          <a:xfrm>
            <a:off x="3429000" y="1828800"/>
            <a:ext cx="41148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15" name="Shape 11"/>
          <p:cNvSpPr/>
          <p:nvPr/>
        </p:nvSpPr>
        <p:spPr>
          <a:xfrm>
            <a:off x="3566160" y="137160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2"/>
          <p:cNvSpPr/>
          <p:nvPr/>
        </p:nvSpPr>
        <p:spPr>
          <a:xfrm>
            <a:off x="3566160" y="1371600"/>
            <a:ext cx="1508760" cy="73152"/>
          </a:xfrm>
          <a:prstGeom prst="rect">
            <a:avLst/>
          </a:prstGeom>
          <a:solidFill>
            <a:srgbClr val="00D4AA"/>
          </a:solidFill>
          <a:ln/>
        </p:spPr>
      </p:sp>
      <p:pic>
        <p:nvPicPr>
          <p:cNvPr id="17" name="Image 2" descr="preencoded.png">    </p:cNvPr>
          <p:cNvPicPr>
            <a:picLocks noChangeAspect="1"/>
          </p:cNvPicPr>
          <p:nvPr/>
        </p:nvPicPr>
        <p:blipFill>
          <a:blip r:embed="rId3"/>
          <a:stretch>
            <a:fillRect/>
          </a:stretch>
        </p:blipFill>
        <p:spPr>
          <a:xfrm>
            <a:off x="4096512" y="1508760"/>
            <a:ext cx="411480" cy="411480"/>
          </a:xfrm>
          <a:prstGeom prst="rect">
            <a:avLst/>
          </a:prstGeom>
        </p:spPr>
      </p:pic>
      <p:sp>
        <p:nvSpPr>
          <p:cNvPr id="18" name="Text 13"/>
          <p:cNvSpPr/>
          <p:nvPr/>
        </p:nvSpPr>
        <p:spPr>
          <a:xfrm>
            <a:off x="3566160" y="196596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FastAPI</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Orchestrator</a:t>
            </a:r>
            <a:endParaRPr lang="en-US" sz="1000" dirty="0"/>
          </a:p>
        </p:txBody>
      </p:sp>
      <p:sp>
        <p:nvSpPr>
          <p:cNvPr id="19" name="Text 14"/>
          <p:cNvSpPr/>
          <p:nvPr/>
        </p:nvSpPr>
        <p:spPr>
          <a:xfrm>
            <a:off x="5074920" y="1828800"/>
            <a:ext cx="41148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20" name="Shape 15"/>
          <p:cNvSpPr/>
          <p:nvPr/>
        </p:nvSpPr>
        <p:spPr>
          <a:xfrm>
            <a:off x="5212080" y="137160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6"/>
          <p:cNvSpPr/>
          <p:nvPr/>
        </p:nvSpPr>
        <p:spPr>
          <a:xfrm>
            <a:off x="5212080" y="1371600"/>
            <a:ext cx="1508760" cy="73152"/>
          </a:xfrm>
          <a:prstGeom prst="rect">
            <a:avLst/>
          </a:prstGeom>
          <a:solidFill>
            <a:srgbClr val="00D4AA"/>
          </a:solidFill>
          <a:ln/>
        </p:spPr>
      </p:sp>
      <p:pic>
        <p:nvPicPr>
          <p:cNvPr id="22" name="Image 3" descr="preencoded.png">    </p:cNvPr>
          <p:cNvPicPr>
            <a:picLocks noChangeAspect="1"/>
          </p:cNvPicPr>
          <p:nvPr/>
        </p:nvPicPr>
        <p:blipFill>
          <a:blip r:embed="rId4"/>
          <a:stretch>
            <a:fillRect/>
          </a:stretch>
        </p:blipFill>
        <p:spPr>
          <a:xfrm>
            <a:off x="5742432" y="1508760"/>
            <a:ext cx="411480" cy="411480"/>
          </a:xfrm>
          <a:prstGeom prst="rect">
            <a:avLst/>
          </a:prstGeom>
        </p:spPr>
      </p:pic>
      <p:sp>
        <p:nvSpPr>
          <p:cNvPr id="23" name="Text 17"/>
          <p:cNvSpPr/>
          <p:nvPr/>
        </p:nvSpPr>
        <p:spPr>
          <a:xfrm>
            <a:off x="5212080" y="196596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Qdrant</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Retrieval</a:t>
            </a:r>
            <a:endParaRPr lang="en-US" sz="1000" dirty="0"/>
          </a:p>
        </p:txBody>
      </p:sp>
      <p:sp>
        <p:nvSpPr>
          <p:cNvPr id="24" name="Text 18"/>
          <p:cNvSpPr/>
          <p:nvPr/>
        </p:nvSpPr>
        <p:spPr>
          <a:xfrm>
            <a:off x="6720840" y="1828800"/>
            <a:ext cx="41148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25" name="Shape 19"/>
          <p:cNvSpPr/>
          <p:nvPr/>
        </p:nvSpPr>
        <p:spPr>
          <a:xfrm>
            <a:off x="6858000" y="137160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0"/>
          <p:cNvSpPr/>
          <p:nvPr/>
        </p:nvSpPr>
        <p:spPr>
          <a:xfrm>
            <a:off x="6858000" y="1371600"/>
            <a:ext cx="1508760" cy="73152"/>
          </a:xfrm>
          <a:prstGeom prst="rect">
            <a:avLst/>
          </a:prstGeom>
          <a:solidFill>
            <a:srgbClr val="D29922"/>
          </a:solidFill>
          <a:ln/>
        </p:spPr>
      </p:sp>
      <p:pic>
        <p:nvPicPr>
          <p:cNvPr id="27" name="Image 4" descr="preencoded.png">    </p:cNvPr>
          <p:cNvPicPr>
            <a:picLocks noChangeAspect="1"/>
          </p:cNvPicPr>
          <p:nvPr/>
        </p:nvPicPr>
        <p:blipFill>
          <a:blip r:embed="rId5"/>
          <a:stretch>
            <a:fillRect/>
          </a:stretch>
        </p:blipFill>
        <p:spPr>
          <a:xfrm>
            <a:off x="7388352" y="1508760"/>
            <a:ext cx="411480" cy="411480"/>
          </a:xfrm>
          <a:prstGeom prst="rect">
            <a:avLst/>
          </a:prstGeom>
        </p:spPr>
      </p:pic>
      <p:sp>
        <p:nvSpPr>
          <p:cNvPr id="28" name="Text 21"/>
          <p:cNvSpPr/>
          <p:nvPr/>
        </p:nvSpPr>
        <p:spPr>
          <a:xfrm>
            <a:off x="6858000" y="196596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Prompt</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Builder</a:t>
            </a:r>
            <a:endParaRPr lang="en-US" sz="1000" dirty="0"/>
          </a:p>
        </p:txBody>
      </p:sp>
      <p:sp>
        <p:nvSpPr>
          <p:cNvPr id="29" name="Shape 22"/>
          <p:cNvSpPr/>
          <p:nvPr/>
        </p:nvSpPr>
        <p:spPr>
          <a:xfrm>
            <a:off x="5212080" y="292608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30" name="Shape 23"/>
          <p:cNvSpPr/>
          <p:nvPr/>
        </p:nvSpPr>
        <p:spPr>
          <a:xfrm>
            <a:off x="5212080" y="2926080"/>
            <a:ext cx="1508760" cy="73152"/>
          </a:xfrm>
          <a:prstGeom prst="rect">
            <a:avLst/>
          </a:prstGeom>
          <a:solidFill>
            <a:srgbClr val="BC8CFF"/>
          </a:solidFill>
          <a:ln/>
        </p:spPr>
      </p:sp>
      <p:pic>
        <p:nvPicPr>
          <p:cNvPr id="31" name="Image 5" descr="preencoded.png">    </p:cNvPr>
          <p:cNvPicPr>
            <a:picLocks noChangeAspect="1"/>
          </p:cNvPicPr>
          <p:nvPr/>
        </p:nvPicPr>
        <p:blipFill>
          <a:blip r:embed="rId6"/>
          <a:stretch>
            <a:fillRect/>
          </a:stretch>
        </p:blipFill>
        <p:spPr>
          <a:xfrm>
            <a:off x="5742432" y="3063240"/>
            <a:ext cx="411480" cy="411480"/>
          </a:xfrm>
          <a:prstGeom prst="rect">
            <a:avLst/>
          </a:prstGeom>
        </p:spPr>
      </p:pic>
      <p:sp>
        <p:nvSpPr>
          <p:cNvPr id="32" name="Text 24"/>
          <p:cNvSpPr/>
          <p:nvPr/>
        </p:nvSpPr>
        <p:spPr>
          <a:xfrm>
            <a:off x="5212080" y="352044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Ollama</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Generation</a:t>
            </a:r>
            <a:endParaRPr lang="en-US" sz="1000" dirty="0"/>
          </a:p>
        </p:txBody>
      </p:sp>
      <p:sp>
        <p:nvSpPr>
          <p:cNvPr id="33" name="Shape 25"/>
          <p:cNvSpPr/>
          <p:nvPr/>
        </p:nvSpPr>
        <p:spPr>
          <a:xfrm>
            <a:off x="6858000" y="2926080"/>
            <a:ext cx="1508760" cy="1188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34" name="Shape 26"/>
          <p:cNvSpPr/>
          <p:nvPr/>
        </p:nvSpPr>
        <p:spPr>
          <a:xfrm>
            <a:off x="6858000" y="2926080"/>
            <a:ext cx="1508760" cy="73152"/>
          </a:xfrm>
          <a:prstGeom prst="rect">
            <a:avLst/>
          </a:prstGeom>
          <a:solidFill>
            <a:srgbClr val="3FB950"/>
          </a:solidFill>
          <a:ln/>
        </p:spPr>
      </p:sp>
      <p:pic>
        <p:nvPicPr>
          <p:cNvPr id="35" name="Image 6" descr="preencoded.png">    </p:cNvPr>
          <p:cNvPicPr>
            <a:picLocks noChangeAspect="1"/>
          </p:cNvPicPr>
          <p:nvPr/>
        </p:nvPicPr>
        <p:blipFill>
          <a:blip r:embed="rId7"/>
          <a:stretch>
            <a:fillRect/>
          </a:stretch>
        </p:blipFill>
        <p:spPr>
          <a:xfrm>
            <a:off x="7388352" y="3063240"/>
            <a:ext cx="411480" cy="411480"/>
          </a:xfrm>
          <a:prstGeom prst="rect">
            <a:avLst/>
          </a:prstGeom>
        </p:spPr>
      </p:pic>
      <p:sp>
        <p:nvSpPr>
          <p:cNvPr id="36" name="Text 27"/>
          <p:cNvSpPr/>
          <p:nvPr/>
        </p:nvSpPr>
        <p:spPr>
          <a:xfrm>
            <a:off x="6858000" y="3520440"/>
            <a:ext cx="1508760" cy="502920"/>
          </a:xfrm>
          <a:prstGeom prst="rect">
            <a:avLst/>
          </a:prstGeom>
          <a:noFill/>
          <a:ln/>
        </p:spPr>
        <p:txBody>
          <a:bodyPr wrap="square" rtlCol="0" anchor="ctr"/>
          <a:lstStyle/>
          <a:p>
            <a:pPr algn="ctr" indent="0" marL="0">
              <a:buNone/>
            </a:pPr>
            <a:r>
              <a:rPr lang="en-US" sz="1000" dirty="0">
                <a:solidFill>
                  <a:srgbClr val="E6EDF3"/>
                </a:solidFill>
                <a:latin typeface="Calibri" pitchFamily="34" charset="0"/>
                <a:ea typeface="Calibri" pitchFamily="34" charset="-122"/>
                <a:cs typeface="Calibri" pitchFamily="34" charset="-120"/>
              </a:rPr>
              <a:t>Answer +</a:t>
            </a:r>
            <a:endParaRPr lang="en-US" sz="1000" dirty="0"/>
          </a:p>
          <a:p>
            <a:pPr algn="ctr" indent="0" marL="0">
              <a:buNone/>
            </a:pPr>
            <a:r>
              <a:rPr lang="en-US" sz="1000" dirty="0">
                <a:solidFill>
                  <a:srgbClr val="E6EDF3"/>
                </a:solidFill>
                <a:latin typeface="Calibri" pitchFamily="34" charset="0"/>
                <a:ea typeface="Calibri" pitchFamily="34" charset="-122"/>
                <a:cs typeface="Calibri" pitchFamily="34" charset="-120"/>
              </a:rPr>
              <a:t>Sources</a:t>
            </a:r>
            <a:endParaRPr lang="en-US" sz="1000" dirty="0"/>
          </a:p>
        </p:txBody>
      </p:sp>
      <p:sp>
        <p:nvSpPr>
          <p:cNvPr id="37" name="Text 28"/>
          <p:cNvSpPr/>
          <p:nvPr/>
        </p:nvSpPr>
        <p:spPr>
          <a:xfrm>
            <a:off x="6537960" y="3383280"/>
            <a:ext cx="41148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38" name="Text 29"/>
          <p:cNvSpPr/>
          <p:nvPr/>
        </p:nvSpPr>
        <p:spPr>
          <a:xfrm>
            <a:off x="7516368" y="2560320"/>
            <a:ext cx="365760" cy="365760"/>
          </a:xfrm>
          <a:prstGeom prst="rect">
            <a:avLst/>
          </a:prstGeom>
          <a:noFill/>
          <a:ln/>
        </p:spPr>
        <p:txBody>
          <a:bodyPr wrap="square" rtlCol="0" anchor="ctr"/>
          <a:lstStyle/>
          <a:p>
            <a:pPr algn="ctr" indent="0" marL="0">
              <a:buNone/>
            </a:pPr>
            <a:r>
              <a:rPr lang="en-US" sz="1800" dirty="0">
                <a:solidFill>
                  <a:srgbClr val="00D4AA"/>
                </a:solidFill>
              </a:rPr>
              <a:t>↓</a:t>
            </a:r>
            <a:endParaRPr lang="en-US" sz="1800" dirty="0"/>
          </a:p>
        </p:txBody>
      </p:sp>
      <p:sp>
        <p:nvSpPr>
          <p:cNvPr id="39" name="Text 30"/>
          <p:cNvSpPr/>
          <p:nvPr/>
        </p:nvSpPr>
        <p:spPr>
          <a:xfrm>
            <a:off x="5029200" y="2606040"/>
            <a:ext cx="2286000" cy="274320"/>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 Prompt sent to Ollama</a:t>
            </a:r>
            <a:endParaRPr lang="en-US" sz="900" dirty="0"/>
          </a:p>
        </p:txBody>
      </p:sp>
      <p:sp>
        <p:nvSpPr>
          <p:cNvPr id="40" name="Shape 31"/>
          <p:cNvSpPr/>
          <p:nvPr/>
        </p:nvSpPr>
        <p:spPr>
          <a:xfrm>
            <a:off x="274320" y="2834640"/>
            <a:ext cx="4572000" cy="1280160"/>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41" name="Shape 32"/>
          <p:cNvSpPr/>
          <p:nvPr/>
        </p:nvSpPr>
        <p:spPr>
          <a:xfrm>
            <a:off x="274320" y="2834640"/>
            <a:ext cx="54864" cy="1280160"/>
          </a:xfrm>
          <a:prstGeom prst="rect">
            <a:avLst/>
          </a:prstGeom>
          <a:solidFill>
            <a:srgbClr val="79C0FF"/>
          </a:solidFill>
          <a:ln/>
        </p:spPr>
      </p:sp>
      <p:sp>
        <p:nvSpPr>
          <p:cNvPr id="42" name="Text 33"/>
          <p:cNvSpPr/>
          <p:nvPr/>
        </p:nvSpPr>
        <p:spPr>
          <a:xfrm>
            <a:off x="457200" y="2926080"/>
            <a:ext cx="4297680" cy="365760"/>
          </a:xfrm>
          <a:prstGeom prst="rect">
            <a:avLst/>
          </a:prstGeom>
          <a:noFill/>
          <a:ln/>
        </p:spPr>
        <p:txBody>
          <a:bodyPr wrap="square" rtlCol="0" anchor="ctr"/>
          <a:lstStyle/>
          <a:p>
            <a:pPr indent="0" marL="0">
              <a:buNone/>
            </a:pPr>
            <a:r>
              <a:rPr lang="en-US" sz="1200" b="1" dirty="0">
                <a:solidFill>
                  <a:srgbClr val="79C0FF"/>
                </a:solidFill>
                <a:latin typeface="Calibri" pitchFamily="34" charset="0"/>
                <a:ea typeface="Calibri" pitchFamily="34" charset="-122"/>
                <a:cs typeface="Calibri" pitchFamily="34" charset="-120"/>
              </a:rPr>
              <a:t>Key insight: The LLM never touches the database directly.</a:t>
            </a:r>
            <a:endParaRPr lang="en-US" sz="1200" dirty="0"/>
          </a:p>
        </p:txBody>
      </p:sp>
      <p:sp>
        <p:nvSpPr>
          <p:cNvPr id="43" name="Text 34"/>
          <p:cNvSpPr/>
          <p:nvPr/>
        </p:nvSpPr>
        <p:spPr>
          <a:xfrm>
            <a:off x="457200" y="3310128"/>
            <a:ext cx="4297680" cy="68580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FastAPI orchestrates everything. Retrieval and generation are strictly separate layers. This enables independent debugging, scaling, and security control of each component.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System Overview — 6 Containers</a:t>
            </a:r>
            <a:endParaRPr lang="en-US" sz="2800" dirty="0"/>
          </a:p>
        </p:txBody>
      </p:sp>
      <p:sp>
        <p:nvSpPr>
          <p:cNvPr id="5" name="Shape 3"/>
          <p:cNvSpPr/>
          <p:nvPr/>
        </p:nvSpPr>
        <p:spPr>
          <a:xfrm>
            <a:off x="274320" y="128016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274320" y="1280160"/>
            <a:ext cx="2743200" cy="64008"/>
          </a:xfrm>
          <a:prstGeom prst="rect">
            <a:avLst/>
          </a:prstGeom>
          <a:solidFill>
            <a:srgbClr val="00D4AA"/>
          </a:solidFill>
          <a:ln/>
        </p:spPr>
      </p:sp>
      <p:pic>
        <p:nvPicPr>
          <p:cNvPr id="7" name="Image 0" descr="preencoded.png">    </p:cNvPr>
          <p:cNvPicPr>
            <a:picLocks noChangeAspect="1"/>
          </p:cNvPicPr>
          <p:nvPr/>
        </p:nvPicPr>
        <p:blipFill>
          <a:blip r:embed="rId1"/>
          <a:stretch>
            <a:fillRect/>
          </a:stretch>
        </p:blipFill>
        <p:spPr>
          <a:xfrm>
            <a:off x="411480" y="1463040"/>
            <a:ext cx="411480" cy="411480"/>
          </a:xfrm>
          <a:prstGeom prst="rect">
            <a:avLst/>
          </a:prstGeom>
        </p:spPr>
      </p:pic>
      <p:sp>
        <p:nvSpPr>
          <p:cNvPr id="8" name="Text 5"/>
          <p:cNvSpPr/>
          <p:nvPr/>
        </p:nvSpPr>
        <p:spPr>
          <a:xfrm>
            <a:off x="914400" y="141732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qdrant</a:t>
            </a:r>
            <a:endParaRPr lang="en-US" sz="1100" dirty="0"/>
          </a:p>
        </p:txBody>
      </p:sp>
      <p:sp>
        <p:nvSpPr>
          <p:cNvPr id="9" name="Text 6"/>
          <p:cNvSpPr/>
          <p:nvPr/>
        </p:nvSpPr>
        <p:spPr>
          <a:xfrm>
            <a:off x="914400" y="173736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Vector database</a:t>
            </a:r>
            <a:endParaRPr lang="en-US" sz="1000" dirty="0"/>
          </a:p>
        </p:txBody>
      </p:sp>
      <p:sp>
        <p:nvSpPr>
          <p:cNvPr id="10" name="Shape 7"/>
          <p:cNvSpPr/>
          <p:nvPr/>
        </p:nvSpPr>
        <p:spPr>
          <a:xfrm>
            <a:off x="411480" y="2194560"/>
            <a:ext cx="2468880" cy="256032"/>
          </a:xfrm>
          <a:prstGeom prst="rect">
            <a:avLst/>
          </a:prstGeom>
          <a:solidFill>
            <a:srgbClr val="010409"/>
          </a:solidFill>
          <a:ln/>
        </p:spPr>
      </p:sp>
      <p:sp>
        <p:nvSpPr>
          <p:cNvPr id="11" name="Text 8"/>
          <p:cNvSpPr/>
          <p:nvPr/>
        </p:nvSpPr>
        <p:spPr>
          <a:xfrm>
            <a:off x="411480" y="2194560"/>
            <a:ext cx="2468880" cy="256032"/>
          </a:xfrm>
          <a:prstGeom prst="rect">
            <a:avLst/>
          </a:prstGeom>
          <a:noFill/>
          <a:ln/>
        </p:spPr>
        <p:txBody>
          <a:bodyPr wrap="square" rtlCol="0" anchor="ctr"/>
          <a:lstStyle/>
          <a:p>
            <a:pPr algn="ctr" indent="0" marL="0">
              <a:buNone/>
            </a:pPr>
            <a:r>
              <a:rPr lang="en-US" sz="900" dirty="0">
                <a:solidFill>
                  <a:srgbClr val="79C0FF"/>
                </a:solidFill>
                <a:latin typeface="Consolas" pitchFamily="34" charset="0"/>
                <a:ea typeface="Consolas" pitchFamily="34" charset="-122"/>
                <a:cs typeface="Consolas" pitchFamily="34" charset="-120"/>
              </a:rPr>
              <a:t>internal :6333</a:t>
            </a:r>
            <a:endParaRPr lang="en-US" sz="900" dirty="0"/>
          </a:p>
        </p:txBody>
      </p:sp>
      <p:sp>
        <p:nvSpPr>
          <p:cNvPr id="12" name="Shape 9"/>
          <p:cNvSpPr/>
          <p:nvPr/>
        </p:nvSpPr>
        <p:spPr>
          <a:xfrm>
            <a:off x="3218688" y="128016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3" name="Shape 10"/>
          <p:cNvSpPr/>
          <p:nvPr/>
        </p:nvSpPr>
        <p:spPr>
          <a:xfrm>
            <a:off x="3218688" y="1280160"/>
            <a:ext cx="2743200" cy="64008"/>
          </a:xfrm>
          <a:prstGeom prst="rect">
            <a:avLst/>
          </a:prstGeom>
          <a:solidFill>
            <a:srgbClr val="00D4AA"/>
          </a:solidFill>
          <a:ln/>
        </p:spPr>
      </p:sp>
      <p:pic>
        <p:nvPicPr>
          <p:cNvPr id="14" name="Image 1" descr="preencoded.png">    </p:cNvPr>
          <p:cNvPicPr>
            <a:picLocks noChangeAspect="1"/>
          </p:cNvPicPr>
          <p:nvPr/>
        </p:nvPicPr>
        <p:blipFill>
          <a:blip r:embed="rId2"/>
          <a:stretch>
            <a:fillRect/>
          </a:stretch>
        </p:blipFill>
        <p:spPr>
          <a:xfrm>
            <a:off x="3355848" y="1463040"/>
            <a:ext cx="411480" cy="411480"/>
          </a:xfrm>
          <a:prstGeom prst="rect">
            <a:avLst/>
          </a:prstGeom>
        </p:spPr>
      </p:pic>
      <p:sp>
        <p:nvSpPr>
          <p:cNvPr id="15" name="Text 11"/>
          <p:cNvSpPr/>
          <p:nvPr/>
        </p:nvSpPr>
        <p:spPr>
          <a:xfrm>
            <a:off x="3858768" y="141732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text2vec-transformers</a:t>
            </a:r>
            <a:endParaRPr lang="en-US" sz="1100" dirty="0"/>
          </a:p>
        </p:txBody>
      </p:sp>
      <p:sp>
        <p:nvSpPr>
          <p:cNvPr id="16" name="Text 12"/>
          <p:cNvSpPr/>
          <p:nvPr/>
        </p:nvSpPr>
        <p:spPr>
          <a:xfrm>
            <a:off x="3858768" y="173736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Embedding service</a:t>
            </a:r>
            <a:endParaRPr lang="en-US" sz="1000" dirty="0"/>
          </a:p>
        </p:txBody>
      </p:sp>
      <p:sp>
        <p:nvSpPr>
          <p:cNvPr id="17" name="Shape 13"/>
          <p:cNvSpPr/>
          <p:nvPr/>
        </p:nvSpPr>
        <p:spPr>
          <a:xfrm>
            <a:off x="3355848" y="2194560"/>
            <a:ext cx="2468880" cy="256032"/>
          </a:xfrm>
          <a:prstGeom prst="rect">
            <a:avLst/>
          </a:prstGeom>
          <a:solidFill>
            <a:srgbClr val="010409"/>
          </a:solidFill>
          <a:ln/>
        </p:spPr>
      </p:sp>
      <p:sp>
        <p:nvSpPr>
          <p:cNvPr id="18" name="Text 14"/>
          <p:cNvSpPr/>
          <p:nvPr/>
        </p:nvSpPr>
        <p:spPr>
          <a:xfrm>
            <a:off x="3355848" y="2194560"/>
            <a:ext cx="2468880" cy="256032"/>
          </a:xfrm>
          <a:prstGeom prst="rect">
            <a:avLst/>
          </a:prstGeom>
          <a:noFill/>
          <a:ln/>
        </p:spPr>
        <p:txBody>
          <a:bodyPr wrap="square" rtlCol="0" anchor="ctr"/>
          <a:lstStyle/>
          <a:p>
            <a:pPr algn="ctr" indent="0" marL="0">
              <a:buNone/>
            </a:pPr>
            <a:r>
              <a:rPr lang="en-US" sz="900" dirty="0">
                <a:solidFill>
                  <a:srgbClr val="79C0FF"/>
                </a:solidFill>
                <a:latin typeface="Consolas" pitchFamily="34" charset="0"/>
                <a:ea typeface="Consolas" pitchFamily="34" charset="-122"/>
                <a:cs typeface="Consolas" pitchFamily="34" charset="-120"/>
              </a:rPr>
              <a:t>internal :8080</a:t>
            </a:r>
            <a:endParaRPr lang="en-US" sz="900" dirty="0"/>
          </a:p>
        </p:txBody>
      </p:sp>
      <p:sp>
        <p:nvSpPr>
          <p:cNvPr id="19" name="Shape 15"/>
          <p:cNvSpPr/>
          <p:nvPr/>
        </p:nvSpPr>
        <p:spPr>
          <a:xfrm>
            <a:off x="6163056" y="128016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0" name="Shape 16"/>
          <p:cNvSpPr/>
          <p:nvPr/>
        </p:nvSpPr>
        <p:spPr>
          <a:xfrm>
            <a:off x="6163056" y="1280160"/>
            <a:ext cx="2743200" cy="64008"/>
          </a:xfrm>
          <a:prstGeom prst="rect">
            <a:avLst/>
          </a:prstGeom>
          <a:solidFill>
            <a:srgbClr val="79C0FF"/>
          </a:solidFill>
          <a:ln/>
        </p:spPr>
      </p:sp>
      <p:pic>
        <p:nvPicPr>
          <p:cNvPr id="21" name="Image 2" descr="preencoded.png">    </p:cNvPr>
          <p:cNvPicPr>
            <a:picLocks noChangeAspect="1"/>
          </p:cNvPicPr>
          <p:nvPr/>
        </p:nvPicPr>
        <p:blipFill>
          <a:blip r:embed="rId3"/>
          <a:stretch>
            <a:fillRect/>
          </a:stretch>
        </p:blipFill>
        <p:spPr>
          <a:xfrm>
            <a:off x="6300216" y="1463040"/>
            <a:ext cx="411480" cy="411480"/>
          </a:xfrm>
          <a:prstGeom prst="rect">
            <a:avLst/>
          </a:prstGeom>
        </p:spPr>
      </p:pic>
      <p:sp>
        <p:nvSpPr>
          <p:cNvPr id="22" name="Text 17"/>
          <p:cNvSpPr/>
          <p:nvPr/>
        </p:nvSpPr>
        <p:spPr>
          <a:xfrm>
            <a:off x="6803136" y="141732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ingestion-api</a:t>
            </a:r>
            <a:endParaRPr lang="en-US" sz="1100" dirty="0"/>
          </a:p>
        </p:txBody>
      </p:sp>
      <p:sp>
        <p:nvSpPr>
          <p:cNvPr id="23" name="Text 18"/>
          <p:cNvSpPr/>
          <p:nvPr/>
        </p:nvSpPr>
        <p:spPr>
          <a:xfrm>
            <a:off x="6803136" y="173736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FastAPI orchestrator</a:t>
            </a:r>
            <a:endParaRPr lang="en-US" sz="1000" dirty="0"/>
          </a:p>
        </p:txBody>
      </p:sp>
      <p:sp>
        <p:nvSpPr>
          <p:cNvPr id="24" name="Shape 19"/>
          <p:cNvSpPr/>
          <p:nvPr/>
        </p:nvSpPr>
        <p:spPr>
          <a:xfrm>
            <a:off x="6300216" y="2194560"/>
            <a:ext cx="2468880" cy="256032"/>
          </a:xfrm>
          <a:prstGeom prst="rect">
            <a:avLst/>
          </a:prstGeom>
          <a:solidFill>
            <a:srgbClr val="010409"/>
          </a:solidFill>
          <a:ln/>
        </p:spPr>
      </p:sp>
      <p:sp>
        <p:nvSpPr>
          <p:cNvPr id="25" name="Text 20"/>
          <p:cNvSpPr/>
          <p:nvPr/>
        </p:nvSpPr>
        <p:spPr>
          <a:xfrm>
            <a:off x="6300216" y="2194560"/>
            <a:ext cx="2468880" cy="256032"/>
          </a:xfrm>
          <a:prstGeom prst="rect">
            <a:avLst/>
          </a:prstGeom>
          <a:noFill/>
          <a:ln/>
        </p:spPr>
        <p:txBody>
          <a:bodyPr wrap="square" rtlCol="0" anchor="ctr"/>
          <a:lstStyle/>
          <a:p>
            <a:pPr algn="ctr" indent="0" marL="0">
              <a:buNone/>
            </a:pPr>
            <a:r>
              <a:rPr lang="en-US" sz="900" dirty="0">
                <a:solidFill>
                  <a:srgbClr val="79C0FF"/>
                </a:solidFill>
                <a:latin typeface="Consolas" pitchFamily="34" charset="0"/>
                <a:ea typeface="Consolas" pitchFamily="34" charset="-122"/>
                <a:cs typeface="Consolas" pitchFamily="34" charset="-120"/>
              </a:rPr>
              <a:t>internal :8000</a:t>
            </a:r>
            <a:endParaRPr lang="en-US" sz="900" dirty="0"/>
          </a:p>
        </p:txBody>
      </p:sp>
      <p:sp>
        <p:nvSpPr>
          <p:cNvPr id="26" name="Shape 21"/>
          <p:cNvSpPr/>
          <p:nvPr/>
        </p:nvSpPr>
        <p:spPr>
          <a:xfrm>
            <a:off x="274320" y="292608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7" name="Shape 22"/>
          <p:cNvSpPr/>
          <p:nvPr/>
        </p:nvSpPr>
        <p:spPr>
          <a:xfrm>
            <a:off x="274320" y="2926080"/>
            <a:ext cx="2743200" cy="64008"/>
          </a:xfrm>
          <a:prstGeom prst="rect">
            <a:avLst/>
          </a:prstGeom>
          <a:solidFill>
            <a:srgbClr val="BC8CFF"/>
          </a:solidFill>
          <a:ln/>
        </p:spPr>
      </p:sp>
      <p:pic>
        <p:nvPicPr>
          <p:cNvPr id="28" name="Image 3" descr="preencoded.png">    </p:cNvPr>
          <p:cNvPicPr>
            <a:picLocks noChangeAspect="1"/>
          </p:cNvPicPr>
          <p:nvPr/>
        </p:nvPicPr>
        <p:blipFill>
          <a:blip r:embed="rId4"/>
          <a:stretch>
            <a:fillRect/>
          </a:stretch>
        </p:blipFill>
        <p:spPr>
          <a:xfrm>
            <a:off x="411480" y="3108960"/>
            <a:ext cx="411480" cy="411480"/>
          </a:xfrm>
          <a:prstGeom prst="rect">
            <a:avLst/>
          </a:prstGeom>
        </p:spPr>
      </p:pic>
      <p:sp>
        <p:nvSpPr>
          <p:cNvPr id="29" name="Text 23"/>
          <p:cNvSpPr/>
          <p:nvPr/>
        </p:nvSpPr>
        <p:spPr>
          <a:xfrm>
            <a:off x="914400" y="306324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ollama</a:t>
            </a:r>
            <a:endParaRPr lang="en-US" sz="1100" dirty="0"/>
          </a:p>
        </p:txBody>
      </p:sp>
      <p:sp>
        <p:nvSpPr>
          <p:cNvPr id="30" name="Text 24"/>
          <p:cNvSpPr/>
          <p:nvPr/>
        </p:nvSpPr>
        <p:spPr>
          <a:xfrm>
            <a:off x="914400" y="338328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Local LLM runtime</a:t>
            </a:r>
            <a:endParaRPr lang="en-US" sz="1000" dirty="0"/>
          </a:p>
        </p:txBody>
      </p:sp>
      <p:sp>
        <p:nvSpPr>
          <p:cNvPr id="31" name="Shape 25"/>
          <p:cNvSpPr/>
          <p:nvPr/>
        </p:nvSpPr>
        <p:spPr>
          <a:xfrm>
            <a:off x="411480" y="3840480"/>
            <a:ext cx="2468880" cy="256032"/>
          </a:xfrm>
          <a:prstGeom prst="rect">
            <a:avLst/>
          </a:prstGeom>
          <a:solidFill>
            <a:srgbClr val="010409"/>
          </a:solidFill>
          <a:ln/>
        </p:spPr>
      </p:sp>
      <p:sp>
        <p:nvSpPr>
          <p:cNvPr id="32" name="Text 26"/>
          <p:cNvSpPr/>
          <p:nvPr/>
        </p:nvSpPr>
        <p:spPr>
          <a:xfrm>
            <a:off x="411480" y="3840480"/>
            <a:ext cx="2468880" cy="256032"/>
          </a:xfrm>
          <a:prstGeom prst="rect">
            <a:avLst/>
          </a:prstGeom>
          <a:noFill/>
          <a:ln/>
        </p:spPr>
        <p:txBody>
          <a:bodyPr wrap="square" rtlCol="0" anchor="ctr"/>
          <a:lstStyle/>
          <a:p>
            <a:pPr algn="ctr" indent="0" marL="0">
              <a:buNone/>
            </a:pPr>
            <a:r>
              <a:rPr lang="en-US" sz="900" dirty="0">
                <a:solidFill>
                  <a:srgbClr val="79C0FF"/>
                </a:solidFill>
                <a:latin typeface="Consolas" pitchFamily="34" charset="0"/>
                <a:ea typeface="Consolas" pitchFamily="34" charset="-122"/>
                <a:cs typeface="Consolas" pitchFamily="34" charset="-120"/>
              </a:rPr>
              <a:t>internal :11434</a:t>
            </a:r>
            <a:endParaRPr lang="en-US" sz="900" dirty="0"/>
          </a:p>
        </p:txBody>
      </p:sp>
      <p:sp>
        <p:nvSpPr>
          <p:cNvPr id="33" name="Shape 27"/>
          <p:cNvSpPr/>
          <p:nvPr/>
        </p:nvSpPr>
        <p:spPr>
          <a:xfrm>
            <a:off x="3218688" y="292608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34" name="Shape 28"/>
          <p:cNvSpPr/>
          <p:nvPr/>
        </p:nvSpPr>
        <p:spPr>
          <a:xfrm>
            <a:off x="3218688" y="2926080"/>
            <a:ext cx="2743200" cy="64008"/>
          </a:xfrm>
          <a:prstGeom prst="rect">
            <a:avLst/>
          </a:prstGeom>
          <a:solidFill>
            <a:srgbClr val="F78166"/>
          </a:solidFill>
          <a:ln/>
        </p:spPr>
      </p:sp>
      <p:pic>
        <p:nvPicPr>
          <p:cNvPr id="35" name="Image 4" descr="preencoded.png">    </p:cNvPr>
          <p:cNvPicPr>
            <a:picLocks noChangeAspect="1"/>
          </p:cNvPicPr>
          <p:nvPr/>
        </p:nvPicPr>
        <p:blipFill>
          <a:blip r:embed="rId5"/>
          <a:stretch>
            <a:fillRect/>
          </a:stretch>
        </p:blipFill>
        <p:spPr>
          <a:xfrm>
            <a:off x="3355848" y="3108960"/>
            <a:ext cx="411480" cy="411480"/>
          </a:xfrm>
          <a:prstGeom prst="rect">
            <a:avLst/>
          </a:prstGeom>
        </p:spPr>
      </p:pic>
      <p:sp>
        <p:nvSpPr>
          <p:cNvPr id="36" name="Text 29"/>
          <p:cNvSpPr/>
          <p:nvPr/>
        </p:nvSpPr>
        <p:spPr>
          <a:xfrm>
            <a:off x="3858768" y="306324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edge-nginx</a:t>
            </a:r>
            <a:endParaRPr lang="en-US" sz="1100" dirty="0"/>
          </a:p>
        </p:txBody>
      </p:sp>
      <p:sp>
        <p:nvSpPr>
          <p:cNvPr id="37" name="Text 30"/>
          <p:cNvSpPr/>
          <p:nvPr/>
        </p:nvSpPr>
        <p:spPr>
          <a:xfrm>
            <a:off x="3858768" y="338328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Auth gateway</a:t>
            </a:r>
            <a:endParaRPr lang="en-US" sz="1000" dirty="0"/>
          </a:p>
        </p:txBody>
      </p:sp>
      <p:sp>
        <p:nvSpPr>
          <p:cNvPr id="38" name="Shape 31"/>
          <p:cNvSpPr/>
          <p:nvPr/>
        </p:nvSpPr>
        <p:spPr>
          <a:xfrm>
            <a:off x="3355848" y="3840480"/>
            <a:ext cx="2468880" cy="256032"/>
          </a:xfrm>
          <a:prstGeom prst="rect">
            <a:avLst/>
          </a:prstGeom>
          <a:solidFill>
            <a:srgbClr val="010409"/>
          </a:solidFill>
          <a:ln/>
        </p:spPr>
      </p:sp>
      <p:sp>
        <p:nvSpPr>
          <p:cNvPr id="39" name="Text 32"/>
          <p:cNvSpPr/>
          <p:nvPr/>
        </p:nvSpPr>
        <p:spPr>
          <a:xfrm>
            <a:off x="3355848" y="3840480"/>
            <a:ext cx="2468880" cy="256032"/>
          </a:xfrm>
          <a:prstGeom prst="rect">
            <a:avLst/>
          </a:prstGeom>
          <a:noFill/>
          <a:ln/>
        </p:spPr>
        <p:txBody>
          <a:bodyPr wrap="square" rtlCol="0" anchor="ctr"/>
          <a:lstStyle/>
          <a:p>
            <a:pPr algn="ctr" indent="0" marL="0">
              <a:buNone/>
            </a:pPr>
            <a:r>
              <a:rPr lang="en-US" sz="900" dirty="0">
                <a:solidFill>
                  <a:srgbClr val="F78166"/>
                </a:solidFill>
                <a:latin typeface="Consolas" pitchFamily="34" charset="0"/>
                <a:ea typeface="Consolas" pitchFamily="34" charset="-122"/>
                <a:cs typeface="Consolas" pitchFamily="34" charset="-120"/>
              </a:rPr>
              <a:t>host :8088</a:t>
            </a:r>
            <a:endParaRPr lang="en-US" sz="900" dirty="0"/>
          </a:p>
        </p:txBody>
      </p:sp>
      <p:sp>
        <p:nvSpPr>
          <p:cNvPr id="40" name="Shape 33"/>
          <p:cNvSpPr/>
          <p:nvPr/>
        </p:nvSpPr>
        <p:spPr>
          <a:xfrm>
            <a:off x="6163056" y="2926080"/>
            <a:ext cx="2743200" cy="14630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41" name="Shape 34"/>
          <p:cNvSpPr/>
          <p:nvPr/>
        </p:nvSpPr>
        <p:spPr>
          <a:xfrm>
            <a:off x="6163056" y="2926080"/>
            <a:ext cx="2743200" cy="64008"/>
          </a:xfrm>
          <a:prstGeom prst="rect">
            <a:avLst/>
          </a:prstGeom>
          <a:solidFill>
            <a:srgbClr val="3FB950"/>
          </a:solidFill>
          <a:ln/>
        </p:spPr>
      </p:sp>
      <p:pic>
        <p:nvPicPr>
          <p:cNvPr id="42" name="Image 5" descr="preencoded.png">    </p:cNvPr>
          <p:cNvPicPr>
            <a:picLocks noChangeAspect="1"/>
          </p:cNvPicPr>
          <p:nvPr/>
        </p:nvPicPr>
        <p:blipFill>
          <a:blip r:embed="rId6"/>
          <a:stretch>
            <a:fillRect/>
          </a:stretch>
        </p:blipFill>
        <p:spPr>
          <a:xfrm>
            <a:off x="6300216" y="3108960"/>
            <a:ext cx="411480" cy="411480"/>
          </a:xfrm>
          <a:prstGeom prst="rect">
            <a:avLst/>
          </a:prstGeom>
        </p:spPr>
      </p:pic>
      <p:sp>
        <p:nvSpPr>
          <p:cNvPr id="43" name="Text 35"/>
          <p:cNvSpPr/>
          <p:nvPr/>
        </p:nvSpPr>
        <p:spPr>
          <a:xfrm>
            <a:off x="6803136" y="3063240"/>
            <a:ext cx="2011680" cy="320040"/>
          </a:xfrm>
          <a:prstGeom prst="rect">
            <a:avLst/>
          </a:prstGeom>
          <a:noFill/>
          <a:ln/>
        </p:spPr>
        <p:txBody>
          <a:bodyPr wrap="square" rtlCol="0" anchor="ctr"/>
          <a:lstStyle/>
          <a:p>
            <a:pPr indent="0" marL="0">
              <a:buNone/>
            </a:pPr>
            <a:r>
              <a:rPr lang="en-US" sz="1100" b="1" dirty="0">
                <a:solidFill>
                  <a:srgbClr val="E6EDF3"/>
                </a:solidFill>
                <a:latin typeface="Consolas" pitchFamily="34" charset="0"/>
                <a:ea typeface="Consolas" pitchFamily="34" charset="-122"/>
                <a:cs typeface="Consolas" pitchFamily="34" charset="-120"/>
              </a:rPr>
              <a:t>gradio-ui</a:t>
            </a:r>
            <a:endParaRPr lang="en-US" sz="1100" dirty="0"/>
          </a:p>
        </p:txBody>
      </p:sp>
      <p:sp>
        <p:nvSpPr>
          <p:cNvPr id="44" name="Text 36"/>
          <p:cNvSpPr/>
          <p:nvPr/>
        </p:nvSpPr>
        <p:spPr>
          <a:xfrm>
            <a:off x="6803136" y="3383280"/>
            <a:ext cx="201168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Browser chat UI</a:t>
            </a:r>
            <a:endParaRPr lang="en-US" sz="1000" dirty="0"/>
          </a:p>
        </p:txBody>
      </p:sp>
      <p:sp>
        <p:nvSpPr>
          <p:cNvPr id="45" name="Shape 37"/>
          <p:cNvSpPr/>
          <p:nvPr/>
        </p:nvSpPr>
        <p:spPr>
          <a:xfrm>
            <a:off x="6300216" y="3840480"/>
            <a:ext cx="2468880" cy="256032"/>
          </a:xfrm>
          <a:prstGeom prst="rect">
            <a:avLst/>
          </a:prstGeom>
          <a:solidFill>
            <a:srgbClr val="010409"/>
          </a:solidFill>
          <a:ln/>
        </p:spPr>
      </p:sp>
      <p:sp>
        <p:nvSpPr>
          <p:cNvPr id="46" name="Text 38"/>
          <p:cNvSpPr/>
          <p:nvPr/>
        </p:nvSpPr>
        <p:spPr>
          <a:xfrm>
            <a:off x="6300216" y="3840480"/>
            <a:ext cx="2468880" cy="256032"/>
          </a:xfrm>
          <a:prstGeom prst="rect">
            <a:avLst/>
          </a:prstGeom>
          <a:noFill/>
          <a:ln/>
        </p:spPr>
        <p:txBody>
          <a:bodyPr wrap="square" rtlCol="0" anchor="ctr"/>
          <a:lstStyle/>
          <a:p>
            <a:pPr algn="ctr" indent="0" marL="0">
              <a:buNone/>
            </a:pPr>
            <a:r>
              <a:rPr lang="en-US" sz="900" dirty="0">
                <a:solidFill>
                  <a:srgbClr val="F78166"/>
                </a:solidFill>
                <a:latin typeface="Consolas" pitchFamily="34" charset="0"/>
                <a:ea typeface="Consolas" pitchFamily="34" charset="-122"/>
                <a:cs typeface="Consolas" pitchFamily="34" charset="-120"/>
              </a:rPr>
              <a:t>host :7860</a:t>
            </a:r>
            <a:endParaRPr lang="en-US" sz="900" dirty="0"/>
          </a:p>
        </p:txBody>
      </p:sp>
      <p:sp>
        <p:nvSpPr>
          <p:cNvPr id="47" name="Shape 39"/>
          <p:cNvSpPr/>
          <p:nvPr/>
        </p:nvSpPr>
        <p:spPr>
          <a:xfrm>
            <a:off x="274320" y="4617720"/>
            <a:ext cx="164592" cy="164592"/>
          </a:xfrm>
          <a:prstGeom prst="rect">
            <a:avLst/>
          </a:prstGeom>
          <a:solidFill>
            <a:srgbClr val="F78166"/>
          </a:solidFill>
          <a:ln/>
        </p:spPr>
      </p:sp>
      <p:sp>
        <p:nvSpPr>
          <p:cNvPr id="48" name="Text 40"/>
          <p:cNvSpPr/>
          <p:nvPr/>
        </p:nvSpPr>
        <p:spPr>
          <a:xfrm>
            <a:off x="502920" y="4599432"/>
            <a:ext cx="1828800" cy="201168"/>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 exposed to host</a:t>
            </a:r>
            <a:endParaRPr lang="en-US" sz="900" dirty="0"/>
          </a:p>
        </p:txBody>
      </p:sp>
      <p:sp>
        <p:nvSpPr>
          <p:cNvPr id="49" name="Shape 41"/>
          <p:cNvSpPr/>
          <p:nvPr/>
        </p:nvSpPr>
        <p:spPr>
          <a:xfrm>
            <a:off x="2560320" y="4617720"/>
            <a:ext cx="164592" cy="164592"/>
          </a:xfrm>
          <a:prstGeom prst="rect">
            <a:avLst/>
          </a:prstGeom>
          <a:solidFill>
            <a:srgbClr val="79C0FF"/>
          </a:solidFill>
          <a:ln/>
        </p:spPr>
      </p:sp>
      <p:sp>
        <p:nvSpPr>
          <p:cNvPr id="50" name="Text 42"/>
          <p:cNvSpPr/>
          <p:nvPr/>
        </p:nvSpPr>
        <p:spPr>
          <a:xfrm>
            <a:off x="2788920" y="4599432"/>
            <a:ext cx="2743200" cy="201168"/>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 internal Docker network only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Qdrant — Vector Database</a:t>
            </a:r>
            <a:endParaRPr lang="en-US" sz="2800" dirty="0"/>
          </a:p>
        </p:txBody>
      </p:sp>
      <p:pic>
        <p:nvPicPr>
          <p:cNvPr id="5" name="Image 0" descr="preencoded.png">    </p:cNvPr>
          <p:cNvPicPr>
            <a:picLocks noChangeAspect="1"/>
          </p:cNvPicPr>
          <p:nvPr/>
        </p:nvPicPr>
        <p:blipFill>
          <a:blip r:embed="rId1"/>
          <a:stretch>
            <a:fillRect/>
          </a:stretch>
        </p:blipFill>
        <p:spPr>
          <a:xfrm>
            <a:off x="365760" y="1261872"/>
            <a:ext cx="548640" cy="548640"/>
          </a:xfrm>
          <a:prstGeom prst="rect">
            <a:avLst/>
          </a:prstGeom>
        </p:spPr>
      </p:pic>
      <p:sp>
        <p:nvSpPr>
          <p:cNvPr id="6" name="Text 3"/>
          <p:cNvSpPr/>
          <p:nvPr/>
        </p:nvSpPr>
        <p:spPr>
          <a:xfrm>
            <a:off x="1005840" y="1325880"/>
            <a:ext cx="7772400" cy="320040"/>
          </a:xfrm>
          <a:prstGeom prst="rect">
            <a:avLst/>
          </a:prstGeom>
          <a:noFill/>
          <a:ln/>
        </p:spPr>
        <p:txBody>
          <a:bodyPr wrap="square" rtlCol="0" anchor="ctr"/>
          <a:lstStyle/>
          <a:p>
            <a:pPr indent="0" marL="0">
              <a:buNone/>
            </a:pPr>
            <a:r>
              <a:rPr lang="en-US" sz="1100" dirty="0">
                <a:solidFill>
                  <a:srgbClr val="8B949E"/>
                </a:solidFill>
                <a:latin typeface="Consolas" pitchFamily="34" charset="0"/>
                <a:ea typeface="Consolas" pitchFamily="34" charset="-122"/>
                <a:cs typeface="Consolas" pitchFamily="34" charset="-120"/>
              </a:rPr>
              <a:t>Internal only · Port 6333 · Volume: qdrant_data · 8GB mem limit</a:t>
            </a:r>
            <a:endParaRPr lang="en-US" sz="1100" dirty="0"/>
          </a:p>
        </p:txBody>
      </p:sp>
      <p:sp>
        <p:nvSpPr>
          <p:cNvPr id="7" name="Shape 4"/>
          <p:cNvSpPr/>
          <p:nvPr/>
        </p:nvSpPr>
        <p:spPr>
          <a:xfrm>
            <a:off x="365760" y="1783080"/>
            <a:ext cx="393192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8" name="Shape 5"/>
          <p:cNvSpPr/>
          <p:nvPr/>
        </p:nvSpPr>
        <p:spPr>
          <a:xfrm>
            <a:off x="365760" y="1783080"/>
            <a:ext cx="54864" cy="2926080"/>
          </a:xfrm>
          <a:prstGeom prst="rect">
            <a:avLst/>
          </a:prstGeom>
          <a:solidFill>
            <a:srgbClr val="00D4AA"/>
          </a:solidFill>
          <a:ln/>
        </p:spPr>
      </p:sp>
      <p:sp>
        <p:nvSpPr>
          <p:cNvPr id="9" name="Text 6"/>
          <p:cNvSpPr/>
          <p:nvPr/>
        </p:nvSpPr>
        <p:spPr>
          <a:xfrm>
            <a:off x="548640" y="1874520"/>
            <a:ext cx="3657600" cy="36576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What Qdrant Stores</a:t>
            </a:r>
            <a:endParaRPr lang="en-US" sz="1400" dirty="0"/>
          </a:p>
        </p:txBody>
      </p:sp>
      <p:sp>
        <p:nvSpPr>
          <p:cNvPr id="10" name="Text 7"/>
          <p:cNvSpPr/>
          <p:nvPr/>
        </p:nvSpPr>
        <p:spPr>
          <a:xfrm>
            <a:off x="548640" y="2286000"/>
            <a:ext cx="3657600" cy="2194560"/>
          </a:xfrm>
          <a:prstGeom prst="rect">
            <a:avLst/>
          </a:prstGeom>
          <a:noFill/>
          <a:ln/>
        </p:spPr>
        <p:txBody>
          <a:bodyPr wrap="square" rtlCol="0" anchor="t"/>
          <a:lstStyle/>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Vector — list of floats representing semantic meaning of a document</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Payload — metadata: title, url, source, tags, published_date, snippet</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Collection — LabDoc (main dataset) and ExpandedVSCodeMemory (security)</a:t>
            </a:r>
            <a:endParaRPr lang="en-US" sz="1100" dirty="0"/>
          </a:p>
        </p:txBody>
      </p:sp>
      <p:sp>
        <p:nvSpPr>
          <p:cNvPr id="11" name="Shape 8"/>
          <p:cNvSpPr/>
          <p:nvPr/>
        </p:nvSpPr>
        <p:spPr>
          <a:xfrm>
            <a:off x="4480560" y="1783080"/>
            <a:ext cx="429768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9"/>
          <p:cNvSpPr/>
          <p:nvPr/>
        </p:nvSpPr>
        <p:spPr>
          <a:xfrm>
            <a:off x="4480560" y="1783080"/>
            <a:ext cx="54864" cy="2926080"/>
          </a:xfrm>
          <a:prstGeom prst="rect">
            <a:avLst/>
          </a:prstGeom>
          <a:solidFill>
            <a:srgbClr val="79C0FF"/>
          </a:solidFill>
          <a:ln/>
        </p:spPr>
      </p:sp>
      <p:sp>
        <p:nvSpPr>
          <p:cNvPr id="13" name="Text 10"/>
          <p:cNvSpPr/>
          <p:nvPr/>
        </p:nvSpPr>
        <p:spPr>
          <a:xfrm>
            <a:off x="4663440" y="1874520"/>
            <a:ext cx="3931920" cy="365760"/>
          </a:xfrm>
          <a:prstGeom prst="rect">
            <a:avLst/>
          </a:prstGeom>
          <a:noFill/>
          <a:ln/>
        </p:spPr>
        <p:txBody>
          <a:bodyPr wrap="square" rtlCol="0" anchor="ctr"/>
          <a:lstStyle/>
          <a:p>
            <a:pPr indent="0" marL="0">
              <a:buNone/>
            </a:pPr>
            <a:r>
              <a:rPr lang="en-US" sz="1400" b="1" dirty="0">
                <a:solidFill>
                  <a:srgbClr val="79C0FF"/>
                </a:solidFill>
                <a:latin typeface="Calibri" pitchFamily="34" charset="0"/>
                <a:ea typeface="Calibri" pitchFamily="34" charset="-122"/>
                <a:cs typeface="Calibri" pitchFamily="34" charset="-120"/>
              </a:rPr>
              <a:t>How Semantic Search Works</a:t>
            </a:r>
            <a:endParaRPr lang="en-US" sz="1400" dirty="0"/>
          </a:p>
        </p:txBody>
      </p:sp>
      <p:sp>
        <p:nvSpPr>
          <p:cNvPr id="14" name="Text 11"/>
          <p:cNvSpPr/>
          <p:nvPr/>
        </p:nvSpPr>
        <p:spPr>
          <a:xfrm>
            <a:off x="4663440" y="2286000"/>
            <a:ext cx="3931920" cy="2194560"/>
          </a:xfrm>
          <a:prstGeom prst="rect">
            <a:avLst/>
          </a:prstGeom>
          <a:noFill/>
          <a:ln/>
        </p:spPr>
        <p:txBody>
          <a:bodyPr wrap="square" rtlCol="0" anchor="t"/>
          <a:lstStyle/>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Query text → embed → 384-dim vector</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Compare query vector to all stored vectors</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Return top-K closest by cosine similarity</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Higher score = stronger semantic match (0 to 1)</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Semantic search finds meaning, not keywords</a:t>
            </a:r>
            <a:endParaRPr lang="en-US" sz="1100" dirty="0"/>
          </a:p>
        </p:txBody>
      </p:sp>
      <p:sp>
        <p:nvSpPr>
          <p:cNvPr id="15" name="Shape 12"/>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6" name="Text 13"/>
          <p:cNvSpPr/>
          <p:nvPr/>
        </p:nvSpPr>
        <p:spPr>
          <a:xfrm>
            <a:off x="548640" y="4663440"/>
            <a:ext cx="8046720" cy="292608"/>
          </a:xfrm>
          <a:prstGeom prst="rect">
            <a:avLst/>
          </a:prstGeom>
          <a:noFill/>
          <a:ln/>
        </p:spPr>
        <p:txBody>
          <a:bodyPr wrap="square" rtlCol="0" anchor="ctr"/>
          <a:lstStyle/>
          <a:p>
            <a:pPr indent="0" marL="0">
              <a:buNone/>
            </a:pPr>
            <a:r>
              <a:rPr lang="en-US" sz="1000" i="1" dirty="0">
                <a:solidFill>
                  <a:srgbClr val="00D4AA"/>
                </a:solidFill>
                <a:latin typeface="Calibri" pitchFamily="34" charset="0"/>
                <a:ea typeface="Calibri" pitchFamily="34" charset="-122"/>
                <a:cs typeface="Calibri" pitchFamily="34" charset="-120"/>
              </a:rPr>
              <a:t>Unlike Weaviate, Qdrant does NOT auto-generate embeddings — the ingestion API generates them using text2vec-transformers and passes them in.</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text2vec-transformers — Embedding Service</a:t>
            </a:r>
            <a:endParaRPr lang="en-US" sz="2800" dirty="0"/>
          </a:p>
        </p:txBody>
      </p:sp>
      <p:pic>
        <p:nvPicPr>
          <p:cNvPr id="5" name="Image 0" descr="preencoded.png">    </p:cNvPr>
          <p:cNvPicPr>
            <a:picLocks noChangeAspect="1"/>
          </p:cNvPicPr>
          <p:nvPr/>
        </p:nvPicPr>
        <p:blipFill>
          <a:blip r:embed="rId1"/>
          <a:stretch>
            <a:fillRect/>
          </a:stretch>
        </p:blipFill>
        <p:spPr>
          <a:xfrm>
            <a:off x="365760" y="1261872"/>
            <a:ext cx="548640" cy="548640"/>
          </a:xfrm>
          <a:prstGeom prst="rect">
            <a:avLst/>
          </a:prstGeom>
        </p:spPr>
      </p:pic>
      <p:sp>
        <p:nvSpPr>
          <p:cNvPr id="6" name="Text 3"/>
          <p:cNvSpPr/>
          <p:nvPr/>
        </p:nvSpPr>
        <p:spPr>
          <a:xfrm>
            <a:off x="1005840" y="1325880"/>
            <a:ext cx="7772400" cy="320040"/>
          </a:xfrm>
          <a:prstGeom prst="rect">
            <a:avLst/>
          </a:prstGeom>
          <a:noFill/>
          <a:ln/>
        </p:spPr>
        <p:txBody>
          <a:bodyPr wrap="square" rtlCol="0" anchor="ctr"/>
          <a:lstStyle/>
          <a:p>
            <a:pPr indent="0" marL="0">
              <a:buNone/>
            </a:pPr>
            <a:r>
              <a:rPr lang="en-US" sz="1100" dirty="0">
                <a:solidFill>
                  <a:srgbClr val="8B949E"/>
                </a:solidFill>
                <a:latin typeface="Consolas" pitchFamily="34" charset="0"/>
                <a:ea typeface="Consolas" pitchFamily="34" charset="-122"/>
                <a:cs typeface="Consolas" pitchFamily="34" charset="-120"/>
              </a:rPr>
              <a:t>Internal only · Port 8080 · Called by ingestion-api, not by Qdrant directly</a:t>
            </a:r>
            <a:endParaRPr lang="en-US" sz="1100" dirty="0"/>
          </a:p>
        </p:txBody>
      </p:sp>
      <p:sp>
        <p:nvSpPr>
          <p:cNvPr id="7" name="Shape 4"/>
          <p:cNvSpPr/>
          <p:nvPr/>
        </p:nvSpPr>
        <p:spPr>
          <a:xfrm>
            <a:off x="365760" y="1783080"/>
            <a:ext cx="8412480" cy="13716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8" name="Shape 5"/>
          <p:cNvSpPr/>
          <p:nvPr/>
        </p:nvSpPr>
        <p:spPr>
          <a:xfrm>
            <a:off x="365760" y="1783080"/>
            <a:ext cx="54864" cy="1371600"/>
          </a:xfrm>
          <a:prstGeom prst="rect">
            <a:avLst/>
          </a:prstGeom>
          <a:solidFill>
            <a:srgbClr val="00D4AA"/>
          </a:solidFill>
          <a:ln/>
        </p:spPr>
      </p:sp>
      <p:sp>
        <p:nvSpPr>
          <p:cNvPr id="9" name="Text 6"/>
          <p:cNvSpPr/>
          <p:nvPr/>
        </p:nvSpPr>
        <p:spPr>
          <a:xfrm>
            <a:off x="548640" y="1874520"/>
            <a:ext cx="8046720" cy="365760"/>
          </a:xfrm>
          <a:prstGeom prst="rect">
            <a:avLst/>
          </a:prstGeom>
          <a:noFill/>
          <a:ln/>
        </p:spPr>
        <p:txBody>
          <a:bodyPr wrap="square" rtlCol="0" anchor="ctr"/>
          <a:lstStyle/>
          <a:p>
            <a:pPr indent="0" marL="0">
              <a:buNone/>
            </a:pPr>
            <a:r>
              <a:rPr lang="en-US" sz="1400" b="1" dirty="0">
                <a:solidFill>
                  <a:srgbClr val="00D4AA"/>
                </a:solidFill>
                <a:latin typeface="Calibri" pitchFamily="34" charset="0"/>
                <a:ea typeface="Calibri" pitchFamily="34" charset="-122"/>
                <a:cs typeface="Calibri" pitchFamily="34" charset="-120"/>
              </a:rPr>
              <a:t>What Is an Embedding?</a:t>
            </a:r>
            <a:endParaRPr lang="en-US" sz="1400" dirty="0"/>
          </a:p>
        </p:txBody>
      </p:sp>
      <p:sp>
        <p:nvSpPr>
          <p:cNvPr id="10" name="Text 7"/>
          <p:cNvSpPr/>
          <p:nvPr/>
        </p:nvSpPr>
        <p:spPr>
          <a:xfrm>
            <a:off x="548640" y="2286000"/>
            <a:ext cx="8046720" cy="685800"/>
          </a:xfrm>
          <a:prstGeom prst="rect">
            <a:avLst/>
          </a:prstGeom>
          <a:noFill/>
          <a:ln/>
        </p:spPr>
        <p:txBody>
          <a:bodyPr wrap="square" rtlCol="0" anchor="ctr"/>
          <a:lstStyle/>
          <a:p>
            <a:pPr indent="0" marL="0">
              <a:buNone/>
            </a:pPr>
            <a:r>
              <a:rPr lang="en-US" sz="1200" dirty="0">
                <a:solidFill>
                  <a:srgbClr val="E6EDF3"/>
                </a:solidFill>
                <a:latin typeface="Calibri" pitchFamily="34" charset="0"/>
                <a:ea typeface="Calibri" pitchFamily="34" charset="-122"/>
                <a:cs typeface="Calibri" pitchFamily="34" charset="-120"/>
              </a:rPr>
              <a:t>An embedding is a list of numbers (a vector) that represents the meaning of a piece of text. Words or sentences with similar meaning produce similar vectors. This is what allows Qdrant to search by meaning rather than by keyword.</a:t>
            </a:r>
            <a:endParaRPr lang="en-US" sz="1200" dirty="0"/>
          </a:p>
        </p:txBody>
      </p:sp>
      <p:sp>
        <p:nvSpPr>
          <p:cNvPr id="11" name="Shape 8"/>
          <p:cNvSpPr/>
          <p:nvPr/>
        </p:nvSpPr>
        <p:spPr>
          <a:xfrm>
            <a:off x="365760" y="3291840"/>
            <a:ext cx="8412480" cy="411480"/>
          </a:xfrm>
          <a:prstGeom prst="rect">
            <a:avLst/>
          </a:prstGeom>
          <a:solidFill>
            <a:srgbClr val="010409"/>
          </a:solidFill>
          <a:ln/>
        </p:spPr>
      </p:sp>
      <p:sp>
        <p:nvSpPr>
          <p:cNvPr id="12" name="Text 9"/>
          <p:cNvSpPr/>
          <p:nvPr/>
        </p:nvSpPr>
        <p:spPr>
          <a:xfrm>
            <a:off x="502920" y="3337560"/>
            <a:ext cx="8138160" cy="32004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"Why is exposing a database risky?"  →  [0.021, -0.143, 0.887, ..., 0.034]  (384 numbers)</a:t>
            </a:r>
            <a:endParaRPr lang="en-US" sz="1000" dirty="0"/>
          </a:p>
        </p:txBody>
      </p:sp>
      <p:sp>
        <p:nvSpPr>
          <p:cNvPr id="13" name="Shape 10"/>
          <p:cNvSpPr/>
          <p:nvPr/>
        </p:nvSpPr>
        <p:spPr>
          <a:xfrm>
            <a:off x="365760" y="3840480"/>
            <a:ext cx="4023360" cy="10058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4" name="Shape 11"/>
          <p:cNvSpPr/>
          <p:nvPr/>
        </p:nvSpPr>
        <p:spPr>
          <a:xfrm>
            <a:off x="365760" y="3840480"/>
            <a:ext cx="54864" cy="1005840"/>
          </a:xfrm>
          <a:prstGeom prst="rect">
            <a:avLst/>
          </a:prstGeom>
          <a:solidFill>
            <a:srgbClr val="79C0FF"/>
          </a:solidFill>
          <a:ln/>
        </p:spPr>
      </p:sp>
      <p:sp>
        <p:nvSpPr>
          <p:cNvPr id="15" name="Text 12"/>
          <p:cNvSpPr/>
          <p:nvPr/>
        </p:nvSpPr>
        <p:spPr>
          <a:xfrm>
            <a:off x="548640" y="3931920"/>
            <a:ext cx="3749040" cy="320040"/>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Why Is It a Separate Service?</a:t>
            </a:r>
            <a:endParaRPr lang="en-US" sz="1300" dirty="0"/>
          </a:p>
        </p:txBody>
      </p:sp>
      <p:sp>
        <p:nvSpPr>
          <p:cNvPr id="16" name="Text 13"/>
          <p:cNvSpPr/>
          <p:nvPr/>
        </p:nvSpPr>
        <p:spPr>
          <a:xfrm>
            <a:off x="548640" y="4279392"/>
            <a:ext cx="3749040" cy="45720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Separation of concerns — the database stores vectors, a model generates them. Each can be scaled, replaced, or upgraded independently.</a:t>
            </a:r>
            <a:endParaRPr lang="en-US" sz="1000" dirty="0"/>
          </a:p>
        </p:txBody>
      </p:sp>
      <p:sp>
        <p:nvSpPr>
          <p:cNvPr id="17" name="Shape 14"/>
          <p:cNvSpPr/>
          <p:nvPr/>
        </p:nvSpPr>
        <p:spPr>
          <a:xfrm>
            <a:off x="4617720" y="3840480"/>
            <a:ext cx="4160520" cy="10058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8" name="Shape 15"/>
          <p:cNvSpPr/>
          <p:nvPr/>
        </p:nvSpPr>
        <p:spPr>
          <a:xfrm>
            <a:off x="4617720" y="3840480"/>
            <a:ext cx="54864" cy="1005840"/>
          </a:xfrm>
          <a:prstGeom prst="rect">
            <a:avLst/>
          </a:prstGeom>
          <a:solidFill>
            <a:srgbClr val="D29922"/>
          </a:solidFill>
          <a:ln/>
        </p:spPr>
      </p:sp>
      <p:sp>
        <p:nvSpPr>
          <p:cNvPr id="19" name="Text 16"/>
          <p:cNvSpPr/>
          <p:nvPr/>
        </p:nvSpPr>
        <p:spPr>
          <a:xfrm>
            <a:off x="4800600" y="3931920"/>
            <a:ext cx="3749040" cy="320040"/>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Call Flow</a:t>
            </a:r>
            <a:endParaRPr lang="en-US" sz="1300" dirty="0"/>
          </a:p>
        </p:txBody>
      </p:sp>
      <p:sp>
        <p:nvSpPr>
          <p:cNvPr id="20" name="Shape 17"/>
          <p:cNvSpPr/>
          <p:nvPr/>
        </p:nvSpPr>
        <p:spPr>
          <a:xfrm>
            <a:off x="4617720" y="4279392"/>
            <a:ext cx="4160520" cy="457200"/>
          </a:xfrm>
          <a:prstGeom prst="rect">
            <a:avLst/>
          </a:prstGeom>
          <a:solidFill>
            <a:srgbClr val="010409"/>
          </a:solidFill>
          <a:ln/>
        </p:spPr>
      </p:sp>
      <p:sp>
        <p:nvSpPr>
          <p:cNvPr id="21" name="Text 18"/>
          <p:cNvSpPr/>
          <p:nvPr/>
        </p:nvSpPr>
        <p:spPr>
          <a:xfrm>
            <a:off x="4754880" y="4325112"/>
            <a:ext cx="3886200" cy="36576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ingestion-api  →  POST text2vec-transformers:8080</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  returns 384-dim vector</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FastAPI — Application Orchestrator</a:t>
            </a:r>
            <a:endParaRPr lang="en-US" sz="2800" dirty="0"/>
          </a:p>
        </p:txBody>
      </p:sp>
      <p:pic>
        <p:nvPicPr>
          <p:cNvPr id="5" name="Image 0" descr="preencoded.png">    </p:cNvPr>
          <p:cNvPicPr>
            <a:picLocks noChangeAspect="1"/>
          </p:cNvPicPr>
          <p:nvPr/>
        </p:nvPicPr>
        <p:blipFill>
          <a:blip r:embed="rId1"/>
          <a:stretch>
            <a:fillRect/>
          </a:stretch>
        </p:blipFill>
        <p:spPr>
          <a:xfrm>
            <a:off x="365760" y="1261872"/>
            <a:ext cx="548640" cy="548640"/>
          </a:xfrm>
          <a:prstGeom prst="rect">
            <a:avLst/>
          </a:prstGeom>
        </p:spPr>
      </p:pic>
      <p:sp>
        <p:nvSpPr>
          <p:cNvPr id="6" name="Text 3"/>
          <p:cNvSpPr/>
          <p:nvPr/>
        </p:nvSpPr>
        <p:spPr>
          <a:xfrm>
            <a:off x="1005840" y="1325880"/>
            <a:ext cx="7772400" cy="320040"/>
          </a:xfrm>
          <a:prstGeom prst="rect">
            <a:avLst/>
          </a:prstGeom>
          <a:noFill/>
          <a:ln/>
        </p:spPr>
        <p:txBody>
          <a:bodyPr wrap="square" rtlCol="0" anchor="ctr"/>
          <a:lstStyle/>
          <a:p>
            <a:pPr indent="0" marL="0">
              <a:buNone/>
            </a:pPr>
            <a:r>
              <a:rPr lang="en-US" sz="1100" dirty="0">
                <a:solidFill>
                  <a:srgbClr val="8B949E"/>
                </a:solidFill>
                <a:latin typeface="Consolas" pitchFamily="34" charset="0"/>
                <a:ea typeface="Consolas" pitchFamily="34" charset="-122"/>
                <a:cs typeface="Consolas" pitchFamily="34" charset="-120"/>
              </a:rPr>
              <a:t>Internal only · Port 8000 · Built from ingestion-api/ source code</a:t>
            </a:r>
            <a:endParaRPr lang="en-US" sz="1100" dirty="0"/>
          </a:p>
        </p:txBody>
      </p:sp>
      <p:sp>
        <p:nvSpPr>
          <p:cNvPr id="7" name="Shape 4"/>
          <p:cNvSpPr/>
          <p:nvPr/>
        </p:nvSpPr>
        <p:spPr>
          <a:xfrm>
            <a:off x="365760" y="1783080"/>
            <a:ext cx="2606040" cy="30175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8" name="Shape 5"/>
          <p:cNvSpPr/>
          <p:nvPr/>
        </p:nvSpPr>
        <p:spPr>
          <a:xfrm>
            <a:off x="365760" y="1783080"/>
            <a:ext cx="2606040" cy="54864"/>
          </a:xfrm>
          <a:prstGeom prst="rect">
            <a:avLst/>
          </a:prstGeom>
          <a:solidFill>
            <a:srgbClr val="79C0FF"/>
          </a:solidFill>
          <a:ln/>
        </p:spPr>
      </p:sp>
      <p:sp>
        <p:nvSpPr>
          <p:cNvPr id="9" name="Text 6"/>
          <p:cNvSpPr/>
          <p:nvPr/>
        </p:nvSpPr>
        <p:spPr>
          <a:xfrm>
            <a:off x="502920" y="1874520"/>
            <a:ext cx="2331720" cy="365760"/>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Ingest</a:t>
            </a:r>
            <a:endParaRPr lang="en-US" sz="1300" dirty="0"/>
          </a:p>
        </p:txBody>
      </p:sp>
      <p:sp>
        <p:nvSpPr>
          <p:cNvPr id="10" name="Text 7"/>
          <p:cNvSpPr/>
          <p:nvPr/>
        </p:nvSpPr>
        <p:spPr>
          <a:xfrm>
            <a:off x="502920" y="2286000"/>
            <a:ext cx="2331720" cy="22860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Validate JSON shape (Pydantic)</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Reject bad requests (422)</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Generate embedding</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Store in Qdrant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Return confirmation</a:t>
            </a:r>
            <a:endParaRPr lang="en-US" sz="1050" dirty="0"/>
          </a:p>
        </p:txBody>
      </p:sp>
      <p:sp>
        <p:nvSpPr>
          <p:cNvPr id="11" name="Shape 8"/>
          <p:cNvSpPr/>
          <p:nvPr/>
        </p:nvSpPr>
        <p:spPr>
          <a:xfrm>
            <a:off x="3200400" y="1783080"/>
            <a:ext cx="2606040" cy="30175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9"/>
          <p:cNvSpPr/>
          <p:nvPr/>
        </p:nvSpPr>
        <p:spPr>
          <a:xfrm>
            <a:off x="3200400" y="1783080"/>
            <a:ext cx="2606040" cy="54864"/>
          </a:xfrm>
          <a:prstGeom prst="rect">
            <a:avLst/>
          </a:prstGeom>
          <a:solidFill>
            <a:srgbClr val="00D4AA"/>
          </a:solidFill>
          <a:ln/>
        </p:spPr>
      </p:sp>
      <p:sp>
        <p:nvSpPr>
          <p:cNvPr id="13" name="Text 10"/>
          <p:cNvSpPr/>
          <p:nvPr/>
        </p:nvSpPr>
        <p:spPr>
          <a:xfrm>
            <a:off x="3337560" y="1874520"/>
            <a:ext cx="2331720" cy="36576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Retrieve + Prompt</a:t>
            </a:r>
            <a:endParaRPr lang="en-US" sz="1300" dirty="0"/>
          </a:p>
        </p:txBody>
      </p:sp>
      <p:sp>
        <p:nvSpPr>
          <p:cNvPr id="14" name="Text 11"/>
          <p:cNvSpPr/>
          <p:nvPr/>
        </p:nvSpPr>
        <p:spPr>
          <a:xfrm>
            <a:off x="3337560" y="2286000"/>
            <a:ext cx="2331720" cy="22860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Embed the question</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Search Qdrant top-K</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Build grounded prompt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Inject retrieved sources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Enforce grounding rules</a:t>
            </a:r>
            <a:endParaRPr lang="en-US" sz="1050" dirty="0"/>
          </a:p>
        </p:txBody>
      </p:sp>
      <p:sp>
        <p:nvSpPr>
          <p:cNvPr id="15" name="Shape 12"/>
          <p:cNvSpPr/>
          <p:nvPr/>
        </p:nvSpPr>
        <p:spPr>
          <a:xfrm>
            <a:off x="6035040" y="1783080"/>
            <a:ext cx="2606040" cy="30175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3"/>
          <p:cNvSpPr/>
          <p:nvPr/>
        </p:nvSpPr>
        <p:spPr>
          <a:xfrm>
            <a:off x="6035040" y="1783080"/>
            <a:ext cx="2606040" cy="54864"/>
          </a:xfrm>
          <a:prstGeom prst="rect">
            <a:avLst/>
          </a:prstGeom>
          <a:solidFill>
            <a:srgbClr val="BC8CFF"/>
          </a:solidFill>
          <a:ln/>
        </p:spPr>
      </p:sp>
      <p:sp>
        <p:nvSpPr>
          <p:cNvPr id="17" name="Text 14"/>
          <p:cNvSpPr/>
          <p:nvPr/>
        </p:nvSpPr>
        <p:spPr>
          <a:xfrm>
            <a:off x="6172200" y="1874520"/>
            <a:ext cx="2331720" cy="365760"/>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Generate</a:t>
            </a:r>
            <a:endParaRPr lang="en-US" sz="1300" dirty="0"/>
          </a:p>
        </p:txBody>
      </p:sp>
      <p:sp>
        <p:nvSpPr>
          <p:cNvPr id="18" name="Text 15"/>
          <p:cNvSpPr/>
          <p:nvPr/>
        </p:nvSpPr>
        <p:spPr>
          <a:xfrm>
            <a:off x="6172200" y="2286000"/>
            <a:ext cx="2331720" cy="22860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Call Ollama /api/generate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Return answer + sources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Handle timeouts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Debug endpoints available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Structured JSON response</a:t>
            </a:r>
            <a:endParaRPr lang="en-US" sz="1050" dirty="0"/>
          </a:p>
        </p:txBody>
      </p:sp>
      <p:sp>
        <p:nvSpPr>
          <p:cNvPr id="19" name="Shape 16"/>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20" name="Text 17"/>
          <p:cNvSpPr/>
          <p:nvPr/>
        </p:nvSpPr>
        <p:spPr>
          <a:xfrm>
            <a:off x="548640" y="4663440"/>
            <a:ext cx="8046720" cy="292608"/>
          </a:xfrm>
          <a:prstGeom prst="rect">
            <a:avLst/>
          </a:prstGeom>
          <a:noFill/>
          <a:ln/>
        </p:spPr>
        <p:txBody>
          <a:bodyPr wrap="square"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Core functions: retrieve_sources()  ·  build_prompt()  ·  ollama_generate()  ·  require_api_key()</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Ollama — Local Language Model</a:t>
            </a:r>
            <a:endParaRPr lang="en-US" sz="2800" dirty="0"/>
          </a:p>
        </p:txBody>
      </p:sp>
      <p:pic>
        <p:nvPicPr>
          <p:cNvPr id="5" name="Image 0" descr="preencoded.png">    </p:cNvPr>
          <p:cNvPicPr>
            <a:picLocks noChangeAspect="1"/>
          </p:cNvPicPr>
          <p:nvPr/>
        </p:nvPicPr>
        <p:blipFill>
          <a:blip r:embed="rId1"/>
          <a:stretch>
            <a:fillRect/>
          </a:stretch>
        </p:blipFill>
        <p:spPr>
          <a:xfrm>
            <a:off x="365760" y="1261872"/>
            <a:ext cx="548640" cy="548640"/>
          </a:xfrm>
          <a:prstGeom prst="rect">
            <a:avLst/>
          </a:prstGeom>
        </p:spPr>
      </p:pic>
      <p:sp>
        <p:nvSpPr>
          <p:cNvPr id="6" name="Text 3"/>
          <p:cNvSpPr/>
          <p:nvPr/>
        </p:nvSpPr>
        <p:spPr>
          <a:xfrm>
            <a:off x="1005840" y="1325880"/>
            <a:ext cx="7772400" cy="320040"/>
          </a:xfrm>
          <a:prstGeom prst="rect">
            <a:avLst/>
          </a:prstGeom>
          <a:noFill/>
          <a:ln/>
        </p:spPr>
        <p:txBody>
          <a:bodyPr wrap="square" rtlCol="0" anchor="ctr"/>
          <a:lstStyle/>
          <a:p>
            <a:pPr indent="0" marL="0">
              <a:buNone/>
            </a:pPr>
            <a:r>
              <a:rPr lang="en-US" sz="1100" dirty="0">
                <a:solidFill>
                  <a:srgbClr val="8B949E"/>
                </a:solidFill>
                <a:latin typeface="Consolas" pitchFamily="34" charset="0"/>
                <a:ea typeface="Consolas" pitchFamily="34" charset="-122"/>
                <a:cs typeface="Consolas" pitchFamily="34" charset="-120"/>
              </a:rPr>
              <a:t>Internal only · Port 11434 · Volume: ollama_data · 8GB mem limit</a:t>
            </a:r>
            <a:endParaRPr lang="en-US" sz="1100" dirty="0"/>
          </a:p>
        </p:txBody>
      </p:sp>
      <p:sp>
        <p:nvSpPr>
          <p:cNvPr id="7" name="Shape 4"/>
          <p:cNvSpPr/>
          <p:nvPr/>
        </p:nvSpPr>
        <p:spPr>
          <a:xfrm>
            <a:off x="365760" y="1783080"/>
            <a:ext cx="402336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8" name="Shape 5"/>
          <p:cNvSpPr/>
          <p:nvPr/>
        </p:nvSpPr>
        <p:spPr>
          <a:xfrm>
            <a:off x="365760" y="1783080"/>
            <a:ext cx="54864" cy="2926080"/>
          </a:xfrm>
          <a:prstGeom prst="rect">
            <a:avLst/>
          </a:prstGeom>
          <a:solidFill>
            <a:srgbClr val="3FB950"/>
          </a:solidFill>
          <a:ln/>
        </p:spPr>
      </p:sp>
      <p:sp>
        <p:nvSpPr>
          <p:cNvPr id="9" name="Text 6"/>
          <p:cNvSpPr/>
          <p:nvPr/>
        </p:nvSpPr>
        <p:spPr>
          <a:xfrm>
            <a:off x="548640" y="1874520"/>
            <a:ext cx="3657600" cy="365760"/>
          </a:xfrm>
          <a:prstGeom prst="rect">
            <a:avLst/>
          </a:prstGeom>
          <a:noFill/>
          <a:ln/>
        </p:spPr>
        <p:txBody>
          <a:bodyPr wrap="square" rtlCol="0" anchor="ctr"/>
          <a:lstStyle/>
          <a:p>
            <a:pPr indent="0" marL="0">
              <a:buNone/>
            </a:pPr>
            <a:r>
              <a:rPr lang="en-US" sz="1400" b="1" dirty="0">
                <a:solidFill>
                  <a:srgbClr val="3FB950"/>
                </a:solidFill>
                <a:latin typeface="Calibri" pitchFamily="34" charset="0"/>
                <a:ea typeface="Calibri" pitchFamily="34" charset="-122"/>
                <a:cs typeface="Calibri" pitchFamily="34" charset="-120"/>
              </a:rPr>
              <a:t>What Ollama Does</a:t>
            </a:r>
            <a:endParaRPr lang="en-US" sz="1400" dirty="0"/>
          </a:p>
        </p:txBody>
      </p:sp>
      <p:sp>
        <p:nvSpPr>
          <p:cNvPr id="10" name="Text 7"/>
          <p:cNvSpPr/>
          <p:nvPr/>
        </p:nvSpPr>
        <p:spPr>
          <a:xfrm>
            <a:off x="548640" y="2286000"/>
            <a:ext cx="3657600" cy="2286000"/>
          </a:xfrm>
          <a:prstGeom prst="rect">
            <a:avLst/>
          </a:prstGeom>
          <a:noFill/>
          <a:ln/>
        </p:spPr>
        <p:txBody>
          <a:bodyPr wrap="square" rtlCol="0" anchor="t"/>
          <a:lstStyle/>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Receives a single text prompt from FastAPI</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Runs the local LLM (default: llama3.2:1b)</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Generates a bounded text response</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Returns JSON with the generated text</a:t>
            </a:r>
            <a:endParaRPr lang="en-US" sz="1100" dirty="0"/>
          </a:p>
          <a:p>
            <a:pPr marL="342900" indent="-342900">
              <a:buSzPct val="100000"/>
              <a:buChar char="•"/>
            </a:pPr>
            <a:r>
              <a:rPr lang="en-US" sz="1100" dirty="0">
                <a:solidFill>
                  <a:srgbClr val="E6EDF3"/>
                </a:solidFill>
                <a:latin typeface="Calibri" pitchFamily="34" charset="0"/>
                <a:ea typeface="Calibri" pitchFamily="34" charset="-122"/>
                <a:cs typeface="Calibri" pitchFamily="34" charset="-120"/>
              </a:rPr>
              <a:t>Stores models on ollama_data volume (persists across restarts)</a:t>
            </a:r>
            <a:endParaRPr lang="en-US" sz="1100" dirty="0"/>
          </a:p>
        </p:txBody>
      </p:sp>
      <p:sp>
        <p:nvSpPr>
          <p:cNvPr id="11" name="Shape 8"/>
          <p:cNvSpPr/>
          <p:nvPr/>
        </p:nvSpPr>
        <p:spPr>
          <a:xfrm>
            <a:off x="4617720" y="1783080"/>
            <a:ext cx="416052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9"/>
          <p:cNvSpPr/>
          <p:nvPr/>
        </p:nvSpPr>
        <p:spPr>
          <a:xfrm>
            <a:off x="4617720" y="1783080"/>
            <a:ext cx="54864" cy="2926080"/>
          </a:xfrm>
          <a:prstGeom prst="rect">
            <a:avLst/>
          </a:prstGeom>
          <a:solidFill>
            <a:srgbClr val="F78166"/>
          </a:solidFill>
          <a:ln/>
        </p:spPr>
      </p:sp>
      <p:sp>
        <p:nvSpPr>
          <p:cNvPr id="13" name="Text 10"/>
          <p:cNvSpPr/>
          <p:nvPr/>
        </p:nvSpPr>
        <p:spPr>
          <a:xfrm>
            <a:off x="4800600" y="1874520"/>
            <a:ext cx="3749040" cy="365760"/>
          </a:xfrm>
          <a:prstGeom prst="rect">
            <a:avLst/>
          </a:prstGeom>
          <a:noFill/>
          <a:ln/>
        </p:spPr>
        <p:txBody>
          <a:bodyPr wrap="square" rtlCol="0" anchor="ctr"/>
          <a:lstStyle/>
          <a:p>
            <a:pPr indent="0" marL="0">
              <a:buNone/>
            </a:pPr>
            <a:r>
              <a:rPr lang="en-US" sz="1400" b="1" dirty="0">
                <a:solidFill>
                  <a:srgbClr val="F78166"/>
                </a:solidFill>
                <a:latin typeface="Calibri" pitchFamily="34" charset="0"/>
                <a:ea typeface="Calibri" pitchFamily="34" charset="-122"/>
                <a:cs typeface="Calibri" pitchFamily="34" charset="-120"/>
              </a:rPr>
              <a:t>What Ollama Does NOT Do</a:t>
            </a:r>
            <a:endParaRPr lang="en-US" sz="1400" dirty="0"/>
          </a:p>
        </p:txBody>
      </p:sp>
      <p:sp>
        <p:nvSpPr>
          <p:cNvPr id="14" name="Text 11"/>
          <p:cNvSpPr/>
          <p:nvPr/>
        </p:nvSpPr>
        <p:spPr>
          <a:xfrm>
            <a:off x="4800600" y="2286000"/>
            <a:ext cx="3749040" cy="2286000"/>
          </a:xfrm>
          <a:prstGeom prst="rect">
            <a:avLst/>
          </a:prstGeom>
          <a:noFill/>
          <a:ln/>
        </p:spPr>
        <p:txBody>
          <a:bodyPr wrap="square" rtlCol="0" anchor="t"/>
          <a:lstStyle/>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Search Qdrant — it never touches the DB</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Remember previous conversations</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Access the internet</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See any documents you haven't included in the prompt</a:t>
            </a:r>
            <a:endParaRPr lang="en-US" sz="1100" dirty="0"/>
          </a:p>
          <a:p>
            <a:pPr marL="342900" indent="-342900">
              <a:buSzPct val="100000"/>
              <a:buChar char="•"/>
            </a:pPr>
            <a:r>
              <a:rPr lang="en-US" sz="1100" dirty="0">
                <a:solidFill>
                  <a:srgbClr val="8B949E"/>
                </a:solidFill>
                <a:latin typeface="Calibri" pitchFamily="34" charset="0"/>
                <a:ea typeface="Calibri" pitchFamily="34" charset="-122"/>
                <a:cs typeface="Calibri" pitchFamily="34" charset="-120"/>
              </a:rPr>
              <a:t>Make decisions about what to retrieve</a:t>
            </a:r>
            <a:endParaRPr lang="en-US" sz="1100" dirty="0"/>
          </a:p>
        </p:txBody>
      </p:sp>
      <p:sp>
        <p:nvSpPr>
          <p:cNvPr id="15" name="Shape 12"/>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6" name="Text 13"/>
          <p:cNvSpPr/>
          <p:nvPr/>
        </p:nvSpPr>
        <p:spPr>
          <a:xfrm>
            <a:off x="548640" y="4663440"/>
            <a:ext cx="8046720" cy="292608"/>
          </a:xfrm>
          <a:prstGeom prst="rect">
            <a:avLst/>
          </a:prstGeom>
          <a:noFill/>
          <a:ln/>
        </p:spPr>
        <p:txBody>
          <a:bodyPr wrap="square" rtlCol="0" anchor="ctr"/>
          <a:lstStyle/>
          <a:p>
            <a:pPr indent="0" marL="0">
              <a:buNone/>
            </a:pPr>
            <a:r>
              <a:rPr lang="en-US" sz="1000" dirty="0">
                <a:solidFill>
                  <a:srgbClr val="D29922"/>
                </a:solidFill>
                <a:latin typeface="Calibri" pitchFamily="34" charset="0"/>
                <a:ea typeface="Calibri" pitchFamily="34" charset="-122"/>
                <a:cs typeface="Calibri" pitchFamily="34" charset="-120"/>
              </a:rPr>
              <a:t>Recommended model: llama3.2:1b (fast, stable, 1.3GB). Use llama3.2:3b for better quality answers at the cost of slower generation.</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NGINX + Gradio — Edge Gateway &amp; UI</a:t>
            </a:r>
            <a:endParaRPr lang="en-US" sz="2800" dirty="0"/>
          </a:p>
        </p:txBody>
      </p:sp>
      <p:sp>
        <p:nvSpPr>
          <p:cNvPr id="5" name="Shape 3"/>
          <p:cNvSpPr/>
          <p:nvPr/>
        </p:nvSpPr>
        <p:spPr>
          <a:xfrm>
            <a:off x="365760" y="1280160"/>
            <a:ext cx="4114800" cy="3474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3474720"/>
          </a:xfrm>
          <a:prstGeom prst="rect">
            <a:avLst/>
          </a:prstGeom>
          <a:solidFill>
            <a:srgbClr val="F78166"/>
          </a:solidFill>
          <a:ln/>
        </p:spPr>
      </p:sp>
      <p:sp>
        <p:nvSpPr>
          <p:cNvPr id="7" name="Text 5"/>
          <p:cNvSpPr/>
          <p:nvPr/>
        </p:nvSpPr>
        <p:spPr>
          <a:xfrm>
            <a:off x="548640" y="1371600"/>
            <a:ext cx="3749040" cy="365760"/>
          </a:xfrm>
          <a:prstGeom prst="rect">
            <a:avLst/>
          </a:prstGeom>
          <a:noFill/>
          <a:ln/>
        </p:spPr>
        <p:txBody>
          <a:bodyPr wrap="square" rtlCol="0" anchor="ctr"/>
          <a:lstStyle/>
          <a:p>
            <a:pPr indent="0" marL="0">
              <a:buNone/>
            </a:pPr>
            <a:r>
              <a:rPr lang="en-US" sz="1600" b="1" dirty="0">
                <a:solidFill>
                  <a:srgbClr val="F78166"/>
                </a:solidFill>
                <a:latin typeface="Consolas" pitchFamily="34" charset="0"/>
                <a:ea typeface="Consolas" pitchFamily="34" charset="-122"/>
                <a:cs typeface="Consolas" pitchFamily="34" charset="-120"/>
              </a:rPr>
              <a:t>edge-nginx</a:t>
            </a:r>
            <a:endParaRPr lang="en-US" sz="1600" dirty="0"/>
          </a:p>
        </p:txBody>
      </p:sp>
      <p:sp>
        <p:nvSpPr>
          <p:cNvPr id="8" name="Text 6"/>
          <p:cNvSpPr/>
          <p:nvPr/>
        </p:nvSpPr>
        <p:spPr>
          <a:xfrm>
            <a:off x="548640" y="1755648"/>
            <a:ext cx="374904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8088 exposed to host</a:t>
            </a:r>
            <a:endParaRPr lang="en-US" sz="1000" dirty="0"/>
          </a:p>
        </p:txBody>
      </p:sp>
      <p:sp>
        <p:nvSpPr>
          <p:cNvPr id="9" name="Text 7"/>
          <p:cNvSpPr/>
          <p:nvPr/>
        </p:nvSpPr>
        <p:spPr>
          <a:xfrm>
            <a:off x="548640" y="2084832"/>
            <a:ext cx="3749040" cy="24688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Enforces X-API-Key header before requests reach FastAPI</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Returns 401 if key is missing, 403 if key is wrong</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Proxies valid requests to ingestion-api:8000</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Never exposes Qdrant or Ollama to the host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Config lives in nginx/templates/default.conf.template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EDGE_API_KEY is injected from your .env at startup</a:t>
            </a:r>
            <a:endParaRPr lang="en-US" sz="1050" dirty="0"/>
          </a:p>
        </p:txBody>
      </p:sp>
      <p:sp>
        <p:nvSpPr>
          <p:cNvPr id="10" name="Shape 8"/>
          <p:cNvSpPr/>
          <p:nvPr/>
        </p:nvSpPr>
        <p:spPr>
          <a:xfrm>
            <a:off x="4663440" y="1280160"/>
            <a:ext cx="4114800" cy="3474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663440" y="1280160"/>
            <a:ext cx="54864" cy="3474720"/>
          </a:xfrm>
          <a:prstGeom prst="rect">
            <a:avLst/>
          </a:prstGeom>
          <a:solidFill>
            <a:srgbClr val="3FB950"/>
          </a:solidFill>
          <a:ln/>
        </p:spPr>
      </p:sp>
      <p:sp>
        <p:nvSpPr>
          <p:cNvPr id="12" name="Text 10"/>
          <p:cNvSpPr/>
          <p:nvPr/>
        </p:nvSpPr>
        <p:spPr>
          <a:xfrm>
            <a:off x="4846320" y="1371600"/>
            <a:ext cx="3749040" cy="365760"/>
          </a:xfrm>
          <a:prstGeom prst="rect">
            <a:avLst/>
          </a:prstGeom>
          <a:noFill/>
          <a:ln/>
        </p:spPr>
        <p:txBody>
          <a:bodyPr wrap="square" rtlCol="0" anchor="ctr"/>
          <a:lstStyle/>
          <a:p>
            <a:pPr indent="0" marL="0">
              <a:buNone/>
            </a:pPr>
            <a:r>
              <a:rPr lang="en-US" sz="1600" b="1" dirty="0">
                <a:solidFill>
                  <a:srgbClr val="3FB950"/>
                </a:solidFill>
                <a:latin typeface="Consolas" pitchFamily="34" charset="0"/>
                <a:ea typeface="Consolas" pitchFamily="34" charset="-122"/>
                <a:cs typeface="Consolas" pitchFamily="34" charset="-120"/>
              </a:rPr>
              <a:t>gradio-ui</a:t>
            </a:r>
            <a:endParaRPr lang="en-US" sz="1600" dirty="0"/>
          </a:p>
        </p:txBody>
      </p:sp>
      <p:sp>
        <p:nvSpPr>
          <p:cNvPr id="13" name="Text 11"/>
          <p:cNvSpPr/>
          <p:nvPr/>
        </p:nvSpPr>
        <p:spPr>
          <a:xfrm>
            <a:off x="4846320" y="1755648"/>
            <a:ext cx="3749040" cy="27432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Port 7860 exposed to host · localhost:7860</a:t>
            </a:r>
            <a:endParaRPr lang="en-US" sz="1000" dirty="0"/>
          </a:p>
        </p:txBody>
      </p:sp>
      <p:sp>
        <p:nvSpPr>
          <p:cNvPr id="14" name="Text 12"/>
          <p:cNvSpPr/>
          <p:nvPr/>
        </p:nvSpPr>
        <p:spPr>
          <a:xfrm>
            <a:off x="4846320" y="2084832"/>
            <a:ext cx="3749040" cy="24688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Simple Python chat interface built with Gradio</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Has NO business logic of its own</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Calls NGINX → FastAPI (never Qdrant directly)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Has the EDGE_API_KEY so it can make authenticated calls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Security Memory tab: query ExpandedVSCodeMemory directly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Follow-up suggestion buttons (if optional steps completed)</a:t>
            </a:r>
            <a:endParaRPr lang="en-US" sz="1050" dirty="0"/>
          </a:p>
        </p:txBody>
      </p:sp>
      <p:sp>
        <p:nvSpPr>
          <p:cNvPr id="15" name="Shape 13"/>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6" name="Text 14"/>
          <p:cNvSpPr/>
          <p:nvPr/>
        </p:nvSpPr>
        <p:spPr>
          <a:xfrm>
            <a:off x="548640" y="4663440"/>
            <a:ext cx="8046720" cy="292608"/>
          </a:xfrm>
          <a:prstGeom prst="rect">
            <a:avLst/>
          </a:prstGeom>
          <a:noFill/>
          <a:ln/>
        </p:spPr>
        <p:txBody>
          <a:bodyPr wrap="square" rtlCol="0" anchor="ctr"/>
          <a:lstStyle/>
          <a:p>
            <a:pPr indent="0" marL="0">
              <a:buNone/>
            </a:pPr>
            <a:r>
              <a:rPr lang="en-US" sz="1000" dirty="0">
                <a:solidFill>
                  <a:srgbClr val="00D4AA"/>
                </a:solidFill>
                <a:latin typeface="Calibri" pitchFamily="34" charset="0"/>
                <a:ea typeface="Calibri" pitchFamily="34" charset="-122"/>
                <a:cs typeface="Calibri" pitchFamily="34" charset="-120"/>
              </a:rPr>
              <a:t>Defense in depth: NGINX checks the API key AND FastAPI checks it again. Two layers means one misconfiguration doesn't expose the system.</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Networking &amp; Data Persistence</a:t>
            </a:r>
            <a:endParaRPr lang="en-US" sz="2800" dirty="0"/>
          </a:p>
        </p:txBody>
      </p:sp>
      <p:sp>
        <p:nvSpPr>
          <p:cNvPr id="5" name="Shape 3"/>
          <p:cNvSpPr/>
          <p:nvPr/>
        </p:nvSpPr>
        <p:spPr>
          <a:xfrm>
            <a:off x="365760" y="1280160"/>
            <a:ext cx="4114800" cy="3474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3474720"/>
          </a:xfrm>
          <a:prstGeom prst="rect">
            <a:avLst/>
          </a:prstGeom>
          <a:solidFill>
            <a:srgbClr val="79C0FF"/>
          </a:solidFill>
          <a:ln/>
        </p:spPr>
      </p:sp>
      <p:sp>
        <p:nvSpPr>
          <p:cNvPr id="7" name="Text 5"/>
          <p:cNvSpPr/>
          <p:nvPr/>
        </p:nvSpPr>
        <p:spPr>
          <a:xfrm>
            <a:off x="548640" y="1371600"/>
            <a:ext cx="3749040" cy="365760"/>
          </a:xfrm>
          <a:prstGeom prst="rect">
            <a:avLst/>
          </a:prstGeom>
          <a:noFill/>
          <a:ln/>
        </p:spPr>
        <p:txBody>
          <a:bodyPr wrap="square" rtlCol="0" anchor="ctr"/>
          <a:lstStyle/>
          <a:p>
            <a:pPr indent="0" marL="0">
              <a:buNone/>
            </a:pPr>
            <a:r>
              <a:rPr lang="en-US" sz="1400" b="1" dirty="0">
                <a:solidFill>
                  <a:srgbClr val="79C0FF"/>
                </a:solidFill>
                <a:latin typeface="Calibri" pitchFamily="34" charset="0"/>
                <a:ea typeface="Calibri" pitchFamily="34" charset="-122"/>
                <a:cs typeface="Calibri" pitchFamily="34" charset="-120"/>
              </a:rPr>
              <a:t>Docker Internal Network</a:t>
            </a:r>
            <a:endParaRPr lang="en-US" sz="1400" dirty="0"/>
          </a:p>
        </p:txBody>
      </p:sp>
      <p:sp>
        <p:nvSpPr>
          <p:cNvPr id="8" name="Text 6"/>
          <p:cNvSpPr/>
          <p:nvPr/>
        </p:nvSpPr>
        <p:spPr>
          <a:xfrm>
            <a:off x="548640" y="1783080"/>
            <a:ext cx="374904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All services share a network named 'internal'. Service names become DNS:</a:t>
            </a:r>
            <a:endParaRPr lang="en-US" sz="1100" dirty="0"/>
          </a:p>
        </p:txBody>
      </p:sp>
      <p:sp>
        <p:nvSpPr>
          <p:cNvPr id="9" name="Shape 7"/>
          <p:cNvSpPr/>
          <p:nvPr/>
        </p:nvSpPr>
        <p:spPr>
          <a:xfrm>
            <a:off x="365760" y="2286000"/>
            <a:ext cx="4114800" cy="1188720"/>
          </a:xfrm>
          <a:prstGeom prst="rect">
            <a:avLst/>
          </a:prstGeom>
          <a:solidFill>
            <a:srgbClr val="010409"/>
          </a:solidFill>
          <a:ln/>
        </p:spPr>
      </p:sp>
      <p:sp>
        <p:nvSpPr>
          <p:cNvPr id="10" name="Text 8"/>
          <p:cNvSpPr/>
          <p:nvPr/>
        </p:nvSpPr>
        <p:spPr>
          <a:xfrm>
            <a:off x="502920" y="2331720"/>
            <a:ext cx="3840480" cy="109728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qdrant:6333</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text2vec-transformers:8080</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ollama:11434</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ngx:8088 (via edge-nginx)</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ingestion-api:8000</a:t>
            </a:r>
            <a:endParaRPr lang="en-US" sz="1000" dirty="0"/>
          </a:p>
        </p:txBody>
      </p:sp>
      <p:sp>
        <p:nvSpPr>
          <p:cNvPr id="11" name="Text 9"/>
          <p:cNvSpPr/>
          <p:nvPr/>
        </p:nvSpPr>
        <p:spPr>
          <a:xfrm>
            <a:off x="548640" y="3547872"/>
            <a:ext cx="3749040" cy="10972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No ports exposed = not reachable from outside Docker</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Containers talk to each other by service name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Attack surface is minimized to only what's needed</a:t>
            </a:r>
            <a:endParaRPr lang="en-US" sz="1050" dirty="0"/>
          </a:p>
        </p:txBody>
      </p:sp>
      <p:sp>
        <p:nvSpPr>
          <p:cNvPr id="12" name="Shape 10"/>
          <p:cNvSpPr/>
          <p:nvPr/>
        </p:nvSpPr>
        <p:spPr>
          <a:xfrm>
            <a:off x="4663440" y="1280160"/>
            <a:ext cx="4114800" cy="34747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3" name="Shape 11"/>
          <p:cNvSpPr/>
          <p:nvPr/>
        </p:nvSpPr>
        <p:spPr>
          <a:xfrm>
            <a:off x="4663440" y="1280160"/>
            <a:ext cx="54864" cy="3474720"/>
          </a:xfrm>
          <a:prstGeom prst="rect">
            <a:avLst/>
          </a:prstGeom>
          <a:solidFill>
            <a:srgbClr val="D29922"/>
          </a:solidFill>
          <a:ln/>
        </p:spPr>
      </p:sp>
      <p:sp>
        <p:nvSpPr>
          <p:cNvPr id="14" name="Text 12"/>
          <p:cNvSpPr/>
          <p:nvPr/>
        </p:nvSpPr>
        <p:spPr>
          <a:xfrm>
            <a:off x="4846320" y="1371600"/>
            <a:ext cx="3749040" cy="365760"/>
          </a:xfrm>
          <a:prstGeom prst="rect">
            <a:avLst/>
          </a:prstGeom>
          <a:noFill/>
          <a:ln/>
        </p:spPr>
        <p:txBody>
          <a:bodyPr wrap="square" rtlCol="0" anchor="ctr"/>
          <a:lstStyle/>
          <a:p>
            <a:pPr indent="0" marL="0">
              <a:buNone/>
            </a:pPr>
            <a:r>
              <a:rPr lang="en-US" sz="1400" b="1" dirty="0">
                <a:solidFill>
                  <a:srgbClr val="D29922"/>
                </a:solidFill>
                <a:latin typeface="Calibri" pitchFamily="34" charset="0"/>
                <a:ea typeface="Calibri" pitchFamily="34" charset="-122"/>
                <a:cs typeface="Calibri" pitchFamily="34" charset="-120"/>
              </a:rPr>
              <a:t>Docker Volumes</a:t>
            </a:r>
            <a:endParaRPr lang="en-US" sz="1400" dirty="0"/>
          </a:p>
        </p:txBody>
      </p:sp>
      <p:sp>
        <p:nvSpPr>
          <p:cNvPr id="15" name="Text 13"/>
          <p:cNvSpPr/>
          <p:nvPr/>
        </p:nvSpPr>
        <p:spPr>
          <a:xfrm>
            <a:off x="4846320" y="1783080"/>
            <a:ext cx="374904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Volumes persist data outside the container's writable layer so data survives restarts and rebuilds:</a:t>
            </a:r>
            <a:endParaRPr lang="en-US" sz="1100" dirty="0"/>
          </a:p>
        </p:txBody>
      </p:sp>
      <p:sp>
        <p:nvSpPr>
          <p:cNvPr id="16" name="Shape 14"/>
          <p:cNvSpPr/>
          <p:nvPr/>
        </p:nvSpPr>
        <p:spPr>
          <a:xfrm>
            <a:off x="4663440" y="2331720"/>
            <a:ext cx="2286000" cy="320040"/>
          </a:xfrm>
          <a:prstGeom prst="rect">
            <a:avLst/>
          </a:prstGeom>
          <a:solidFill>
            <a:srgbClr val="010409"/>
          </a:solidFill>
          <a:ln/>
        </p:spPr>
      </p:sp>
      <p:sp>
        <p:nvSpPr>
          <p:cNvPr id="17" name="Text 15"/>
          <p:cNvSpPr/>
          <p:nvPr/>
        </p:nvSpPr>
        <p:spPr>
          <a:xfrm>
            <a:off x="4800600" y="2377440"/>
            <a:ext cx="2011680" cy="2286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qdrant_data</a:t>
            </a:r>
            <a:endParaRPr lang="en-US" sz="1000" dirty="0"/>
          </a:p>
        </p:txBody>
      </p:sp>
      <p:sp>
        <p:nvSpPr>
          <p:cNvPr id="18" name="Text 16"/>
          <p:cNvSpPr/>
          <p:nvPr/>
        </p:nvSpPr>
        <p:spPr>
          <a:xfrm>
            <a:off x="7040880" y="2377440"/>
            <a:ext cx="1645920" cy="22860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All stored vectors + payloads</a:t>
            </a:r>
            <a:endParaRPr lang="en-US" sz="1000" dirty="0"/>
          </a:p>
        </p:txBody>
      </p:sp>
      <p:sp>
        <p:nvSpPr>
          <p:cNvPr id="19" name="Shape 17"/>
          <p:cNvSpPr/>
          <p:nvPr/>
        </p:nvSpPr>
        <p:spPr>
          <a:xfrm>
            <a:off x="4663440" y="3108960"/>
            <a:ext cx="2286000" cy="320040"/>
          </a:xfrm>
          <a:prstGeom prst="rect">
            <a:avLst/>
          </a:prstGeom>
          <a:solidFill>
            <a:srgbClr val="010409"/>
          </a:solidFill>
          <a:ln/>
        </p:spPr>
      </p:sp>
      <p:sp>
        <p:nvSpPr>
          <p:cNvPr id="20" name="Text 18"/>
          <p:cNvSpPr/>
          <p:nvPr/>
        </p:nvSpPr>
        <p:spPr>
          <a:xfrm>
            <a:off x="4800600" y="3154680"/>
            <a:ext cx="2011680" cy="2286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ollama_data</a:t>
            </a:r>
            <a:endParaRPr lang="en-US" sz="1000" dirty="0"/>
          </a:p>
        </p:txBody>
      </p:sp>
      <p:sp>
        <p:nvSpPr>
          <p:cNvPr id="21" name="Text 19"/>
          <p:cNvSpPr/>
          <p:nvPr/>
        </p:nvSpPr>
        <p:spPr>
          <a:xfrm>
            <a:off x="7040880" y="3154680"/>
            <a:ext cx="1645920" cy="22860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Downloaded LLM model files</a:t>
            </a:r>
            <a:endParaRPr lang="en-US" sz="1000" dirty="0"/>
          </a:p>
        </p:txBody>
      </p:sp>
      <p:sp>
        <p:nvSpPr>
          <p:cNvPr id="22" name="Text 20"/>
          <p:cNvSpPr/>
          <p:nvPr/>
        </p:nvSpPr>
        <p:spPr>
          <a:xfrm>
            <a:off x="4846320" y="3657600"/>
            <a:ext cx="3749040" cy="10972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docker compose down keeps volumes (data is safe)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./bin/reset_all.sh deletes volumes (full wipe)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Pull model once → stays on disk in ollama_data</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Ingest once → qdrant_data persists across restarts</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ARCHITECTURE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The Security Model</a:t>
            </a:r>
            <a:endParaRPr lang="en-US" sz="2800" dirty="0"/>
          </a:p>
        </p:txBody>
      </p:sp>
      <p:sp>
        <p:nvSpPr>
          <p:cNvPr id="5" name="Shape 3"/>
          <p:cNvSpPr/>
          <p:nvPr/>
        </p:nvSpPr>
        <p:spPr>
          <a:xfrm>
            <a:off x="365760" y="128016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896112"/>
          </a:xfrm>
          <a:prstGeom prst="rect">
            <a:avLst/>
          </a:prstGeom>
          <a:solidFill>
            <a:srgbClr val="00D4AA"/>
          </a:solidFill>
          <a:ln/>
        </p:spPr>
      </p:sp>
      <p:sp>
        <p:nvSpPr>
          <p:cNvPr id="7" name="Text 5"/>
          <p:cNvSpPr/>
          <p:nvPr/>
        </p:nvSpPr>
        <p:spPr>
          <a:xfrm>
            <a:off x="548640" y="1353312"/>
            <a:ext cx="3840480" cy="292608"/>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Network Segmentation</a:t>
            </a:r>
            <a:endParaRPr lang="en-US" sz="1200" dirty="0"/>
          </a:p>
        </p:txBody>
      </p:sp>
      <p:sp>
        <p:nvSpPr>
          <p:cNvPr id="8" name="Text 6"/>
          <p:cNvSpPr/>
          <p:nvPr/>
        </p:nvSpPr>
        <p:spPr>
          <a:xfrm>
            <a:off x="548640" y="166420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Qdrant, Ollama, FastAPI, text2vec are internal-only. Only NGINX and Gradio are exposed to the host.</a:t>
            </a:r>
            <a:endParaRPr lang="en-US" sz="1000" dirty="0"/>
          </a:p>
        </p:txBody>
      </p:sp>
      <p:sp>
        <p:nvSpPr>
          <p:cNvPr id="9" name="Shape 7"/>
          <p:cNvSpPr/>
          <p:nvPr/>
        </p:nvSpPr>
        <p:spPr>
          <a:xfrm>
            <a:off x="4800600" y="128016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0" name="Shape 8"/>
          <p:cNvSpPr/>
          <p:nvPr/>
        </p:nvSpPr>
        <p:spPr>
          <a:xfrm>
            <a:off x="4800600" y="1280160"/>
            <a:ext cx="54864" cy="896112"/>
          </a:xfrm>
          <a:prstGeom prst="rect">
            <a:avLst/>
          </a:prstGeom>
          <a:solidFill>
            <a:srgbClr val="F78166"/>
          </a:solidFill>
          <a:ln/>
        </p:spPr>
      </p:sp>
      <p:sp>
        <p:nvSpPr>
          <p:cNvPr id="11" name="Text 9"/>
          <p:cNvSpPr/>
          <p:nvPr/>
        </p:nvSpPr>
        <p:spPr>
          <a:xfrm>
            <a:off x="4983480" y="1353312"/>
            <a:ext cx="3840480" cy="292608"/>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Edge Authentication</a:t>
            </a:r>
            <a:endParaRPr lang="en-US" sz="1200" dirty="0"/>
          </a:p>
        </p:txBody>
      </p:sp>
      <p:sp>
        <p:nvSpPr>
          <p:cNvPr id="12" name="Text 10"/>
          <p:cNvSpPr/>
          <p:nvPr/>
        </p:nvSpPr>
        <p:spPr>
          <a:xfrm>
            <a:off x="4983480" y="166420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NGINX enforces X-API-Key on every request. Missing key = 401. Wrong key = 403. Two-layer enforcement with FastAPI.</a:t>
            </a:r>
            <a:endParaRPr lang="en-US" sz="1000" dirty="0"/>
          </a:p>
        </p:txBody>
      </p:sp>
      <p:sp>
        <p:nvSpPr>
          <p:cNvPr id="13" name="Shape 11"/>
          <p:cNvSpPr/>
          <p:nvPr/>
        </p:nvSpPr>
        <p:spPr>
          <a:xfrm>
            <a:off x="365760" y="228600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4" name="Shape 12"/>
          <p:cNvSpPr/>
          <p:nvPr/>
        </p:nvSpPr>
        <p:spPr>
          <a:xfrm>
            <a:off x="365760" y="2286000"/>
            <a:ext cx="54864" cy="896112"/>
          </a:xfrm>
          <a:prstGeom prst="rect">
            <a:avLst/>
          </a:prstGeom>
          <a:solidFill>
            <a:srgbClr val="79C0FF"/>
          </a:solidFill>
          <a:ln/>
        </p:spPr>
      </p:sp>
      <p:sp>
        <p:nvSpPr>
          <p:cNvPr id="15" name="Text 13"/>
          <p:cNvSpPr/>
          <p:nvPr/>
        </p:nvSpPr>
        <p:spPr>
          <a:xfrm>
            <a:off x="548640" y="2359152"/>
            <a:ext cx="3840480" cy="292608"/>
          </a:xfrm>
          <a:prstGeom prst="rect">
            <a:avLst/>
          </a:prstGeom>
          <a:noFill/>
          <a:ln/>
        </p:spPr>
        <p:txBody>
          <a:bodyPr wrap="square" rtlCol="0" anchor="ctr"/>
          <a:lstStyle/>
          <a:p>
            <a:pPr indent="0" marL="0">
              <a:buNone/>
            </a:pPr>
            <a:r>
              <a:rPr lang="en-US" sz="1200" b="1" dirty="0">
                <a:solidFill>
                  <a:srgbClr val="79C0FF"/>
                </a:solidFill>
                <a:latin typeface="Calibri" pitchFamily="34" charset="0"/>
                <a:ea typeface="Calibri" pitchFamily="34" charset="-122"/>
                <a:cs typeface="Calibri" pitchFamily="34" charset="-120"/>
              </a:rPr>
              <a:t>Schema Validation</a:t>
            </a:r>
            <a:endParaRPr lang="en-US" sz="1200" dirty="0"/>
          </a:p>
        </p:txBody>
      </p:sp>
      <p:sp>
        <p:nvSpPr>
          <p:cNvPr id="16" name="Text 14"/>
          <p:cNvSpPr/>
          <p:nvPr/>
        </p:nvSpPr>
        <p:spPr>
          <a:xfrm>
            <a:off x="548640" y="267004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Pydantic models validate all incoming data. Invalid documents are rejected with 422 before they touch the database.</a:t>
            </a:r>
            <a:endParaRPr lang="en-US" sz="1000" dirty="0"/>
          </a:p>
        </p:txBody>
      </p:sp>
      <p:sp>
        <p:nvSpPr>
          <p:cNvPr id="17" name="Shape 15"/>
          <p:cNvSpPr/>
          <p:nvPr/>
        </p:nvSpPr>
        <p:spPr>
          <a:xfrm>
            <a:off x="4800600" y="228600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8" name="Shape 16"/>
          <p:cNvSpPr/>
          <p:nvPr/>
        </p:nvSpPr>
        <p:spPr>
          <a:xfrm>
            <a:off x="4800600" y="2286000"/>
            <a:ext cx="54864" cy="896112"/>
          </a:xfrm>
          <a:prstGeom prst="rect">
            <a:avLst/>
          </a:prstGeom>
          <a:solidFill>
            <a:srgbClr val="BC8CFF"/>
          </a:solidFill>
          <a:ln/>
        </p:spPr>
      </p:sp>
      <p:sp>
        <p:nvSpPr>
          <p:cNvPr id="19" name="Text 17"/>
          <p:cNvSpPr/>
          <p:nvPr/>
        </p:nvSpPr>
        <p:spPr>
          <a:xfrm>
            <a:off x="4983480" y="2359152"/>
            <a:ext cx="3840480" cy="292608"/>
          </a:xfrm>
          <a:prstGeom prst="rect">
            <a:avLst/>
          </a:prstGeom>
          <a:noFill/>
          <a:ln/>
        </p:spPr>
        <p:txBody>
          <a:bodyPr wrap="square" rtlCol="0" anchor="ctr"/>
          <a:lstStyle/>
          <a:p>
            <a:pPr indent="0" marL="0">
              <a:buNone/>
            </a:pPr>
            <a:r>
              <a:rPr lang="en-US" sz="1200" b="1" dirty="0">
                <a:solidFill>
                  <a:srgbClr val="BC8CFF"/>
                </a:solidFill>
                <a:latin typeface="Calibri" pitchFamily="34" charset="0"/>
                <a:ea typeface="Calibri" pitchFamily="34" charset="-122"/>
                <a:cs typeface="Calibri" pitchFamily="34" charset="-120"/>
              </a:rPr>
              <a:t>Retrieval Grounding</a:t>
            </a:r>
            <a:endParaRPr lang="en-US" sz="1200" dirty="0"/>
          </a:p>
        </p:txBody>
      </p:sp>
      <p:sp>
        <p:nvSpPr>
          <p:cNvPr id="20" name="Text 18"/>
          <p:cNvSpPr/>
          <p:nvPr/>
        </p:nvSpPr>
        <p:spPr>
          <a:xfrm>
            <a:off x="4983480" y="267004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The LLM prompt includes a rule: 'Use only the provided sources.' This reduces hallucinations and forces citations.</a:t>
            </a:r>
            <a:endParaRPr lang="en-US" sz="1000" dirty="0"/>
          </a:p>
        </p:txBody>
      </p:sp>
      <p:sp>
        <p:nvSpPr>
          <p:cNvPr id="21" name="Shape 19"/>
          <p:cNvSpPr/>
          <p:nvPr/>
        </p:nvSpPr>
        <p:spPr>
          <a:xfrm>
            <a:off x="365760" y="329184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2" name="Shape 20"/>
          <p:cNvSpPr/>
          <p:nvPr/>
        </p:nvSpPr>
        <p:spPr>
          <a:xfrm>
            <a:off x="365760" y="3291840"/>
            <a:ext cx="54864" cy="896112"/>
          </a:xfrm>
          <a:prstGeom prst="rect">
            <a:avLst/>
          </a:prstGeom>
          <a:solidFill>
            <a:srgbClr val="D29922"/>
          </a:solidFill>
          <a:ln/>
        </p:spPr>
      </p:sp>
      <p:sp>
        <p:nvSpPr>
          <p:cNvPr id="23" name="Text 21"/>
          <p:cNvSpPr/>
          <p:nvPr/>
        </p:nvSpPr>
        <p:spPr>
          <a:xfrm>
            <a:off x="548640" y="3364992"/>
            <a:ext cx="3840480" cy="292608"/>
          </a:xfrm>
          <a:prstGeom prst="rect">
            <a:avLst/>
          </a:prstGeom>
          <a:noFill/>
          <a:ln/>
        </p:spPr>
        <p:txBody>
          <a:bodyPr wrap="square" rtlCol="0" anchor="ctr"/>
          <a:lstStyle/>
          <a:p>
            <a:pPr indent="0" marL="0">
              <a:buNone/>
            </a:pPr>
            <a:r>
              <a:rPr lang="en-US" sz="1200" b="1" dirty="0">
                <a:solidFill>
                  <a:srgbClr val="D29922"/>
                </a:solidFill>
                <a:latin typeface="Calibri" pitchFamily="34" charset="0"/>
                <a:ea typeface="Calibri" pitchFamily="34" charset="-122"/>
                <a:cs typeface="Calibri" pitchFamily="34" charset="-120"/>
              </a:rPr>
              <a:t>Bounded Generation</a:t>
            </a:r>
            <a:endParaRPr lang="en-US" sz="1200" dirty="0"/>
          </a:p>
        </p:txBody>
      </p:sp>
      <p:sp>
        <p:nvSpPr>
          <p:cNvPr id="24" name="Text 22"/>
          <p:cNvSpPr/>
          <p:nvPr/>
        </p:nvSpPr>
        <p:spPr>
          <a:xfrm>
            <a:off x="548640" y="367588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Token limits and timeouts prevent runaway responses. OLLAMA_TIMEOUT_S and CHAT_TOTAL_TIMEOUT_S are configurable.</a:t>
            </a:r>
            <a:endParaRPr lang="en-US" sz="1000" dirty="0"/>
          </a:p>
        </p:txBody>
      </p:sp>
      <p:sp>
        <p:nvSpPr>
          <p:cNvPr id="25" name="Shape 23"/>
          <p:cNvSpPr/>
          <p:nvPr/>
        </p:nvSpPr>
        <p:spPr>
          <a:xfrm>
            <a:off x="4800600" y="3291840"/>
            <a:ext cx="4206240" cy="89611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4"/>
          <p:cNvSpPr/>
          <p:nvPr/>
        </p:nvSpPr>
        <p:spPr>
          <a:xfrm>
            <a:off x="4800600" y="3291840"/>
            <a:ext cx="54864" cy="896112"/>
          </a:xfrm>
          <a:prstGeom prst="rect">
            <a:avLst/>
          </a:prstGeom>
          <a:solidFill>
            <a:srgbClr val="3FB950"/>
          </a:solidFill>
          <a:ln/>
        </p:spPr>
      </p:sp>
      <p:sp>
        <p:nvSpPr>
          <p:cNvPr id="27" name="Text 25"/>
          <p:cNvSpPr/>
          <p:nvPr/>
        </p:nvSpPr>
        <p:spPr>
          <a:xfrm>
            <a:off x="4983480" y="3364992"/>
            <a:ext cx="3840480" cy="292608"/>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Docker Network Isolation</a:t>
            </a:r>
            <a:endParaRPr lang="en-US" sz="1200" dirty="0"/>
          </a:p>
        </p:txBody>
      </p:sp>
      <p:sp>
        <p:nvSpPr>
          <p:cNvPr id="28" name="Text 26"/>
          <p:cNvSpPr/>
          <p:nvPr/>
        </p:nvSpPr>
        <p:spPr>
          <a:xfrm>
            <a:off x="4983480" y="3675888"/>
            <a:ext cx="3840480" cy="411480"/>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The internal Docker network prevents any container from being reached from outside without going through the gateway.</a:t>
            </a:r>
            <a:endParaRPr lang="en-US" sz="1000" dirty="0"/>
          </a:p>
        </p:txBody>
      </p:sp>
      <p:sp>
        <p:nvSpPr>
          <p:cNvPr id="29" name="Shape 27"/>
          <p:cNvSpPr/>
          <p:nvPr/>
        </p:nvSpPr>
        <p:spPr>
          <a:xfrm>
            <a:off x="365760" y="4572000"/>
            <a:ext cx="8412480" cy="411480"/>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30" name="Text 28"/>
          <p:cNvSpPr/>
          <p:nvPr/>
        </p:nvSpPr>
        <p:spPr>
          <a:xfrm>
            <a:off x="548640" y="4617720"/>
            <a:ext cx="8046720" cy="320040"/>
          </a:xfrm>
          <a:prstGeom prst="rect">
            <a:avLst/>
          </a:prstGeom>
          <a:noFill/>
          <a:ln/>
        </p:spPr>
        <p:txBody>
          <a:bodyPr wrap="square" rtlCol="0" anchor="ctr"/>
          <a:lstStyle/>
          <a:p>
            <a:pPr indent="0" marL="0">
              <a:buNone/>
            </a:pPr>
            <a:r>
              <a:rPr lang="en-US" sz="1100" i="1" dirty="0">
                <a:solidFill>
                  <a:srgbClr val="00D4AA"/>
                </a:solidFill>
                <a:latin typeface="Calibri" pitchFamily="34" charset="0"/>
                <a:ea typeface="Calibri" pitchFamily="34" charset="-122"/>
                <a:cs typeface="Calibri" pitchFamily="34" charset="-120"/>
              </a:rPr>
              <a:t>You are not just building a chatbot. You are building a layered system with clear security boundaries — this is the production mindset.</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REPO STRUCTURE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GitHub Repo Tour — Root Level</a:t>
            </a:r>
            <a:endParaRPr lang="en-US" sz="2800" dirty="0"/>
          </a:p>
        </p:txBody>
      </p:sp>
      <p:sp>
        <p:nvSpPr>
          <p:cNvPr id="5" name="Shape 3"/>
          <p:cNvSpPr/>
          <p:nvPr/>
        </p:nvSpPr>
        <p:spPr>
          <a:xfrm>
            <a:off x="365760" y="1280160"/>
            <a:ext cx="8412480" cy="62179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621792"/>
          </a:xfrm>
          <a:prstGeom prst="rect">
            <a:avLst/>
          </a:prstGeom>
          <a:solidFill>
            <a:srgbClr val="00D4AA"/>
          </a:solidFill>
          <a:ln/>
        </p:spPr>
      </p:sp>
      <p:pic>
        <p:nvPicPr>
          <p:cNvPr id="7" name="Image 0" descr="preencoded.png">    </p:cNvPr>
          <p:cNvPicPr>
            <a:picLocks noChangeAspect="1"/>
          </p:cNvPicPr>
          <p:nvPr/>
        </p:nvPicPr>
        <p:blipFill>
          <a:blip r:embed="rId1"/>
          <a:stretch>
            <a:fillRect/>
          </a:stretch>
        </p:blipFill>
        <p:spPr>
          <a:xfrm>
            <a:off x="502920" y="1399032"/>
            <a:ext cx="365760" cy="365760"/>
          </a:xfrm>
          <a:prstGeom prst="rect">
            <a:avLst/>
          </a:prstGeom>
        </p:spPr>
      </p:pic>
      <p:sp>
        <p:nvSpPr>
          <p:cNvPr id="8" name="Text 5"/>
          <p:cNvSpPr/>
          <p:nvPr/>
        </p:nvSpPr>
        <p:spPr>
          <a:xfrm>
            <a:off x="1005840" y="1362456"/>
            <a:ext cx="2103120" cy="292608"/>
          </a:xfrm>
          <a:prstGeom prst="rect">
            <a:avLst/>
          </a:prstGeom>
          <a:noFill/>
          <a:ln/>
        </p:spPr>
        <p:txBody>
          <a:bodyPr wrap="square" rtlCol="0" anchor="ctr"/>
          <a:lstStyle/>
          <a:p>
            <a:pPr indent="0" marL="0">
              <a:buNone/>
            </a:pPr>
            <a:r>
              <a:rPr lang="en-US" sz="1200" b="1" dirty="0">
                <a:solidFill>
                  <a:srgbClr val="00D4AA"/>
                </a:solidFill>
                <a:latin typeface="Consolas" pitchFamily="34" charset="0"/>
                <a:ea typeface="Consolas" pitchFamily="34" charset="-122"/>
                <a:cs typeface="Consolas" pitchFamily="34" charset="-120"/>
              </a:rPr>
              <a:t>docker-compose.yml</a:t>
            </a:r>
            <a:endParaRPr lang="en-US" sz="1200" dirty="0"/>
          </a:p>
        </p:txBody>
      </p:sp>
      <p:sp>
        <p:nvSpPr>
          <p:cNvPr id="9" name="Text 6"/>
          <p:cNvSpPr/>
          <p:nvPr/>
        </p:nvSpPr>
        <p:spPr>
          <a:xfrm>
            <a:off x="3200400" y="1362456"/>
            <a:ext cx="5394960" cy="5029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Defines all 6 services, networks, volumes, and env vars. The single source of truth for the stack.</a:t>
            </a:r>
            <a:endParaRPr lang="en-US" sz="1100" dirty="0"/>
          </a:p>
        </p:txBody>
      </p:sp>
      <p:sp>
        <p:nvSpPr>
          <p:cNvPr id="10" name="Shape 7"/>
          <p:cNvSpPr/>
          <p:nvPr/>
        </p:nvSpPr>
        <p:spPr>
          <a:xfrm>
            <a:off x="365760" y="1993392"/>
            <a:ext cx="8412480" cy="62179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8"/>
          <p:cNvSpPr/>
          <p:nvPr/>
        </p:nvSpPr>
        <p:spPr>
          <a:xfrm>
            <a:off x="365760" y="1993392"/>
            <a:ext cx="54864" cy="621792"/>
          </a:xfrm>
          <a:prstGeom prst="rect">
            <a:avLst/>
          </a:prstGeom>
          <a:solidFill>
            <a:srgbClr val="F78166"/>
          </a:solidFill>
          <a:ln/>
        </p:spPr>
      </p:sp>
      <p:pic>
        <p:nvPicPr>
          <p:cNvPr id="12" name="Image 1" descr="preencoded.png">    </p:cNvPr>
          <p:cNvPicPr>
            <a:picLocks noChangeAspect="1"/>
          </p:cNvPicPr>
          <p:nvPr/>
        </p:nvPicPr>
        <p:blipFill>
          <a:blip r:embed="rId2"/>
          <a:stretch>
            <a:fillRect/>
          </a:stretch>
        </p:blipFill>
        <p:spPr>
          <a:xfrm>
            <a:off x="502920" y="2112264"/>
            <a:ext cx="365760" cy="365760"/>
          </a:xfrm>
          <a:prstGeom prst="rect">
            <a:avLst/>
          </a:prstGeom>
        </p:spPr>
      </p:pic>
      <p:sp>
        <p:nvSpPr>
          <p:cNvPr id="13" name="Text 9"/>
          <p:cNvSpPr/>
          <p:nvPr/>
        </p:nvSpPr>
        <p:spPr>
          <a:xfrm>
            <a:off x="1005840" y="2075688"/>
            <a:ext cx="2103120" cy="292608"/>
          </a:xfrm>
          <a:prstGeom prst="rect">
            <a:avLst/>
          </a:prstGeom>
          <a:noFill/>
          <a:ln/>
        </p:spPr>
        <p:txBody>
          <a:bodyPr wrap="square" rtlCol="0" anchor="ctr"/>
          <a:lstStyle/>
          <a:p>
            <a:pPr indent="0" marL="0">
              <a:buNone/>
            </a:pPr>
            <a:r>
              <a:rPr lang="en-US" sz="1200" b="1" dirty="0">
                <a:solidFill>
                  <a:srgbClr val="F78166"/>
                </a:solidFill>
                <a:latin typeface="Consolas" pitchFamily="34" charset="0"/>
                <a:ea typeface="Consolas" pitchFamily="34" charset="-122"/>
                <a:cs typeface="Consolas" pitchFamily="34" charset="-120"/>
              </a:rPr>
              <a:t>.env.example</a:t>
            </a:r>
            <a:endParaRPr lang="en-US" sz="1200" dirty="0"/>
          </a:p>
        </p:txBody>
      </p:sp>
      <p:sp>
        <p:nvSpPr>
          <p:cNvPr id="14" name="Text 10"/>
          <p:cNvSpPr/>
          <p:nvPr/>
        </p:nvSpPr>
        <p:spPr>
          <a:xfrm>
            <a:off x="3200400" y="2075688"/>
            <a:ext cx="5394960" cy="5029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Template for your .env file. Copy to .env and set EDGE_API_KEY before starting.</a:t>
            </a:r>
            <a:endParaRPr lang="en-US" sz="1100" dirty="0"/>
          </a:p>
        </p:txBody>
      </p:sp>
      <p:sp>
        <p:nvSpPr>
          <p:cNvPr id="15" name="Shape 11"/>
          <p:cNvSpPr/>
          <p:nvPr/>
        </p:nvSpPr>
        <p:spPr>
          <a:xfrm>
            <a:off x="365760" y="2706624"/>
            <a:ext cx="8412480" cy="62179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2"/>
          <p:cNvSpPr/>
          <p:nvPr/>
        </p:nvSpPr>
        <p:spPr>
          <a:xfrm>
            <a:off x="365760" y="2706624"/>
            <a:ext cx="54864" cy="621792"/>
          </a:xfrm>
          <a:prstGeom prst="rect">
            <a:avLst/>
          </a:prstGeom>
          <a:solidFill>
            <a:srgbClr val="79C0FF"/>
          </a:solidFill>
          <a:ln/>
        </p:spPr>
      </p:sp>
      <p:pic>
        <p:nvPicPr>
          <p:cNvPr id="17" name="Image 2" descr="preencoded.png">    </p:cNvPr>
          <p:cNvPicPr>
            <a:picLocks noChangeAspect="1"/>
          </p:cNvPicPr>
          <p:nvPr/>
        </p:nvPicPr>
        <p:blipFill>
          <a:blip r:embed="rId3"/>
          <a:stretch>
            <a:fillRect/>
          </a:stretch>
        </p:blipFill>
        <p:spPr>
          <a:xfrm>
            <a:off x="502920" y="2825496"/>
            <a:ext cx="365760" cy="365760"/>
          </a:xfrm>
          <a:prstGeom prst="rect">
            <a:avLst/>
          </a:prstGeom>
        </p:spPr>
      </p:pic>
      <p:sp>
        <p:nvSpPr>
          <p:cNvPr id="18" name="Text 13"/>
          <p:cNvSpPr/>
          <p:nvPr/>
        </p:nvSpPr>
        <p:spPr>
          <a:xfrm>
            <a:off x="1005840" y="2788920"/>
            <a:ext cx="2103120" cy="292608"/>
          </a:xfrm>
          <a:prstGeom prst="rect">
            <a:avLst/>
          </a:prstGeom>
          <a:noFill/>
          <a:ln/>
        </p:spPr>
        <p:txBody>
          <a:bodyPr wrap="square" rtlCol="0" anchor="ctr"/>
          <a:lstStyle/>
          <a:p>
            <a:pPr indent="0" marL="0">
              <a:buNone/>
            </a:pPr>
            <a:r>
              <a:rPr lang="en-US" sz="1200" b="1" dirty="0">
                <a:solidFill>
                  <a:srgbClr val="79C0FF"/>
                </a:solidFill>
                <a:latin typeface="Consolas" pitchFamily="34" charset="0"/>
                <a:ea typeface="Consolas" pitchFamily="34" charset="-122"/>
                <a:cs typeface="Consolas" pitchFamily="34" charset="-120"/>
              </a:rPr>
              <a:t>data/</a:t>
            </a:r>
            <a:endParaRPr lang="en-US" sz="1200" dirty="0"/>
          </a:p>
        </p:txBody>
      </p:sp>
      <p:sp>
        <p:nvSpPr>
          <p:cNvPr id="19" name="Text 14"/>
          <p:cNvSpPr/>
          <p:nvPr/>
        </p:nvSpPr>
        <p:spPr>
          <a:xfrm>
            <a:off x="3200400" y="2788920"/>
            <a:ext cx="5394960" cy="5029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Sample cybersecurity dataset (sample_articles.jsonl). Powers the main LabDoc Qdrant collection.</a:t>
            </a:r>
            <a:endParaRPr lang="en-US" sz="1100" dirty="0"/>
          </a:p>
        </p:txBody>
      </p:sp>
      <p:sp>
        <p:nvSpPr>
          <p:cNvPr id="20" name="Shape 15"/>
          <p:cNvSpPr/>
          <p:nvPr/>
        </p:nvSpPr>
        <p:spPr>
          <a:xfrm>
            <a:off x="365760" y="3419856"/>
            <a:ext cx="8412480" cy="62179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6"/>
          <p:cNvSpPr/>
          <p:nvPr/>
        </p:nvSpPr>
        <p:spPr>
          <a:xfrm>
            <a:off x="365760" y="3419856"/>
            <a:ext cx="54864" cy="621792"/>
          </a:xfrm>
          <a:prstGeom prst="rect">
            <a:avLst/>
          </a:prstGeom>
          <a:solidFill>
            <a:srgbClr val="F78166"/>
          </a:solidFill>
          <a:ln/>
        </p:spPr>
      </p:sp>
      <p:pic>
        <p:nvPicPr>
          <p:cNvPr id="22" name="Image 3" descr="preencoded.png">    </p:cNvPr>
          <p:cNvPicPr>
            <a:picLocks noChangeAspect="1"/>
          </p:cNvPicPr>
          <p:nvPr/>
        </p:nvPicPr>
        <p:blipFill>
          <a:blip r:embed="rId4"/>
          <a:stretch>
            <a:fillRect/>
          </a:stretch>
        </p:blipFill>
        <p:spPr>
          <a:xfrm>
            <a:off x="502920" y="3538728"/>
            <a:ext cx="365760" cy="365760"/>
          </a:xfrm>
          <a:prstGeom prst="rect">
            <a:avLst/>
          </a:prstGeom>
        </p:spPr>
      </p:pic>
      <p:sp>
        <p:nvSpPr>
          <p:cNvPr id="23" name="Text 17"/>
          <p:cNvSpPr/>
          <p:nvPr/>
        </p:nvSpPr>
        <p:spPr>
          <a:xfrm>
            <a:off x="1005840" y="3502152"/>
            <a:ext cx="2103120" cy="292608"/>
          </a:xfrm>
          <a:prstGeom prst="rect">
            <a:avLst/>
          </a:prstGeom>
          <a:noFill/>
          <a:ln/>
        </p:spPr>
        <p:txBody>
          <a:bodyPr wrap="square" rtlCol="0" anchor="ctr"/>
          <a:lstStyle/>
          <a:p>
            <a:pPr indent="0" marL="0">
              <a:buNone/>
            </a:pPr>
            <a:r>
              <a:rPr lang="en-US" sz="1200" b="1" dirty="0">
                <a:solidFill>
                  <a:srgbClr val="F78166"/>
                </a:solidFill>
                <a:latin typeface="Consolas" pitchFamily="34" charset="0"/>
                <a:ea typeface="Consolas" pitchFamily="34" charset="-122"/>
                <a:cs typeface="Consolas" pitchFamily="34" charset="-120"/>
              </a:rPr>
              <a:t>nginx/</a:t>
            </a:r>
            <a:endParaRPr lang="en-US" sz="1200" dirty="0"/>
          </a:p>
        </p:txBody>
      </p:sp>
      <p:sp>
        <p:nvSpPr>
          <p:cNvPr id="24" name="Text 18"/>
          <p:cNvSpPr/>
          <p:nvPr/>
        </p:nvSpPr>
        <p:spPr>
          <a:xfrm>
            <a:off x="3200400" y="3502152"/>
            <a:ext cx="5394960" cy="5029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NGINX config template (default.conf.template). EDGE_API_KEY is injected here at container start.</a:t>
            </a:r>
            <a:endParaRPr lang="en-US" sz="1100" dirty="0"/>
          </a:p>
        </p:txBody>
      </p:sp>
      <p:sp>
        <p:nvSpPr>
          <p:cNvPr id="25" name="Shape 19"/>
          <p:cNvSpPr/>
          <p:nvPr/>
        </p:nvSpPr>
        <p:spPr>
          <a:xfrm>
            <a:off x="365760" y="4133088"/>
            <a:ext cx="8412480" cy="62179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0"/>
          <p:cNvSpPr/>
          <p:nvPr/>
        </p:nvSpPr>
        <p:spPr>
          <a:xfrm>
            <a:off x="365760" y="4133088"/>
            <a:ext cx="54864" cy="621792"/>
          </a:xfrm>
          <a:prstGeom prst="rect">
            <a:avLst/>
          </a:prstGeom>
          <a:solidFill>
            <a:srgbClr val="D29922"/>
          </a:solidFill>
          <a:ln/>
        </p:spPr>
      </p:sp>
      <p:pic>
        <p:nvPicPr>
          <p:cNvPr id="27" name="Image 4" descr="preencoded.png">    </p:cNvPr>
          <p:cNvPicPr>
            <a:picLocks noChangeAspect="1"/>
          </p:cNvPicPr>
          <p:nvPr/>
        </p:nvPicPr>
        <p:blipFill>
          <a:blip r:embed="rId5"/>
          <a:stretch>
            <a:fillRect/>
          </a:stretch>
        </p:blipFill>
        <p:spPr>
          <a:xfrm>
            <a:off x="502920" y="4251960"/>
            <a:ext cx="365760" cy="365760"/>
          </a:xfrm>
          <a:prstGeom prst="rect">
            <a:avLst/>
          </a:prstGeom>
        </p:spPr>
      </p:pic>
      <p:sp>
        <p:nvSpPr>
          <p:cNvPr id="28" name="Text 21"/>
          <p:cNvSpPr/>
          <p:nvPr/>
        </p:nvSpPr>
        <p:spPr>
          <a:xfrm>
            <a:off x="1005840" y="4215384"/>
            <a:ext cx="2103120" cy="292608"/>
          </a:xfrm>
          <a:prstGeom prst="rect">
            <a:avLst/>
          </a:prstGeom>
          <a:noFill/>
          <a:ln/>
        </p:spPr>
        <p:txBody>
          <a:bodyPr wrap="square" rtlCol="0" anchor="ctr"/>
          <a:lstStyle/>
          <a:p>
            <a:pPr indent="0" marL="0">
              <a:buNone/>
            </a:pPr>
            <a:r>
              <a:rPr lang="en-US" sz="1200" b="1" dirty="0">
                <a:solidFill>
                  <a:srgbClr val="D29922"/>
                </a:solidFill>
                <a:latin typeface="Consolas" pitchFamily="34" charset="0"/>
                <a:ea typeface="Consolas" pitchFamily="34" charset="-122"/>
                <a:cs typeface="Consolas" pitchFamily="34" charset="-120"/>
              </a:rPr>
              <a:t>bin/</a:t>
            </a:r>
            <a:endParaRPr lang="en-US" sz="1200" dirty="0"/>
          </a:p>
        </p:txBody>
      </p:sp>
      <p:sp>
        <p:nvSpPr>
          <p:cNvPr id="29" name="Text 22"/>
          <p:cNvSpPr/>
          <p:nvPr/>
        </p:nvSpPr>
        <p:spPr>
          <a:xfrm>
            <a:off x="3200400" y="4215384"/>
            <a:ext cx="5394960" cy="50292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Helper scripts: ingest_sample.sh, pull_model.sh, smoke_test.sh, status.sh, reset_all.sh, logs.sh</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REPO STRUCTURE</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GitHub Repo Tour — Key Subfolders</a:t>
            </a:r>
            <a:endParaRPr lang="en-US" sz="2800" dirty="0"/>
          </a:p>
        </p:txBody>
      </p:sp>
      <p:sp>
        <p:nvSpPr>
          <p:cNvPr id="5" name="Shape 3"/>
          <p:cNvSpPr/>
          <p:nvPr/>
        </p:nvSpPr>
        <p:spPr>
          <a:xfrm>
            <a:off x="365760" y="1280160"/>
            <a:ext cx="841248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804672"/>
          </a:xfrm>
          <a:prstGeom prst="rect">
            <a:avLst/>
          </a:prstGeom>
          <a:solidFill>
            <a:srgbClr val="00D4AA"/>
          </a:solidFill>
          <a:ln/>
        </p:spPr>
      </p:sp>
      <p:pic>
        <p:nvPicPr>
          <p:cNvPr id="7" name="Image 0" descr="preencoded.png">    </p:cNvPr>
          <p:cNvPicPr>
            <a:picLocks noChangeAspect="1"/>
          </p:cNvPicPr>
          <p:nvPr/>
        </p:nvPicPr>
        <p:blipFill>
          <a:blip r:embed="rId1"/>
          <a:stretch>
            <a:fillRect/>
          </a:stretch>
        </p:blipFill>
        <p:spPr>
          <a:xfrm>
            <a:off x="502920" y="1481328"/>
            <a:ext cx="411480" cy="411480"/>
          </a:xfrm>
          <a:prstGeom prst="rect">
            <a:avLst/>
          </a:prstGeom>
        </p:spPr>
      </p:pic>
      <p:sp>
        <p:nvSpPr>
          <p:cNvPr id="8" name="Text 5"/>
          <p:cNvSpPr/>
          <p:nvPr/>
        </p:nvSpPr>
        <p:spPr>
          <a:xfrm>
            <a:off x="1051560" y="1444752"/>
            <a:ext cx="2286000" cy="347472"/>
          </a:xfrm>
          <a:prstGeom prst="rect">
            <a:avLst/>
          </a:prstGeom>
          <a:noFill/>
          <a:ln/>
        </p:spPr>
        <p:txBody>
          <a:bodyPr wrap="square" rtlCol="0" anchor="ctr"/>
          <a:lstStyle/>
          <a:p>
            <a:pPr indent="0" marL="0">
              <a:buNone/>
            </a:pPr>
            <a:r>
              <a:rPr lang="en-US" sz="1300" b="1" dirty="0">
                <a:solidFill>
                  <a:srgbClr val="00D4AA"/>
                </a:solidFill>
                <a:latin typeface="Consolas" pitchFamily="34" charset="0"/>
                <a:ea typeface="Consolas" pitchFamily="34" charset="-122"/>
                <a:cs typeface="Consolas" pitchFamily="34" charset="-120"/>
              </a:rPr>
              <a:t>ingestion-api/</a:t>
            </a:r>
            <a:endParaRPr lang="en-US" sz="1300" dirty="0"/>
          </a:p>
        </p:txBody>
      </p:sp>
      <p:sp>
        <p:nvSpPr>
          <p:cNvPr id="9" name="Text 6"/>
          <p:cNvSpPr/>
          <p:nvPr/>
        </p:nvSpPr>
        <p:spPr>
          <a:xfrm>
            <a:off x="3383280" y="1444752"/>
            <a:ext cx="5257800" cy="6400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FastAPI application source code. Dockerfile, requirements.txt, and app/ containing main.py, schemas.py, rag.py, qdrant_client.py, and the security_memory/ package.</a:t>
            </a:r>
            <a:endParaRPr lang="en-US" sz="1100" dirty="0"/>
          </a:p>
        </p:txBody>
      </p:sp>
      <p:sp>
        <p:nvSpPr>
          <p:cNvPr id="10" name="Shape 7"/>
          <p:cNvSpPr/>
          <p:nvPr/>
        </p:nvSpPr>
        <p:spPr>
          <a:xfrm>
            <a:off x="365760" y="2176272"/>
            <a:ext cx="841248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8"/>
          <p:cNvSpPr/>
          <p:nvPr/>
        </p:nvSpPr>
        <p:spPr>
          <a:xfrm>
            <a:off x="365760" y="2176272"/>
            <a:ext cx="54864" cy="804672"/>
          </a:xfrm>
          <a:prstGeom prst="rect">
            <a:avLst/>
          </a:prstGeom>
          <a:solidFill>
            <a:srgbClr val="3FB950"/>
          </a:solidFill>
          <a:ln/>
        </p:spPr>
      </p:sp>
      <p:pic>
        <p:nvPicPr>
          <p:cNvPr id="12" name="Image 1" descr="preencoded.png">    </p:cNvPr>
          <p:cNvPicPr>
            <a:picLocks noChangeAspect="1"/>
          </p:cNvPicPr>
          <p:nvPr/>
        </p:nvPicPr>
        <p:blipFill>
          <a:blip r:embed="rId2"/>
          <a:stretch>
            <a:fillRect/>
          </a:stretch>
        </p:blipFill>
        <p:spPr>
          <a:xfrm>
            <a:off x="502920" y="2377440"/>
            <a:ext cx="411480" cy="411480"/>
          </a:xfrm>
          <a:prstGeom prst="rect">
            <a:avLst/>
          </a:prstGeom>
        </p:spPr>
      </p:pic>
      <p:sp>
        <p:nvSpPr>
          <p:cNvPr id="13" name="Text 9"/>
          <p:cNvSpPr/>
          <p:nvPr/>
        </p:nvSpPr>
        <p:spPr>
          <a:xfrm>
            <a:off x="1051560" y="2340864"/>
            <a:ext cx="2286000" cy="347472"/>
          </a:xfrm>
          <a:prstGeom prst="rect">
            <a:avLst/>
          </a:prstGeom>
          <a:noFill/>
          <a:ln/>
        </p:spPr>
        <p:txBody>
          <a:bodyPr wrap="square" rtlCol="0" anchor="ctr"/>
          <a:lstStyle/>
          <a:p>
            <a:pPr indent="0" marL="0">
              <a:buNone/>
            </a:pPr>
            <a:r>
              <a:rPr lang="en-US" sz="1300" b="1" dirty="0">
                <a:solidFill>
                  <a:srgbClr val="3FB950"/>
                </a:solidFill>
                <a:latin typeface="Consolas" pitchFamily="34" charset="0"/>
                <a:ea typeface="Consolas" pitchFamily="34" charset="-122"/>
                <a:cs typeface="Consolas" pitchFamily="34" charset="-120"/>
              </a:rPr>
              <a:t>gradio-ui/</a:t>
            </a:r>
            <a:endParaRPr lang="en-US" sz="1300" dirty="0"/>
          </a:p>
        </p:txBody>
      </p:sp>
      <p:sp>
        <p:nvSpPr>
          <p:cNvPr id="14" name="Text 10"/>
          <p:cNvSpPr/>
          <p:nvPr/>
        </p:nvSpPr>
        <p:spPr>
          <a:xfrm>
            <a:off x="3383280" y="2340864"/>
            <a:ext cx="5257800" cy="6400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Gradio chat interface. A single app.py file. Chat tab + Security Memory tab (after extension). Rebuilt with --build flag.</a:t>
            </a:r>
            <a:endParaRPr lang="en-US" sz="1100" dirty="0"/>
          </a:p>
        </p:txBody>
      </p:sp>
      <p:sp>
        <p:nvSpPr>
          <p:cNvPr id="15" name="Shape 11"/>
          <p:cNvSpPr/>
          <p:nvPr/>
        </p:nvSpPr>
        <p:spPr>
          <a:xfrm>
            <a:off x="365760" y="3072384"/>
            <a:ext cx="841248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2"/>
          <p:cNvSpPr/>
          <p:nvPr/>
        </p:nvSpPr>
        <p:spPr>
          <a:xfrm>
            <a:off x="365760" y="3072384"/>
            <a:ext cx="54864" cy="804672"/>
          </a:xfrm>
          <a:prstGeom prst="rect">
            <a:avLst/>
          </a:prstGeom>
          <a:solidFill>
            <a:srgbClr val="BC8CFF"/>
          </a:solidFill>
          <a:ln/>
        </p:spPr>
      </p:sp>
      <p:pic>
        <p:nvPicPr>
          <p:cNvPr id="17" name="Image 2" descr="preencoded.png">    </p:cNvPr>
          <p:cNvPicPr>
            <a:picLocks noChangeAspect="1"/>
          </p:cNvPicPr>
          <p:nvPr/>
        </p:nvPicPr>
        <p:blipFill>
          <a:blip r:embed="rId3"/>
          <a:stretch>
            <a:fillRect/>
          </a:stretch>
        </p:blipFill>
        <p:spPr>
          <a:xfrm>
            <a:off x="502920" y="3273552"/>
            <a:ext cx="411480" cy="411480"/>
          </a:xfrm>
          <a:prstGeom prst="rect">
            <a:avLst/>
          </a:prstGeom>
        </p:spPr>
      </p:pic>
      <p:sp>
        <p:nvSpPr>
          <p:cNvPr id="18" name="Text 13"/>
          <p:cNvSpPr/>
          <p:nvPr/>
        </p:nvSpPr>
        <p:spPr>
          <a:xfrm>
            <a:off x="1051560" y="3236976"/>
            <a:ext cx="2286000" cy="347472"/>
          </a:xfrm>
          <a:prstGeom prst="rect">
            <a:avLst/>
          </a:prstGeom>
          <a:noFill/>
          <a:ln/>
        </p:spPr>
        <p:txBody>
          <a:bodyPr wrap="square" rtlCol="0" anchor="ctr"/>
          <a:lstStyle/>
          <a:p>
            <a:pPr indent="0" marL="0">
              <a:buNone/>
            </a:pPr>
            <a:r>
              <a:rPr lang="en-US" sz="1300" b="1" dirty="0">
                <a:solidFill>
                  <a:srgbClr val="BC8CFF"/>
                </a:solidFill>
                <a:latin typeface="Consolas" pitchFamily="34" charset="0"/>
                <a:ea typeface="Consolas" pitchFamily="34" charset="-122"/>
                <a:cs typeface="Consolas" pitchFamily="34" charset="-120"/>
              </a:rPr>
              <a:t>security-memory/</a:t>
            </a:r>
            <a:endParaRPr lang="en-US" sz="1300" dirty="0"/>
          </a:p>
        </p:txBody>
      </p:sp>
      <p:sp>
        <p:nvSpPr>
          <p:cNvPr id="19" name="Text 14"/>
          <p:cNvSpPr/>
          <p:nvPr/>
        </p:nvSpPr>
        <p:spPr>
          <a:xfrm>
            <a:off x="3383280" y="3236976"/>
            <a:ext cx="5257800" cy="6400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The security corpus extension. Subfolders: data/ (NIST/CIS/MITRE/OWASP docs), prompts/ (5 review templates), docs/, scripts/, mcp/, slides/.</a:t>
            </a:r>
            <a:endParaRPr lang="en-US" sz="1100" dirty="0"/>
          </a:p>
        </p:txBody>
      </p:sp>
      <p:sp>
        <p:nvSpPr>
          <p:cNvPr id="20" name="Shape 15"/>
          <p:cNvSpPr/>
          <p:nvPr/>
        </p:nvSpPr>
        <p:spPr>
          <a:xfrm>
            <a:off x="365760" y="3968496"/>
            <a:ext cx="841248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6"/>
          <p:cNvSpPr/>
          <p:nvPr/>
        </p:nvSpPr>
        <p:spPr>
          <a:xfrm>
            <a:off x="365760" y="3968496"/>
            <a:ext cx="54864" cy="804672"/>
          </a:xfrm>
          <a:prstGeom prst="rect">
            <a:avLst/>
          </a:prstGeom>
          <a:solidFill>
            <a:srgbClr val="79C0FF"/>
          </a:solidFill>
          <a:ln/>
        </p:spPr>
      </p:sp>
      <p:pic>
        <p:nvPicPr>
          <p:cNvPr id="22" name="Image 3" descr="preencoded.png">    </p:cNvPr>
          <p:cNvPicPr>
            <a:picLocks noChangeAspect="1"/>
          </p:cNvPicPr>
          <p:nvPr/>
        </p:nvPicPr>
        <p:blipFill>
          <a:blip r:embed="rId4"/>
          <a:stretch>
            <a:fillRect/>
          </a:stretch>
        </p:blipFill>
        <p:spPr>
          <a:xfrm>
            <a:off x="502920" y="4169664"/>
            <a:ext cx="411480" cy="411480"/>
          </a:xfrm>
          <a:prstGeom prst="rect">
            <a:avLst/>
          </a:prstGeom>
        </p:spPr>
      </p:pic>
      <p:sp>
        <p:nvSpPr>
          <p:cNvPr id="23" name="Text 17"/>
          <p:cNvSpPr/>
          <p:nvPr/>
        </p:nvSpPr>
        <p:spPr>
          <a:xfrm>
            <a:off x="1051560" y="4133088"/>
            <a:ext cx="2286000" cy="347472"/>
          </a:xfrm>
          <a:prstGeom prst="rect">
            <a:avLst/>
          </a:prstGeom>
          <a:noFill/>
          <a:ln/>
        </p:spPr>
        <p:txBody>
          <a:bodyPr wrap="square" rtlCol="0" anchor="ctr"/>
          <a:lstStyle/>
          <a:p>
            <a:pPr indent="0" marL="0">
              <a:buNone/>
            </a:pPr>
            <a:r>
              <a:rPr lang="en-US" sz="1300" b="1" dirty="0">
                <a:solidFill>
                  <a:srgbClr val="79C0FF"/>
                </a:solidFill>
                <a:latin typeface="Consolas" pitchFamily="34" charset="0"/>
                <a:ea typeface="Consolas" pitchFamily="34" charset="-122"/>
                <a:cs typeface="Consolas" pitchFamily="34" charset="-120"/>
              </a:rPr>
              <a:t>lessons/</a:t>
            </a:r>
            <a:endParaRPr lang="en-US" sz="1300" dirty="0"/>
          </a:p>
        </p:txBody>
      </p:sp>
      <p:sp>
        <p:nvSpPr>
          <p:cNvPr id="24" name="Text 18"/>
          <p:cNvSpPr/>
          <p:nvPr/>
        </p:nvSpPr>
        <p:spPr>
          <a:xfrm>
            <a:off x="3383280" y="4133088"/>
            <a:ext cx="5257800" cy="6400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All lesson markdown files in numbered order. lessons/04-security-memory/ contains the 3 extension lessons. Start at 00-lesson-index.md.</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1</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1 — Lab Overview</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Name each service and its job · Describe the RAG flow · Understand exposed vs internal</a:t>
            </a:r>
            <a:endParaRPr lang="en-US" sz="1100" dirty="0"/>
          </a:p>
        </p:txBody>
      </p:sp>
      <p:sp>
        <p:nvSpPr>
          <p:cNvPr id="6" name="Shape 4"/>
          <p:cNvSpPr/>
          <p:nvPr/>
        </p:nvSpPr>
        <p:spPr>
          <a:xfrm>
            <a:off x="365760" y="1664208"/>
            <a:ext cx="502920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2926080"/>
          </a:xfrm>
          <a:prstGeom prst="rect">
            <a:avLst/>
          </a:prstGeom>
          <a:solidFill>
            <a:srgbClr val="79C0FF"/>
          </a:solidFill>
          <a:ln/>
        </p:spPr>
      </p:sp>
      <p:sp>
        <p:nvSpPr>
          <p:cNvPr id="8" name="Text 6"/>
          <p:cNvSpPr/>
          <p:nvPr/>
        </p:nvSpPr>
        <p:spPr>
          <a:xfrm>
            <a:off x="548640" y="1755648"/>
            <a:ext cx="466344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Each Service in One Sentence</a:t>
            </a:r>
            <a:endParaRPr lang="en-US" sz="1300" dirty="0"/>
          </a:p>
        </p:txBody>
      </p:sp>
      <p:sp>
        <p:nvSpPr>
          <p:cNvPr id="9" name="Text 7"/>
          <p:cNvSpPr/>
          <p:nvPr/>
        </p:nvSpPr>
        <p:spPr>
          <a:xfrm>
            <a:off x="548640" y="2148840"/>
            <a:ext cx="4663440" cy="22860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Qdrant — stores documents as searchable vectors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text2vec-transformers — converts text into vectors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ingestion-api — validates, ingests, retrieves, generates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ollama — generates answers from a given prompt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edge-nginx — enforces API key before traffic enters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gradio-ui — browser interface that calls the API</a:t>
            </a:r>
            <a:endParaRPr lang="en-US" sz="1050" dirty="0"/>
          </a:p>
        </p:txBody>
      </p:sp>
      <p:sp>
        <p:nvSpPr>
          <p:cNvPr id="10" name="Shape 8"/>
          <p:cNvSpPr/>
          <p:nvPr/>
        </p:nvSpPr>
        <p:spPr>
          <a:xfrm>
            <a:off x="5577840" y="1664208"/>
            <a:ext cx="3200400" cy="2926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5577840" y="1664208"/>
            <a:ext cx="54864" cy="2926080"/>
          </a:xfrm>
          <a:prstGeom prst="rect">
            <a:avLst/>
          </a:prstGeom>
          <a:solidFill>
            <a:srgbClr val="3FB950"/>
          </a:solidFill>
          <a:ln/>
        </p:spPr>
      </p:sp>
      <p:sp>
        <p:nvSpPr>
          <p:cNvPr id="12" name="Text 10"/>
          <p:cNvSpPr/>
          <p:nvPr/>
        </p:nvSpPr>
        <p:spPr>
          <a:xfrm>
            <a:off x="5760720" y="1755648"/>
            <a:ext cx="2834640" cy="34747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Success Criteria</a:t>
            </a:r>
            <a:endParaRPr lang="en-US" sz="1300" dirty="0"/>
          </a:p>
        </p:txBody>
      </p:sp>
      <p:sp>
        <p:nvSpPr>
          <p:cNvPr id="13" name="Text 11"/>
          <p:cNvSpPr/>
          <p:nvPr/>
        </p:nvSpPr>
        <p:spPr>
          <a:xfrm>
            <a:off x="5760720" y="2148840"/>
            <a:ext cx="2834640" cy="22860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Stack starts without errors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UI loads at localhost:7860</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Sample data ingested</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Questions return answers with sources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Can explain the RAG flow</a:t>
            </a:r>
            <a:endParaRPr lang="en-US" sz="1050" dirty="0"/>
          </a:p>
        </p:txBody>
      </p:sp>
      <p:sp>
        <p:nvSpPr>
          <p:cNvPr id="14" name="Shape 12"/>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5" name="Text 13"/>
          <p:cNvSpPr/>
          <p:nvPr/>
        </p:nvSpPr>
        <p:spPr>
          <a:xfrm>
            <a:off x="548640" y="4663440"/>
            <a:ext cx="8046720" cy="292608"/>
          </a:xfrm>
          <a:prstGeom prst="rect">
            <a:avLst/>
          </a:prstGeom>
          <a:noFill/>
          <a:ln/>
        </p:spPr>
        <p:txBody>
          <a:bodyPr wrap="square" rtlCol="0" anchor="ctr"/>
          <a:lstStyle/>
          <a:p>
            <a:pPr indent="0" marL="0">
              <a:buNone/>
            </a:pPr>
            <a:r>
              <a:rPr lang="en-US" sz="1000" dirty="0">
                <a:solidFill>
                  <a:srgbClr val="00D4AA"/>
                </a:solidFill>
                <a:latin typeface="Calibri" pitchFamily="34" charset="0"/>
                <a:ea typeface="Calibri" pitchFamily="34" charset="-122"/>
                <a:cs typeface="Calibri" pitchFamily="34" charset="-120"/>
              </a:rPr>
              <a:t>Exposed to host: localhost:7860 (Gradio)  ·  localhost:8088 (NGINX)     Everything else: internal Docker network only</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2</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2 — Setup &amp; First Boot</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Verify Docker · Create .env · Start the stack · Confirm everything is running</a:t>
            </a:r>
            <a:endParaRPr lang="en-US" sz="1100" dirty="0"/>
          </a:p>
        </p:txBody>
      </p:sp>
      <p:sp>
        <p:nvSpPr>
          <p:cNvPr id="6" name="Shape 4"/>
          <p:cNvSpPr/>
          <p:nvPr/>
        </p:nvSpPr>
        <p:spPr>
          <a:xfrm>
            <a:off x="365760" y="166420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384048" cy="841248"/>
          </a:xfrm>
          <a:prstGeom prst="rect">
            <a:avLst/>
          </a:prstGeom>
          <a:solidFill>
            <a:srgbClr val="79C0FF"/>
          </a:solidFill>
          <a:ln/>
        </p:spPr>
      </p:sp>
      <p:sp>
        <p:nvSpPr>
          <p:cNvPr id="8" name="Text 6"/>
          <p:cNvSpPr/>
          <p:nvPr/>
        </p:nvSpPr>
        <p:spPr>
          <a:xfrm>
            <a:off x="365760" y="191109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1</a:t>
            </a:r>
            <a:endParaRPr lang="en-US" sz="1600" dirty="0"/>
          </a:p>
        </p:txBody>
      </p:sp>
      <p:sp>
        <p:nvSpPr>
          <p:cNvPr id="9" name="Text 7"/>
          <p:cNvSpPr/>
          <p:nvPr/>
        </p:nvSpPr>
        <p:spPr>
          <a:xfrm>
            <a:off x="868680" y="1719072"/>
            <a:ext cx="1828800" cy="274320"/>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Verify Docker</a:t>
            </a:r>
            <a:endParaRPr lang="en-US" sz="1100" dirty="0"/>
          </a:p>
        </p:txBody>
      </p:sp>
      <p:sp>
        <p:nvSpPr>
          <p:cNvPr id="10" name="Text 8"/>
          <p:cNvSpPr/>
          <p:nvPr/>
        </p:nvSpPr>
        <p:spPr>
          <a:xfrm>
            <a:off x="868680" y="201168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docker --version</a:t>
            </a:r>
            <a:endParaRPr lang="en-US" sz="900" dirty="0"/>
          </a:p>
          <a:p>
            <a:pPr indent="0" marL="0">
              <a:buNone/>
            </a:pPr>
            <a:r>
              <a:rPr lang="en-US" sz="900" dirty="0">
                <a:solidFill>
                  <a:srgbClr val="79C0FF"/>
                </a:solidFill>
                <a:latin typeface="Consolas" pitchFamily="34" charset="0"/>
                <a:ea typeface="Consolas" pitchFamily="34" charset="-122"/>
                <a:cs typeface="Consolas" pitchFamily="34" charset="-120"/>
              </a:rPr>
              <a:t>docker compose version</a:t>
            </a:r>
            <a:endParaRPr lang="en-US" sz="900" dirty="0"/>
          </a:p>
        </p:txBody>
      </p:sp>
      <p:sp>
        <p:nvSpPr>
          <p:cNvPr id="11" name="Shape 9"/>
          <p:cNvSpPr/>
          <p:nvPr/>
        </p:nvSpPr>
        <p:spPr>
          <a:xfrm>
            <a:off x="4800600" y="166420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4800600" y="1664208"/>
            <a:ext cx="384048" cy="841248"/>
          </a:xfrm>
          <a:prstGeom prst="rect">
            <a:avLst/>
          </a:prstGeom>
          <a:solidFill>
            <a:srgbClr val="F78166"/>
          </a:solidFill>
          <a:ln/>
        </p:spPr>
      </p:sp>
      <p:sp>
        <p:nvSpPr>
          <p:cNvPr id="13" name="Text 11"/>
          <p:cNvSpPr/>
          <p:nvPr/>
        </p:nvSpPr>
        <p:spPr>
          <a:xfrm>
            <a:off x="4800600" y="191109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2</a:t>
            </a:r>
            <a:endParaRPr lang="en-US" sz="1600" dirty="0"/>
          </a:p>
        </p:txBody>
      </p:sp>
      <p:sp>
        <p:nvSpPr>
          <p:cNvPr id="14" name="Text 12"/>
          <p:cNvSpPr/>
          <p:nvPr/>
        </p:nvSpPr>
        <p:spPr>
          <a:xfrm>
            <a:off x="5303520" y="1719072"/>
            <a:ext cx="1828800" cy="274320"/>
          </a:xfrm>
          <a:prstGeom prst="rect">
            <a:avLst/>
          </a:prstGeom>
          <a:noFill/>
          <a:ln/>
        </p:spPr>
        <p:txBody>
          <a:bodyPr wrap="square"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Create .env</a:t>
            </a:r>
            <a:endParaRPr lang="en-US" sz="1100" dirty="0"/>
          </a:p>
        </p:txBody>
      </p:sp>
      <p:sp>
        <p:nvSpPr>
          <p:cNvPr id="15" name="Text 13"/>
          <p:cNvSpPr/>
          <p:nvPr/>
        </p:nvSpPr>
        <p:spPr>
          <a:xfrm>
            <a:off x="5303520" y="201168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cp .env.example .env</a:t>
            </a:r>
            <a:endParaRPr lang="en-US" sz="900" dirty="0"/>
          </a:p>
          <a:p>
            <a:pPr indent="0" marL="0">
              <a:buNone/>
            </a:pPr>
            <a:r>
              <a:rPr lang="en-US" sz="900" dirty="0">
                <a:solidFill>
                  <a:srgbClr val="79C0FF"/>
                </a:solidFill>
                <a:latin typeface="Consolas" pitchFamily="34" charset="0"/>
                <a:ea typeface="Consolas" pitchFamily="34" charset="-122"/>
                <a:cs typeface="Consolas" pitchFamily="34" charset="-120"/>
              </a:rPr>
              <a:t>nano .env  # set EDGE_API_KEY</a:t>
            </a:r>
            <a:endParaRPr lang="en-US" sz="900" dirty="0"/>
          </a:p>
        </p:txBody>
      </p:sp>
      <p:sp>
        <p:nvSpPr>
          <p:cNvPr id="16" name="Shape 14"/>
          <p:cNvSpPr/>
          <p:nvPr/>
        </p:nvSpPr>
        <p:spPr>
          <a:xfrm>
            <a:off x="365760" y="262432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7" name="Shape 15"/>
          <p:cNvSpPr/>
          <p:nvPr/>
        </p:nvSpPr>
        <p:spPr>
          <a:xfrm>
            <a:off x="365760" y="2624328"/>
            <a:ext cx="384048" cy="841248"/>
          </a:xfrm>
          <a:prstGeom prst="rect">
            <a:avLst/>
          </a:prstGeom>
          <a:solidFill>
            <a:srgbClr val="D29922"/>
          </a:solidFill>
          <a:ln/>
        </p:spPr>
      </p:sp>
      <p:sp>
        <p:nvSpPr>
          <p:cNvPr id="18" name="Text 16"/>
          <p:cNvSpPr/>
          <p:nvPr/>
        </p:nvSpPr>
        <p:spPr>
          <a:xfrm>
            <a:off x="365760" y="287121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3</a:t>
            </a:r>
            <a:endParaRPr lang="en-US" sz="1600" dirty="0"/>
          </a:p>
        </p:txBody>
      </p:sp>
      <p:sp>
        <p:nvSpPr>
          <p:cNvPr id="19" name="Text 17"/>
          <p:cNvSpPr/>
          <p:nvPr/>
        </p:nvSpPr>
        <p:spPr>
          <a:xfrm>
            <a:off x="868680" y="2679192"/>
            <a:ext cx="1828800" cy="274320"/>
          </a:xfrm>
          <a:prstGeom prst="rect">
            <a:avLst/>
          </a:prstGeom>
          <a:noFill/>
          <a:ln/>
        </p:spPr>
        <p:txBody>
          <a:bodyPr wrap="square"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Generate a secure key</a:t>
            </a:r>
            <a:endParaRPr lang="en-US" sz="1100" dirty="0"/>
          </a:p>
        </p:txBody>
      </p:sp>
      <p:sp>
        <p:nvSpPr>
          <p:cNvPr id="20" name="Text 18"/>
          <p:cNvSpPr/>
          <p:nvPr/>
        </p:nvSpPr>
        <p:spPr>
          <a:xfrm>
            <a:off x="868680" y="297180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python -c "import secrets; print(secrets.token_urlsafe(32))"</a:t>
            </a:r>
            <a:endParaRPr lang="en-US" sz="900" dirty="0"/>
          </a:p>
        </p:txBody>
      </p:sp>
      <p:sp>
        <p:nvSpPr>
          <p:cNvPr id="21" name="Shape 19"/>
          <p:cNvSpPr/>
          <p:nvPr/>
        </p:nvSpPr>
        <p:spPr>
          <a:xfrm>
            <a:off x="4800600" y="262432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2" name="Shape 20"/>
          <p:cNvSpPr/>
          <p:nvPr/>
        </p:nvSpPr>
        <p:spPr>
          <a:xfrm>
            <a:off x="4800600" y="2624328"/>
            <a:ext cx="384048" cy="841248"/>
          </a:xfrm>
          <a:prstGeom prst="rect">
            <a:avLst/>
          </a:prstGeom>
          <a:solidFill>
            <a:srgbClr val="00D4AA"/>
          </a:solidFill>
          <a:ln/>
        </p:spPr>
      </p:sp>
      <p:sp>
        <p:nvSpPr>
          <p:cNvPr id="23" name="Text 21"/>
          <p:cNvSpPr/>
          <p:nvPr/>
        </p:nvSpPr>
        <p:spPr>
          <a:xfrm>
            <a:off x="4800600" y="287121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4</a:t>
            </a:r>
            <a:endParaRPr lang="en-US" sz="1600" dirty="0"/>
          </a:p>
        </p:txBody>
      </p:sp>
      <p:sp>
        <p:nvSpPr>
          <p:cNvPr id="24" name="Text 22"/>
          <p:cNvSpPr/>
          <p:nvPr/>
        </p:nvSpPr>
        <p:spPr>
          <a:xfrm>
            <a:off x="5303520" y="2679192"/>
            <a:ext cx="1828800" cy="27432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Start the stack</a:t>
            </a:r>
            <a:endParaRPr lang="en-US" sz="1100" dirty="0"/>
          </a:p>
        </p:txBody>
      </p:sp>
      <p:sp>
        <p:nvSpPr>
          <p:cNvPr id="25" name="Text 23"/>
          <p:cNvSpPr/>
          <p:nvPr/>
        </p:nvSpPr>
        <p:spPr>
          <a:xfrm>
            <a:off x="5303520" y="297180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docker compose up -d --build</a:t>
            </a:r>
            <a:endParaRPr lang="en-US" sz="900" dirty="0"/>
          </a:p>
        </p:txBody>
      </p:sp>
      <p:sp>
        <p:nvSpPr>
          <p:cNvPr id="26" name="Shape 24"/>
          <p:cNvSpPr/>
          <p:nvPr/>
        </p:nvSpPr>
        <p:spPr>
          <a:xfrm>
            <a:off x="365760" y="358444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7" name="Shape 25"/>
          <p:cNvSpPr/>
          <p:nvPr/>
        </p:nvSpPr>
        <p:spPr>
          <a:xfrm>
            <a:off x="365760" y="3584448"/>
            <a:ext cx="384048" cy="841248"/>
          </a:xfrm>
          <a:prstGeom prst="rect">
            <a:avLst/>
          </a:prstGeom>
          <a:solidFill>
            <a:srgbClr val="3FB950"/>
          </a:solidFill>
          <a:ln/>
        </p:spPr>
      </p:sp>
      <p:sp>
        <p:nvSpPr>
          <p:cNvPr id="28" name="Text 26"/>
          <p:cNvSpPr/>
          <p:nvPr/>
        </p:nvSpPr>
        <p:spPr>
          <a:xfrm>
            <a:off x="365760" y="383133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5</a:t>
            </a:r>
            <a:endParaRPr lang="en-US" sz="1600" dirty="0"/>
          </a:p>
        </p:txBody>
      </p:sp>
      <p:sp>
        <p:nvSpPr>
          <p:cNvPr id="29" name="Text 27"/>
          <p:cNvSpPr/>
          <p:nvPr/>
        </p:nvSpPr>
        <p:spPr>
          <a:xfrm>
            <a:off x="868680" y="3639312"/>
            <a:ext cx="1828800" cy="274320"/>
          </a:xfrm>
          <a:prstGeom prst="rect">
            <a:avLst/>
          </a:prstGeom>
          <a:noFill/>
          <a:ln/>
        </p:spPr>
        <p:txBody>
          <a:bodyPr wrap="square" rtlCol="0" anchor="ctr"/>
          <a:lstStyle/>
          <a:p>
            <a:pPr indent="0" marL="0">
              <a:buNone/>
            </a:pPr>
            <a:r>
              <a:rPr lang="en-US" sz="1100" b="1" dirty="0">
                <a:solidFill>
                  <a:srgbClr val="3FB950"/>
                </a:solidFill>
                <a:latin typeface="Calibri" pitchFamily="34" charset="0"/>
                <a:ea typeface="Calibri" pitchFamily="34" charset="-122"/>
                <a:cs typeface="Calibri" pitchFamily="34" charset="-120"/>
              </a:rPr>
              <a:t>Check status</a:t>
            </a:r>
            <a:endParaRPr lang="en-US" sz="1100" dirty="0"/>
          </a:p>
        </p:txBody>
      </p:sp>
      <p:sp>
        <p:nvSpPr>
          <p:cNvPr id="30" name="Text 28"/>
          <p:cNvSpPr/>
          <p:nvPr/>
        </p:nvSpPr>
        <p:spPr>
          <a:xfrm>
            <a:off x="868680" y="393192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chmod +x bin/*.sh</a:t>
            </a:r>
            <a:endParaRPr lang="en-US" sz="900" dirty="0"/>
          </a:p>
          <a:p>
            <a:pPr indent="0" marL="0">
              <a:buNone/>
            </a:pPr>
            <a:r>
              <a:rPr lang="en-US" sz="900" dirty="0">
                <a:solidFill>
                  <a:srgbClr val="79C0FF"/>
                </a:solidFill>
                <a:latin typeface="Consolas" pitchFamily="34" charset="0"/>
                <a:ea typeface="Consolas" pitchFamily="34" charset="-122"/>
                <a:cs typeface="Consolas" pitchFamily="34" charset="-120"/>
              </a:rPr>
              <a:t>./bin/status.sh</a:t>
            </a:r>
            <a:endParaRPr lang="en-US" sz="900" dirty="0"/>
          </a:p>
        </p:txBody>
      </p:sp>
      <p:sp>
        <p:nvSpPr>
          <p:cNvPr id="31" name="Shape 29"/>
          <p:cNvSpPr/>
          <p:nvPr/>
        </p:nvSpPr>
        <p:spPr>
          <a:xfrm>
            <a:off x="4800600" y="3584448"/>
            <a:ext cx="4206240" cy="84124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32" name="Shape 30"/>
          <p:cNvSpPr/>
          <p:nvPr/>
        </p:nvSpPr>
        <p:spPr>
          <a:xfrm>
            <a:off x="4800600" y="3584448"/>
            <a:ext cx="384048" cy="841248"/>
          </a:xfrm>
          <a:prstGeom prst="rect">
            <a:avLst/>
          </a:prstGeom>
          <a:solidFill>
            <a:srgbClr val="BC8CFF"/>
          </a:solidFill>
          <a:ln/>
        </p:spPr>
      </p:sp>
      <p:sp>
        <p:nvSpPr>
          <p:cNvPr id="33" name="Text 31"/>
          <p:cNvSpPr/>
          <p:nvPr/>
        </p:nvSpPr>
        <p:spPr>
          <a:xfrm>
            <a:off x="4800600" y="3831336"/>
            <a:ext cx="384048" cy="347472"/>
          </a:xfrm>
          <a:prstGeom prst="rect">
            <a:avLst/>
          </a:prstGeom>
          <a:noFill/>
          <a:ln/>
        </p:spPr>
        <p:txBody>
          <a:bodyPr wrap="square" lIns="0" tIns="0" rIns="0" bIns="0" rtlCol="0" anchor="ctr"/>
          <a:lstStyle/>
          <a:p>
            <a:pPr algn="ctr" indent="0" marL="0">
              <a:buNone/>
            </a:pPr>
            <a:r>
              <a:rPr lang="en-US" sz="1600" b="1" dirty="0">
                <a:solidFill>
                  <a:srgbClr val="0D1117"/>
                </a:solidFill>
              </a:rPr>
              <a:t>6</a:t>
            </a:r>
            <a:endParaRPr lang="en-US" sz="1600" dirty="0"/>
          </a:p>
        </p:txBody>
      </p:sp>
      <p:sp>
        <p:nvSpPr>
          <p:cNvPr id="34" name="Text 32"/>
          <p:cNvSpPr/>
          <p:nvPr/>
        </p:nvSpPr>
        <p:spPr>
          <a:xfrm>
            <a:off x="5303520" y="3639312"/>
            <a:ext cx="1828800" cy="274320"/>
          </a:xfrm>
          <a:prstGeom prst="rect">
            <a:avLst/>
          </a:prstGeom>
          <a:noFill/>
          <a:ln/>
        </p:spPr>
        <p:txBody>
          <a:bodyPr wrap="square" rtlCol="0" anchor="ctr"/>
          <a:lstStyle/>
          <a:p>
            <a:pPr indent="0" marL="0">
              <a:buNone/>
            </a:pPr>
            <a:r>
              <a:rPr lang="en-US" sz="1100" b="1" dirty="0">
                <a:solidFill>
                  <a:srgbClr val="BC8CFF"/>
                </a:solidFill>
                <a:latin typeface="Calibri" pitchFamily="34" charset="0"/>
                <a:ea typeface="Calibri" pitchFamily="34" charset="-122"/>
                <a:cs typeface="Calibri" pitchFamily="34" charset="-120"/>
              </a:rPr>
              <a:t>Open the UI</a:t>
            </a:r>
            <a:endParaRPr lang="en-US" sz="1100" dirty="0"/>
          </a:p>
        </p:txBody>
      </p:sp>
      <p:sp>
        <p:nvSpPr>
          <p:cNvPr id="35" name="Text 33"/>
          <p:cNvSpPr/>
          <p:nvPr/>
        </p:nvSpPr>
        <p:spPr>
          <a:xfrm>
            <a:off x="5303520" y="3931920"/>
            <a:ext cx="3566160" cy="402336"/>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http://localhost:7860</a:t>
            </a:r>
            <a:endParaRPr lang="en-US" sz="900" dirty="0"/>
          </a:p>
        </p:txBody>
      </p:sp>
      <p:sp>
        <p:nvSpPr>
          <p:cNvPr id="36" name="Shape 34"/>
          <p:cNvSpPr/>
          <p:nvPr/>
        </p:nvSpPr>
        <p:spPr>
          <a:xfrm>
            <a:off x="365760" y="4617720"/>
            <a:ext cx="8412480" cy="384048"/>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37" name="Text 35"/>
          <p:cNvSpPr/>
          <p:nvPr/>
        </p:nvSpPr>
        <p:spPr>
          <a:xfrm>
            <a:off x="548640" y="4645152"/>
            <a:ext cx="8046720" cy="320040"/>
          </a:xfrm>
          <a:prstGeom prst="rect">
            <a:avLst/>
          </a:prstGeom>
          <a:noFill/>
          <a:ln/>
        </p:spPr>
        <p:txBody>
          <a:bodyPr wrap="square" rtlCol="0" anchor="ctr"/>
          <a:lstStyle/>
          <a:p>
            <a:pPr indent="0" marL="0">
              <a:buNone/>
            </a:pPr>
            <a:r>
              <a:rPr lang="en-US" sz="1000" dirty="0">
                <a:solidFill>
                  <a:srgbClr val="D29922"/>
                </a:solidFill>
                <a:latin typeface="Calibri" pitchFamily="34" charset="0"/>
                <a:ea typeface="Calibri" pitchFamily="34" charset="-122"/>
                <a:cs typeface="Calibri" pitchFamily="34" charset="-120"/>
              </a:rPr>
              <a:t>Common issues: Port already in use (7860/8088) · Docker Desktop memory too low (set 16GB+) · First boot pulls images — takes time</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3</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3 — Compose Architecture &amp; Resource Limits</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Read docker-compose.yml · Understand networking · Know what volumes store · Memory limits explained</a:t>
            </a:r>
            <a:endParaRPr lang="en-US" sz="1100" dirty="0"/>
          </a:p>
        </p:txBody>
      </p:sp>
      <p:sp>
        <p:nvSpPr>
          <p:cNvPr id="6" name="Shape 4"/>
          <p:cNvSpPr/>
          <p:nvPr/>
        </p:nvSpPr>
        <p:spPr>
          <a:xfrm>
            <a:off x="365760" y="1664208"/>
            <a:ext cx="4206240" cy="117043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170432"/>
          </a:xfrm>
          <a:prstGeom prst="rect">
            <a:avLst/>
          </a:prstGeom>
          <a:solidFill>
            <a:srgbClr val="00D4AA"/>
          </a:solidFill>
          <a:ln/>
        </p:spPr>
      </p:sp>
      <p:sp>
        <p:nvSpPr>
          <p:cNvPr id="8" name="Text 6"/>
          <p:cNvSpPr/>
          <p:nvPr/>
        </p:nvSpPr>
        <p:spPr>
          <a:xfrm>
            <a:off x="548640" y="1755648"/>
            <a:ext cx="384048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Services Section</a:t>
            </a:r>
            <a:endParaRPr lang="en-US" sz="1300" dirty="0"/>
          </a:p>
        </p:txBody>
      </p:sp>
      <p:sp>
        <p:nvSpPr>
          <p:cNvPr id="9" name="Text 7"/>
          <p:cNvSpPr/>
          <p:nvPr/>
        </p:nvSpPr>
        <p:spPr>
          <a:xfrm>
            <a:off x="548640" y="2103120"/>
            <a:ext cx="3840480" cy="64008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Each key under 'services:' is a container. Find qdrant, text2vec-transformers, ollama, ingestion-api, nginx, gradio-ui. Each has image, mem_limit, networks, and environment.</a:t>
            </a:r>
            <a:endParaRPr lang="en-US" sz="1000" dirty="0"/>
          </a:p>
        </p:txBody>
      </p:sp>
      <p:sp>
        <p:nvSpPr>
          <p:cNvPr id="10" name="Shape 8"/>
          <p:cNvSpPr/>
          <p:nvPr/>
        </p:nvSpPr>
        <p:spPr>
          <a:xfrm>
            <a:off x="4800600" y="1664208"/>
            <a:ext cx="4206240" cy="117043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800600" y="1664208"/>
            <a:ext cx="54864" cy="1170432"/>
          </a:xfrm>
          <a:prstGeom prst="rect">
            <a:avLst/>
          </a:prstGeom>
          <a:solidFill>
            <a:srgbClr val="79C0FF"/>
          </a:solidFill>
          <a:ln/>
        </p:spPr>
      </p:sp>
      <p:sp>
        <p:nvSpPr>
          <p:cNvPr id="12" name="Text 10"/>
          <p:cNvSpPr/>
          <p:nvPr/>
        </p:nvSpPr>
        <p:spPr>
          <a:xfrm>
            <a:off x="4983480" y="1755648"/>
            <a:ext cx="3840480" cy="320040"/>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Networks Section</a:t>
            </a:r>
            <a:endParaRPr lang="en-US" sz="1300" dirty="0"/>
          </a:p>
        </p:txBody>
      </p:sp>
      <p:sp>
        <p:nvSpPr>
          <p:cNvPr id="13" name="Text 11"/>
          <p:cNvSpPr/>
          <p:nvPr/>
        </p:nvSpPr>
        <p:spPr>
          <a:xfrm>
            <a:off x="4983480" y="2103120"/>
            <a:ext cx="3840480" cy="64008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All services join the 'internal' network. Docker assigns DNS by service name: qdrant:6333, ollama:11434. This is how containers call each other without hard-coded IPs.</a:t>
            </a:r>
            <a:endParaRPr lang="en-US" sz="1000" dirty="0"/>
          </a:p>
        </p:txBody>
      </p:sp>
      <p:sp>
        <p:nvSpPr>
          <p:cNvPr id="14" name="Shape 12"/>
          <p:cNvSpPr/>
          <p:nvPr/>
        </p:nvSpPr>
        <p:spPr>
          <a:xfrm>
            <a:off x="365760" y="2944368"/>
            <a:ext cx="4206240" cy="117043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5" name="Shape 13"/>
          <p:cNvSpPr/>
          <p:nvPr/>
        </p:nvSpPr>
        <p:spPr>
          <a:xfrm>
            <a:off x="365760" y="2944368"/>
            <a:ext cx="54864" cy="1170432"/>
          </a:xfrm>
          <a:prstGeom prst="rect">
            <a:avLst/>
          </a:prstGeom>
          <a:solidFill>
            <a:srgbClr val="D29922"/>
          </a:solidFill>
          <a:ln/>
        </p:spPr>
      </p:sp>
      <p:sp>
        <p:nvSpPr>
          <p:cNvPr id="16" name="Text 14"/>
          <p:cNvSpPr/>
          <p:nvPr/>
        </p:nvSpPr>
        <p:spPr>
          <a:xfrm>
            <a:off x="548640" y="3035808"/>
            <a:ext cx="3840480" cy="320040"/>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Volumes Section</a:t>
            </a:r>
            <a:endParaRPr lang="en-US" sz="1300" dirty="0"/>
          </a:p>
        </p:txBody>
      </p:sp>
      <p:sp>
        <p:nvSpPr>
          <p:cNvPr id="17" name="Text 15"/>
          <p:cNvSpPr/>
          <p:nvPr/>
        </p:nvSpPr>
        <p:spPr>
          <a:xfrm>
            <a:off x="548640" y="3383280"/>
            <a:ext cx="3840480" cy="64008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qdrant_data stores vectors + payloads. ollama_data stores model files. Both survive docker compose down. Only reset_all.sh deletes them.</a:t>
            </a:r>
            <a:endParaRPr lang="en-US" sz="1000" dirty="0"/>
          </a:p>
        </p:txBody>
      </p:sp>
      <p:sp>
        <p:nvSpPr>
          <p:cNvPr id="18" name="Shape 16"/>
          <p:cNvSpPr/>
          <p:nvPr/>
        </p:nvSpPr>
        <p:spPr>
          <a:xfrm>
            <a:off x="4800600" y="2944368"/>
            <a:ext cx="4206240" cy="117043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9" name="Shape 17"/>
          <p:cNvSpPr/>
          <p:nvPr/>
        </p:nvSpPr>
        <p:spPr>
          <a:xfrm>
            <a:off x="4800600" y="2944368"/>
            <a:ext cx="54864" cy="1170432"/>
          </a:xfrm>
          <a:prstGeom prst="rect">
            <a:avLst/>
          </a:prstGeom>
          <a:solidFill>
            <a:srgbClr val="F78166"/>
          </a:solidFill>
          <a:ln/>
        </p:spPr>
      </p:sp>
      <p:sp>
        <p:nvSpPr>
          <p:cNvPr id="20" name="Text 18"/>
          <p:cNvSpPr/>
          <p:nvPr/>
        </p:nvSpPr>
        <p:spPr>
          <a:xfrm>
            <a:off x="4983480" y="3035808"/>
            <a:ext cx="3840480" cy="320040"/>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Memory Limits</a:t>
            </a:r>
            <a:endParaRPr lang="en-US" sz="1300" dirty="0"/>
          </a:p>
        </p:txBody>
      </p:sp>
      <p:sp>
        <p:nvSpPr>
          <p:cNvPr id="21" name="Text 19"/>
          <p:cNvSpPr/>
          <p:nvPr/>
        </p:nvSpPr>
        <p:spPr>
          <a:xfrm>
            <a:off x="4983480" y="3383280"/>
            <a:ext cx="3840480" cy="64008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Qdrant and Ollama are capped at 8GB each. If Docker Desktop only has 8GB total, they compete. Use docker stats to monitor. Reduce to 4g if needed.</a:t>
            </a:r>
            <a:endParaRPr lang="en-US" sz="1000" dirty="0"/>
          </a:p>
        </p:txBody>
      </p:sp>
      <p:sp>
        <p:nvSpPr>
          <p:cNvPr id="22" name="Shape 20"/>
          <p:cNvSpPr/>
          <p:nvPr/>
        </p:nvSpPr>
        <p:spPr>
          <a:xfrm>
            <a:off x="365760" y="4617720"/>
            <a:ext cx="8412480" cy="384048"/>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23" name="Text 21"/>
          <p:cNvSpPr/>
          <p:nvPr/>
        </p:nvSpPr>
        <p:spPr>
          <a:xfrm>
            <a:off x="548640" y="4645152"/>
            <a:ext cx="8046720" cy="292608"/>
          </a:xfrm>
          <a:prstGeom prst="rect">
            <a:avLst/>
          </a:prstGeom>
          <a:noFill/>
          <a:ln/>
        </p:spPr>
        <p:txBody>
          <a:bodyPr wrap="square" rtlCol="0" anchor="ctr"/>
          <a:lstStyle/>
          <a:p>
            <a:pPr indent="0" marL="0">
              <a:buNone/>
            </a:pPr>
            <a:r>
              <a:rPr lang="en-US" sz="1000" dirty="0">
                <a:solidFill>
                  <a:srgbClr val="79C0FF"/>
                </a:solidFill>
                <a:latin typeface="Consolas" pitchFamily="34" charset="0"/>
                <a:ea typeface="Consolas" pitchFamily="34" charset="-122"/>
                <a:cs typeface="Consolas" pitchFamily="34" charset="-120"/>
              </a:rPr>
              <a:t>Key commands:  docker compose ps  ·  docker stats  ·  docker compose logs &lt;service&gt; --tail=200</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 — Edge Authentication with NGINX</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Understand what an edge proxy does · Test 401/403/200 · Understand defense in depth</a:t>
            </a:r>
            <a:endParaRPr lang="en-US" sz="1100" dirty="0"/>
          </a:p>
        </p:txBody>
      </p:sp>
      <p:sp>
        <p:nvSpPr>
          <p:cNvPr id="6" name="Shape 4"/>
          <p:cNvSpPr/>
          <p:nvPr/>
        </p:nvSpPr>
        <p:spPr>
          <a:xfrm>
            <a:off x="365760" y="1664208"/>
            <a:ext cx="2743200" cy="22860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2743200" cy="64008"/>
          </a:xfrm>
          <a:prstGeom prst="rect">
            <a:avLst/>
          </a:prstGeom>
          <a:solidFill>
            <a:srgbClr val="F78166"/>
          </a:solidFill>
          <a:ln/>
        </p:spPr>
      </p:sp>
      <p:sp>
        <p:nvSpPr>
          <p:cNvPr id="8" name="Text 6"/>
          <p:cNvSpPr/>
          <p:nvPr/>
        </p:nvSpPr>
        <p:spPr>
          <a:xfrm>
            <a:off x="548640" y="1783080"/>
            <a:ext cx="2377440" cy="347472"/>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HTTP Status Codes</a:t>
            </a:r>
            <a:endParaRPr lang="en-US" sz="1300" dirty="0"/>
          </a:p>
        </p:txBody>
      </p:sp>
      <p:sp>
        <p:nvSpPr>
          <p:cNvPr id="9" name="Shape 7"/>
          <p:cNvSpPr/>
          <p:nvPr/>
        </p:nvSpPr>
        <p:spPr>
          <a:xfrm>
            <a:off x="548640" y="2212848"/>
            <a:ext cx="457200" cy="347472"/>
          </a:xfrm>
          <a:prstGeom prst="rect">
            <a:avLst/>
          </a:prstGeom>
          <a:solidFill>
            <a:srgbClr val="3FB950"/>
          </a:solidFill>
          <a:ln/>
        </p:spPr>
      </p:sp>
      <p:sp>
        <p:nvSpPr>
          <p:cNvPr id="10" name="Text 8"/>
          <p:cNvSpPr/>
          <p:nvPr/>
        </p:nvSpPr>
        <p:spPr>
          <a:xfrm>
            <a:off x="548640" y="2212848"/>
            <a:ext cx="457200" cy="347472"/>
          </a:xfrm>
          <a:prstGeom prst="rect">
            <a:avLst/>
          </a:prstGeom>
          <a:noFill/>
          <a:ln/>
        </p:spPr>
        <p:txBody>
          <a:bodyPr wrap="square" lIns="0" tIns="0" rIns="0" bIns="0" rtlCol="0" anchor="ctr"/>
          <a:lstStyle/>
          <a:p>
            <a:pPr algn="ctr" indent="0" marL="0">
              <a:buNone/>
            </a:pPr>
            <a:r>
              <a:rPr lang="en-US" sz="1300" b="1" dirty="0">
                <a:solidFill>
                  <a:srgbClr val="0D1117"/>
                </a:solidFill>
              </a:rPr>
              <a:t>200</a:t>
            </a:r>
            <a:endParaRPr lang="en-US" sz="1300" dirty="0"/>
          </a:p>
        </p:txBody>
      </p:sp>
      <p:sp>
        <p:nvSpPr>
          <p:cNvPr id="11" name="Text 9"/>
          <p:cNvSpPr/>
          <p:nvPr/>
        </p:nvSpPr>
        <p:spPr>
          <a:xfrm>
            <a:off x="1078992" y="2249424"/>
            <a:ext cx="1828800" cy="2743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OK — authenticated and successful</a:t>
            </a:r>
            <a:endParaRPr lang="en-US" sz="1000" dirty="0"/>
          </a:p>
        </p:txBody>
      </p:sp>
      <p:sp>
        <p:nvSpPr>
          <p:cNvPr id="12" name="Shape 10"/>
          <p:cNvSpPr/>
          <p:nvPr/>
        </p:nvSpPr>
        <p:spPr>
          <a:xfrm>
            <a:off x="548640" y="2706624"/>
            <a:ext cx="457200" cy="347472"/>
          </a:xfrm>
          <a:prstGeom prst="rect">
            <a:avLst/>
          </a:prstGeom>
          <a:solidFill>
            <a:srgbClr val="D29922"/>
          </a:solidFill>
          <a:ln/>
        </p:spPr>
      </p:sp>
      <p:sp>
        <p:nvSpPr>
          <p:cNvPr id="13" name="Text 11"/>
          <p:cNvSpPr/>
          <p:nvPr/>
        </p:nvSpPr>
        <p:spPr>
          <a:xfrm>
            <a:off x="548640" y="2706624"/>
            <a:ext cx="457200" cy="347472"/>
          </a:xfrm>
          <a:prstGeom prst="rect">
            <a:avLst/>
          </a:prstGeom>
          <a:noFill/>
          <a:ln/>
        </p:spPr>
        <p:txBody>
          <a:bodyPr wrap="square" lIns="0" tIns="0" rIns="0" bIns="0" rtlCol="0" anchor="ctr"/>
          <a:lstStyle/>
          <a:p>
            <a:pPr algn="ctr" indent="0" marL="0">
              <a:buNone/>
            </a:pPr>
            <a:r>
              <a:rPr lang="en-US" sz="1300" b="1" dirty="0">
                <a:solidFill>
                  <a:srgbClr val="0D1117"/>
                </a:solidFill>
              </a:rPr>
              <a:t>401</a:t>
            </a:r>
            <a:endParaRPr lang="en-US" sz="1300" dirty="0"/>
          </a:p>
        </p:txBody>
      </p:sp>
      <p:sp>
        <p:nvSpPr>
          <p:cNvPr id="14" name="Text 12"/>
          <p:cNvSpPr/>
          <p:nvPr/>
        </p:nvSpPr>
        <p:spPr>
          <a:xfrm>
            <a:off x="1078992" y="2743200"/>
            <a:ext cx="1828800" cy="2743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Unauthorized — key is MISSING</a:t>
            </a:r>
            <a:endParaRPr lang="en-US" sz="1000" dirty="0"/>
          </a:p>
        </p:txBody>
      </p:sp>
      <p:sp>
        <p:nvSpPr>
          <p:cNvPr id="15" name="Shape 13"/>
          <p:cNvSpPr/>
          <p:nvPr/>
        </p:nvSpPr>
        <p:spPr>
          <a:xfrm>
            <a:off x="548640" y="3200400"/>
            <a:ext cx="457200" cy="347472"/>
          </a:xfrm>
          <a:prstGeom prst="rect">
            <a:avLst/>
          </a:prstGeom>
          <a:solidFill>
            <a:srgbClr val="F78166"/>
          </a:solidFill>
          <a:ln/>
        </p:spPr>
      </p:sp>
      <p:sp>
        <p:nvSpPr>
          <p:cNvPr id="16" name="Text 14"/>
          <p:cNvSpPr/>
          <p:nvPr/>
        </p:nvSpPr>
        <p:spPr>
          <a:xfrm>
            <a:off x="548640" y="3200400"/>
            <a:ext cx="457200" cy="347472"/>
          </a:xfrm>
          <a:prstGeom prst="rect">
            <a:avLst/>
          </a:prstGeom>
          <a:noFill/>
          <a:ln/>
        </p:spPr>
        <p:txBody>
          <a:bodyPr wrap="square" lIns="0" tIns="0" rIns="0" bIns="0" rtlCol="0" anchor="ctr"/>
          <a:lstStyle/>
          <a:p>
            <a:pPr algn="ctr" indent="0" marL="0">
              <a:buNone/>
            </a:pPr>
            <a:r>
              <a:rPr lang="en-US" sz="1300" b="1" dirty="0">
                <a:solidFill>
                  <a:srgbClr val="0D1117"/>
                </a:solidFill>
              </a:rPr>
              <a:t>403</a:t>
            </a:r>
            <a:endParaRPr lang="en-US" sz="1300" dirty="0"/>
          </a:p>
        </p:txBody>
      </p:sp>
      <p:sp>
        <p:nvSpPr>
          <p:cNvPr id="17" name="Text 15"/>
          <p:cNvSpPr/>
          <p:nvPr/>
        </p:nvSpPr>
        <p:spPr>
          <a:xfrm>
            <a:off x="1078992" y="3236976"/>
            <a:ext cx="1828800" cy="2743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Forbidden — key is WRONG</a:t>
            </a:r>
            <a:endParaRPr lang="en-US" sz="1000" dirty="0"/>
          </a:p>
        </p:txBody>
      </p:sp>
      <p:sp>
        <p:nvSpPr>
          <p:cNvPr id="18" name="Shape 16"/>
          <p:cNvSpPr/>
          <p:nvPr/>
        </p:nvSpPr>
        <p:spPr>
          <a:xfrm>
            <a:off x="3291840" y="1664208"/>
            <a:ext cx="5486400" cy="22860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9" name="Shape 17"/>
          <p:cNvSpPr/>
          <p:nvPr/>
        </p:nvSpPr>
        <p:spPr>
          <a:xfrm>
            <a:off x="3291840" y="1664208"/>
            <a:ext cx="54864" cy="2286000"/>
          </a:xfrm>
          <a:prstGeom prst="rect">
            <a:avLst/>
          </a:prstGeom>
          <a:solidFill>
            <a:srgbClr val="00D4AA"/>
          </a:solidFill>
          <a:ln/>
        </p:spPr>
      </p:sp>
      <p:sp>
        <p:nvSpPr>
          <p:cNvPr id="20" name="Text 18"/>
          <p:cNvSpPr/>
          <p:nvPr/>
        </p:nvSpPr>
        <p:spPr>
          <a:xfrm>
            <a:off x="3474720" y="1755648"/>
            <a:ext cx="512064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Test the auth layer</a:t>
            </a:r>
            <a:endParaRPr lang="en-US" sz="1300" dirty="0"/>
          </a:p>
        </p:txBody>
      </p:sp>
      <p:sp>
        <p:nvSpPr>
          <p:cNvPr id="21" name="Shape 19"/>
          <p:cNvSpPr/>
          <p:nvPr/>
        </p:nvSpPr>
        <p:spPr>
          <a:xfrm>
            <a:off x="3291840" y="2084832"/>
            <a:ext cx="5486400" cy="1783080"/>
          </a:xfrm>
          <a:prstGeom prst="rect">
            <a:avLst/>
          </a:prstGeom>
          <a:solidFill>
            <a:srgbClr val="010409"/>
          </a:solidFill>
          <a:ln/>
        </p:spPr>
      </p:sp>
      <p:sp>
        <p:nvSpPr>
          <p:cNvPr id="22" name="Text 20"/>
          <p:cNvSpPr/>
          <p:nvPr/>
        </p:nvSpPr>
        <p:spPr>
          <a:xfrm>
            <a:off x="3429000" y="2130552"/>
            <a:ext cx="5212080" cy="169164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No key → 401</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-i http://localhost:8088/health</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Wrong key → 403</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-i -H "X-API-Key: wrong" http://localhost:8088/health</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Correct key → 200</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EDGE_API_KEY=$(grep -E '^EDGE_API_KEY=' .env | cut -d= -f2-)</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-i -H "X-API-Key: $EDGE_API_KEY" http://localhost:8088/health</a:t>
            </a:r>
            <a:endParaRPr lang="en-US" sz="1000" dirty="0"/>
          </a:p>
        </p:txBody>
      </p:sp>
      <p:sp>
        <p:nvSpPr>
          <p:cNvPr id="23" name="Shape 21"/>
          <p:cNvSpPr/>
          <p:nvPr/>
        </p:nvSpPr>
        <p:spPr>
          <a:xfrm>
            <a:off x="365760" y="4041648"/>
            <a:ext cx="841248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4" name="Shape 22"/>
          <p:cNvSpPr/>
          <p:nvPr/>
        </p:nvSpPr>
        <p:spPr>
          <a:xfrm>
            <a:off x="365760" y="4041648"/>
            <a:ext cx="54864" cy="804672"/>
          </a:xfrm>
          <a:prstGeom prst="rect">
            <a:avLst/>
          </a:prstGeom>
          <a:solidFill>
            <a:srgbClr val="00D4AA"/>
          </a:solidFill>
          <a:ln/>
        </p:spPr>
      </p:sp>
      <p:sp>
        <p:nvSpPr>
          <p:cNvPr id="25" name="Text 23"/>
          <p:cNvSpPr/>
          <p:nvPr/>
        </p:nvSpPr>
        <p:spPr>
          <a:xfrm>
            <a:off x="548640" y="4133088"/>
            <a:ext cx="8046720" cy="320040"/>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Defense in Depth</a:t>
            </a:r>
            <a:endParaRPr lang="en-US" sz="1300" dirty="0"/>
          </a:p>
        </p:txBody>
      </p:sp>
      <p:sp>
        <p:nvSpPr>
          <p:cNvPr id="26" name="Text 24"/>
          <p:cNvSpPr/>
          <p:nvPr/>
        </p:nvSpPr>
        <p:spPr>
          <a:xfrm>
            <a:off x="548640" y="4480560"/>
            <a:ext cx="8046720" cy="29260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NGINX checks the key at the edge AND FastAPI checks it again inside the API (require_api_key()). Two independent layers means one misconfiguration doesn't expose the system. This is how production systems are designed.</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5</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5 — Qdrant Schema &amp; Vectorization</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Understand how Qdrant stores data · Verify readiness · Safely extend the schema with tags</a:t>
            </a:r>
            <a:endParaRPr lang="en-US" sz="1100" dirty="0"/>
          </a:p>
        </p:txBody>
      </p:sp>
      <p:sp>
        <p:nvSpPr>
          <p:cNvPr id="6" name="Shape 4"/>
          <p:cNvSpPr/>
          <p:nvPr/>
        </p:nvSpPr>
        <p:spPr>
          <a:xfrm>
            <a:off x="365760" y="1664208"/>
            <a:ext cx="4114800" cy="16459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645920"/>
          </a:xfrm>
          <a:prstGeom prst="rect">
            <a:avLst/>
          </a:prstGeom>
          <a:solidFill>
            <a:srgbClr val="00D4AA"/>
          </a:solidFill>
          <a:ln/>
        </p:spPr>
      </p:sp>
      <p:sp>
        <p:nvSpPr>
          <p:cNvPr id="8" name="Text 6"/>
          <p:cNvSpPr/>
          <p:nvPr/>
        </p:nvSpPr>
        <p:spPr>
          <a:xfrm>
            <a:off x="548640" y="1755648"/>
            <a:ext cx="374904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Key Architectural Difference</a:t>
            </a:r>
            <a:endParaRPr lang="en-US" sz="1300" dirty="0"/>
          </a:p>
        </p:txBody>
      </p:sp>
      <p:sp>
        <p:nvSpPr>
          <p:cNvPr id="9" name="Text 7"/>
          <p:cNvSpPr/>
          <p:nvPr/>
        </p:nvSpPr>
        <p:spPr>
          <a:xfrm>
            <a:off x="548640" y="2148840"/>
            <a:ext cx="3749040" cy="105156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Qdrant has no strict database schema — it stores any JSON payload</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No schema migration required when adding new fields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Only the API validation model (schemas.py) needs updating</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Qdrant automatically stores whatever JSON you send</a:t>
            </a:r>
            <a:endParaRPr lang="en-US" sz="1050" dirty="0"/>
          </a:p>
        </p:txBody>
      </p:sp>
      <p:sp>
        <p:nvSpPr>
          <p:cNvPr id="10" name="Shape 8"/>
          <p:cNvSpPr/>
          <p:nvPr/>
        </p:nvSpPr>
        <p:spPr>
          <a:xfrm>
            <a:off x="4663440" y="1664208"/>
            <a:ext cx="4114800" cy="16459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663440" y="1664208"/>
            <a:ext cx="54864" cy="1645920"/>
          </a:xfrm>
          <a:prstGeom prst="rect">
            <a:avLst/>
          </a:prstGeom>
          <a:solidFill>
            <a:srgbClr val="79C0FF"/>
          </a:solidFill>
          <a:ln/>
        </p:spPr>
      </p:sp>
      <p:sp>
        <p:nvSpPr>
          <p:cNvPr id="12" name="Text 10"/>
          <p:cNvSpPr/>
          <p:nvPr/>
        </p:nvSpPr>
        <p:spPr>
          <a:xfrm>
            <a:off x="4846320" y="1755648"/>
            <a:ext cx="374904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Adding the tags Field</a:t>
            </a:r>
            <a:endParaRPr lang="en-US" sz="1300" dirty="0"/>
          </a:p>
        </p:txBody>
      </p:sp>
      <p:sp>
        <p:nvSpPr>
          <p:cNvPr id="13" name="Shape 11"/>
          <p:cNvSpPr/>
          <p:nvPr/>
        </p:nvSpPr>
        <p:spPr>
          <a:xfrm>
            <a:off x="4663440" y="2148840"/>
            <a:ext cx="4114800" cy="1005840"/>
          </a:xfrm>
          <a:prstGeom prst="rect">
            <a:avLst/>
          </a:prstGeom>
          <a:solidFill>
            <a:srgbClr val="010409"/>
          </a:solidFill>
          <a:ln/>
        </p:spPr>
      </p:sp>
      <p:sp>
        <p:nvSpPr>
          <p:cNvPr id="14" name="Text 12"/>
          <p:cNvSpPr/>
          <p:nvPr/>
        </p:nvSpPr>
        <p:spPr>
          <a:xfrm>
            <a:off x="4800600" y="2194560"/>
            <a:ext cx="3840480" cy="9144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schemas.py — add tags field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class ArticleIn(BaseModel):</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title: str</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url: str</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tags: list[str] = []  # new!</a:t>
            </a:r>
            <a:endParaRPr lang="en-US" sz="1000" dirty="0"/>
          </a:p>
        </p:txBody>
      </p:sp>
      <p:sp>
        <p:nvSpPr>
          <p:cNvPr id="15" name="Shape 13"/>
          <p:cNvSpPr/>
          <p:nvPr/>
        </p:nvSpPr>
        <p:spPr>
          <a:xfrm>
            <a:off x="365760" y="3401568"/>
            <a:ext cx="8412480" cy="13716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4"/>
          <p:cNvSpPr/>
          <p:nvPr/>
        </p:nvSpPr>
        <p:spPr>
          <a:xfrm>
            <a:off x="365760" y="3401568"/>
            <a:ext cx="54864" cy="1371600"/>
          </a:xfrm>
          <a:prstGeom prst="rect">
            <a:avLst/>
          </a:prstGeom>
          <a:solidFill>
            <a:srgbClr val="D29922"/>
          </a:solidFill>
          <a:ln/>
        </p:spPr>
      </p:sp>
      <p:sp>
        <p:nvSpPr>
          <p:cNvPr id="17" name="Text 15"/>
          <p:cNvSpPr/>
          <p:nvPr/>
        </p:nvSpPr>
        <p:spPr>
          <a:xfrm>
            <a:off x="548640" y="3493008"/>
            <a:ext cx="8046720" cy="347472"/>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Verify Qdrant is ready and rebuild after schema changes</a:t>
            </a:r>
            <a:endParaRPr lang="en-US" sz="1300" dirty="0"/>
          </a:p>
        </p:txBody>
      </p:sp>
      <p:sp>
        <p:nvSpPr>
          <p:cNvPr id="18" name="Shape 16"/>
          <p:cNvSpPr/>
          <p:nvPr/>
        </p:nvSpPr>
        <p:spPr>
          <a:xfrm>
            <a:off x="365760" y="3858768"/>
            <a:ext cx="8412480" cy="804672"/>
          </a:xfrm>
          <a:prstGeom prst="rect">
            <a:avLst/>
          </a:prstGeom>
          <a:solidFill>
            <a:srgbClr val="010409"/>
          </a:solidFill>
          <a:ln/>
        </p:spPr>
      </p:sp>
      <p:sp>
        <p:nvSpPr>
          <p:cNvPr id="19" name="Text 17"/>
          <p:cNvSpPr/>
          <p:nvPr/>
        </p:nvSpPr>
        <p:spPr>
          <a:xfrm>
            <a:off x="502920" y="3904488"/>
            <a:ext cx="8138160" cy="713232"/>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Verify Qdrant is reachable from inside the API container</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exec -i ingestion-api python -c "import urllib.request; print(urllib.request.urlopen('http://qdrant:6333/healthz').read().decode())"</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After modifying schemas.py — always rebuild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compose up -d --build ingestion-api</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6</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6 — Ingestion API (Part 1): Validate &amp; Ingest</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Understand why an API layer exists · Ingest documents · Trigger validation errors intentionally</a:t>
            </a:r>
            <a:endParaRPr lang="en-US" sz="1100" dirty="0"/>
          </a:p>
        </p:txBody>
      </p:sp>
      <p:sp>
        <p:nvSpPr>
          <p:cNvPr id="6" name="Shape 4"/>
          <p:cNvSpPr/>
          <p:nvPr/>
        </p:nvSpPr>
        <p:spPr>
          <a:xfrm>
            <a:off x="365760" y="1664208"/>
            <a:ext cx="4023360" cy="16916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691640"/>
          </a:xfrm>
          <a:prstGeom prst="rect">
            <a:avLst/>
          </a:prstGeom>
          <a:solidFill>
            <a:srgbClr val="00D4AA"/>
          </a:solidFill>
          <a:ln/>
        </p:spPr>
      </p:sp>
      <p:sp>
        <p:nvSpPr>
          <p:cNvPr id="8" name="Text 6"/>
          <p:cNvSpPr/>
          <p:nvPr/>
        </p:nvSpPr>
        <p:spPr>
          <a:xfrm>
            <a:off x="548640" y="1755648"/>
            <a:ext cx="365760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Why an Ingestion API?</a:t>
            </a:r>
            <a:endParaRPr lang="en-US" sz="1300" dirty="0"/>
          </a:p>
        </p:txBody>
      </p:sp>
      <p:sp>
        <p:nvSpPr>
          <p:cNvPr id="9" name="Text 7"/>
          <p:cNvSpPr/>
          <p:nvPr/>
        </p:nvSpPr>
        <p:spPr>
          <a:xfrm>
            <a:off x="548640" y="2148840"/>
            <a:ext cx="3657600" cy="10972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Validate input shape before touching the database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Reject bad data early (422 Unprocessable Entity)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Enforce authentication consistently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Single control point for logging, auditing, rate limiting</a:t>
            </a:r>
            <a:endParaRPr lang="en-US" sz="1050" dirty="0"/>
          </a:p>
        </p:txBody>
      </p:sp>
      <p:sp>
        <p:nvSpPr>
          <p:cNvPr id="10" name="Shape 8"/>
          <p:cNvSpPr/>
          <p:nvPr/>
        </p:nvSpPr>
        <p:spPr>
          <a:xfrm>
            <a:off x="4526280" y="1664208"/>
            <a:ext cx="4251960" cy="16916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526280" y="1664208"/>
            <a:ext cx="54864" cy="1691640"/>
          </a:xfrm>
          <a:prstGeom prst="rect">
            <a:avLst/>
          </a:prstGeom>
          <a:solidFill>
            <a:srgbClr val="79C0FF"/>
          </a:solidFill>
          <a:ln/>
        </p:spPr>
      </p:sp>
      <p:sp>
        <p:nvSpPr>
          <p:cNvPr id="12" name="Text 10"/>
          <p:cNvSpPr/>
          <p:nvPr/>
        </p:nvSpPr>
        <p:spPr>
          <a:xfrm>
            <a:off x="4709160" y="1755648"/>
            <a:ext cx="384048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Ingest the Sample Dataset</a:t>
            </a:r>
            <a:endParaRPr lang="en-US" sz="1300" dirty="0"/>
          </a:p>
        </p:txBody>
      </p:sp>
      <p:sp>
        <p:nvSpPr>
          <p:cNvPr id="13" name="Shape 11"/>
          <p:cNvSpPr/>
          <p:nvPr/>
        </p:nvSpPr>
        <p:spPr>
          <a:xfrm>
            <a:off x="4526280" y="2148840"/>
            <a:ext cx="4251960" cy="1097280"/>
          </a:xfrm>
          <a:prstGeom prst="rect">
            <a:avLst/>
          </a:prstGeom>
          <a:solidFill>
            <a:srgbClr val="010409"/>
          </a:solidFill>
          <a:ln/>
        </p:spPr>
      </p:sp>
      <p:sp>
        <p:nvSpPr>
          <p:cNvPr id="14" name="Text 12"/>
          <p:cNvSpPr/>
          <p:nvPr/>
        </p:nvSpPr>
        <p:spPr>
          <a:xfrm>
            <a:off x="4663440" y="2194560"/>
            <a:ext cx="3977640" cy="100584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Load API key</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EDGE_API_KEY=$(grep -E '^EDGE_API_KEY=' .env | cut -d= -f2-)</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Ingest all sample articles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./bin/ingest_sample.sh</a:t>
            </a:r>
            <a:endParaRPr lang="en-US" sz="1000" dirty="0"/>
          </a:p>
        </p:txBody>
      </p:sp>
      <p:sp>
        <p:nvSpPr>
          <p:cNvPr id="15" name="Shape 13"/>
          <p:cNvSpPr/>
          <p:nvPr/>
        </p:nvSpPr>
        <p:spPr>
          <a:xfrm>
            <a:off x="365760" y="3429000"/>
            <a:ext cx="8412480" cy="14173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4"/>
          <p:cNvSpPr/>
          <p:nvPr/>
        </p:nvSpPr>
        <p:spPr>
          <a:xfrm>
            <a:off x="365760" y="3429000"/>
            <a:ext cx="54864" cy="1417320"/>
          </a:xfrm>
          <a:prstGeom prst="rect">
            <a:avLst/>
          </a:prstGeom>
          <a:solidFill>
            <a:srgbClr val="F78166"/>
          </a:solidFill>
          <a:ln/>
        </p:spPr>
      </p:sp>
      <p:sp>
        <p:nvSpPr>
          <p:cNvPr id="17" name="Text 15"/>
          <p:cNvSpPr/>
          <p:nvPr/>
        </p:nvSpPr>
        <p:spPr>
          <a:xfrm>
            <a:off x="548640" y="3520440"/>
            <a:ext cx="8046720" cy="347472"/>
          </a:xfrm>
          <a:prstGeom prst="rect">
            <a:avLst/>
          </a:prstGeom>
          <a:noFill/>
          <a:ln/>
        </p:spPr>
        <p:txBody>
          <a:bodyPr wrap="square" rtlCol="0" anchor="ctr"/>
          <a:lstStyle/>
          <a:p>
            <a:pPr indent="0" marL="0">
              <a:buNone/>
            </a:pPr>
            <a:r>
              <a:rPr lang="en-US" sz="1300" b="1" dirty="0">
                <a:solidFill>
                  <a:srgbClr val="F78166"/>
                </a:solidFill>
                <a:latin typeface="Calibri" pitchFamily="34" charset="0"/>
                <a:ea typeface="Calibri" pitchFamily="34" charset="-122"/>
                <a:cs typeface="Calibri" pitchFamily="34" charset="-120"/>
              </a:rPr>
              <a:t>Trigger a Validation Error on Purpose (422)</a:t>
            </a:r>
            <a:endParaRPr lang="en-US" sz="1300" dirty="0"/>
          </a:p>
        </p:txBody>
      </p:sp>
      <p:sp>
        <p:nvSpPr>
          <p:cNvPr id="18" name="Shape 16"/>
          <p:cNvSpPr/>
          <p:nvPr/>
        </p:nvSpPr>
        <p:spPr>
          <a:xfrm>
            <a:off x="365760" y="3886200"/>
            <a:ext cx="8412480" cy="804672"/>
          </a:xfrm>
          <a:prstGeom prst="rect">
            <a:avLst/>
          </a:prstGeom>
          <a:solidFill>
            <a:srgbClr val="010409"/>
          </a:solidFill>
          <a:ln/>
        </p:spPr>
      </p:sp>
      <p:sp>
        <p:nvSpPr>
          <p:cNvPr id="19" name="Text 17"/>
          <p:cNvSpPr/>
          <p:nvPr/>
        </p:nvSpPr>
        <p:spPr>
          <a:xfrm>
            <a:off x="502920" y="3931920"/>
            <a:ext cx="8138160" cy="713232"/>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curl -i -X POST http://localhost:8088/ingest -H "Content-Type: application/json"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"X-API-Key: $EDGE_API_KEY"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-d '{"title": "Bad Doc", "url": "not-a-real-url", "source": "Manual", "published_date": "2026-02-12", "text": "sample text"}'</a:t>
            </a:r>
            <a:endParaRPr lang="en-US" sz="1000" dirty="0"/>
          </a:p>
        </p:txBody>
      </p:sp>
      <p:sp>
        <p:nvSpPr>
          <p:cNvPr id="20" name="Text 18"/>
          <p:cNvSpPr/>
          <p:nvPr/>
        </p:nvSpPr>
        <p:spPr>
          <a:xfrm>
            <a:off x="548640" y="4709160"/>
            <a:ext cx="8046720" cy="256032"/>
          </a:xfrm>
          <a:prstGeom prst="rect">
            <a:avLst/>
          </a:prstGeom>
          <a:noFill/>
          <a:ln/>
        </p:spPr>
        <p:txBody>
          <a:bodyPr wrap="square" rtlCol="0" anchor="ctr"/>
          <a:lstStyle/>
          <a:p>
            <a:pPr indent="0" marL="0">
              <a:buNone/>
            </a:pPr>
            <a:r>
              <a:rPr lang="en-US" sz="1000" i="1" dirty="0">
                <a:solidFill>
                  <a:srgbClr val="3FB950"/>
                </a:solidFill>
                <a:latin typeface="Calibri" pitchFamily="34" charset="0"/>
                <a:ea typeface="Calibri" pitchFamily="34" charset="-122"/>
                <a:cs typeface="Calibri" pitchFamily="34" charset="-120"/>
              </a:rPr>
              <a:t>Validation errors are good — they prove the API is protecting the database.</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6</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6 — Ingestion API (Part 2): Debug Endpoints</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These debug endpoints let you isolate exactly which layer is failing — retrieval, prompt construction, or generation.</a:t>
            </a:r>
            <a:endParaRPr lang="en-US" sz="1100" dirty="0"/>
          </a:p>
        </p:txBody>
      </p:sp>
      <p:sp>
        <p:nvSpPr>
          <p:cNvPr id="6" name="Shape 4"/>
          <p:cNvSpPr/>
          <p:nvPr/>
        </p:nvSpPr>
        <p:spPr>
          <a:xfrm>
            <a:off x="365760" y="1664208"/>
            <a:ext cx="8412480" cy="9875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987552"/>
          </a:xfrm>
          <a:prstGeom prst="rect">
            <a:avLst/>
          </a:prstGeom>
          <a:solidFill>
            <a:srgbClr val="79C0FF"/>
          </a:solidFill>
          <a:ln/>
        </p:spPr>
      </p:sp>
      <p:sp>
        <p:nvSpPr>
          <p:cNvPr id="8" name="Text 6"/>
          <p:cNvSpPr/>
          <p:nvPr/>
        </p:nvSpPr>
        <p:spPr>
          <a:xfrm>
            <a:off x="548640" y="1719072"/>
            <a:ext cx="2286000" cy="320040"/>
          </a:xfrm>
          <a:prstGeom prst="rect">
            <a:avLst/>
          </a:prstGeom>
          <a:noFill/>
          <a:ln/>
        </p:spPr>
        <p:txBody>
          <a:bodyPr wrap="square" rtlCol="0" anchor="ctr"/>
          <a:lstStyle/>
          <a:p>
            <a:pPr indent="0" marL="0">
              <a:buNone/>
            </a:pPr>
            <a:r>
              <a:rPr lang="en-US" sz="1200" b="1" dirty="0">
                <a:solidFill>
                  <a:srgbClr val="79C0FF"/>
                </a:solidFill>
                <a:latin typeface="Consolas" pitchFamily="34" charset="0"/>
                <a:ea typeface="Consolas" pitchFamily="34" charset="-122"/>
                <a:cs typeface="Consolas" pitchFamily="34" charset="-120"/>
              </a:rPr>
              <a:t>/debug/retrieve</a:t>
            </a:r>
            <a:endParaRPr lang="en-US" sz="1200" dirty="0"/>
          </a:p>
        </p:txBody>
      </p:sp>
      <p:sp>
        <p:nvSpPr>
          <p:cNvPr id="9" name="Text 7"/>
          <p:cNvSpPr/>
          <p:nvPr/>
        </p:nvSpPr>
        <p:spPr>
          <a:xfrm>
            <a:off x="2926080" y="1719072"/>
            <a:ext cx="5715000" cy="5029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Tests retrieval only — no LLM involved. Returns sources Qdrant found for your query. If this is empty, fix ingestion/vectorizer before touching Ollama.</a:t>
            </a:r>
            <a:endParaRPr lang="en-US" sz="1000" dirty="0"/>
          </a:p>
        </p:txBody>
      </p:sp>
      <p:sp>
        <p:nvSpPr>
          <p:cNvPr id="10" name="Text 8"/>
          <p:cNvSpPr/>
          <p:nvPr/>
        </p:nvSpPr>
        <p:spPr>
          <a:xfrm>
            <a:off x="548640" y="2057400"/>
            <a:ext cx="8046720" cy="457200"/>
          </a:xfrm>
          <a:prstGeom prst="rect">
            <a:avLst/>
          </a:prstGeom>
          <a:noFill/>
          <a:ln/>
        </p:spPr>
        <p:txBody>
          <a:bodyPr wrap="square" rtlCol="0" anchor="ctr"/>
          <a:lstStyle/>
          <a:p>
            <a:pPr indent="0" marL="0">
              <a:buNone/>
            </a:pPr>
            <a:r>
              <a:rPr lang="en-US" sz="800" dirty="0">
                <a:solidFill>
                  <a:srgbClr val="79C0FF"/>
                </a:solidFill>
                <a:latin typeface="Consolas" pitchFamily="34" charset="0"/>
                <a:ea typeface="Consolas" pitchFamily="34" charset="-122"/>
                <a:cs typeface="Consolas" pitchFamily="34" charset="-120"/>
              </a:rPr>
              <a:t>curl -sS -G http://localhost:8088/debug/retrieve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-H "X-API-Key: $EDGE_API_KEY"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--data-urlencode "q=CIA triad" | python -m json.tool</a:t>
            </a:r>
            <a:endParaRPr lang="en-US" sz="800" dirty="0"/>
          </a:p>
        </p:txBody>
      </p:sp>
      <p:sp>
        <p:nvSpPr>
          <p:cNvPr id="11" name="Shape 9"/>
          <p:cNvSpPr/>
          <p:nvPr/>
        </p:nvSpPr>
        <p:spPr>
          <a:xfrm>
            <a:off x="365760" y="2743200"/>
            <a:ext cx="8412480" cy="9875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365760" y="2743200"/>
            <a:ext cx="54864" cy="987552"/>
          </a:xfrm>
          <a:prstGeom prst="rect">
            <a:avLst/>
          </a:prstGeom>
          <a:solidFill>
            <a:srgbClr val="00D4AA"/>
          </a:solidFill>
          <a:ln/>
        </p:spPr>
      </p:sp>
      <p:sp>
        <p:nvSpPr>
          <p:cNvPr id="13" name="Text 11"/>
          <p:cNvSpPr/>
          <p:nvPr/>
        </p:nvSpPr>
        <p:spPr>
          <a:xfrm>
            <a:off x="548640" y="2798064"/>
            <a:ext cx="2286000" cy="320040"/>
          </a:xfrm>
          <a:prstGeom prst="rect">
            <a:avLst/>
          </a:prstGeom>
          <a:noFill/>
          <a:ln/>
        </p:spPr>
        <p:txBody>
          <a:bodyPr wrap="square" rtlCol="0" anchor="ctr"/>
          <a:lstStyle/>
          <a:p>
            <a:pPr indent="0" marL="0">
              <a:buNone/>
            </a:pPr>
            <a:r>
              <a:rPr lang="en-US" sz="1200" b="1" dirty="0">
                <a:solidFill>
                  <a:srgbClr val="00D4AA"/>
                </a:solidFill>
                <a:latin typeface="Consolas" pitchFamily="34" charset="0"/>
                <a:ea typeface="Consolas" pitchFamily="34" charset="-122"/>
                <a:cs typeface="Consolas" pitchFamily="34" charset="-120"/>
              </a:rPr>
              <a:t>/debug/prompt</a:t>
            </a:r>
            <a:endParaRPr lang="en-US" sz="1200" dirty="0"/>
          </a:p>
        </p:txBody>
      </p:sp>
      <p:sp>
        <p:nvSpPr>
          <p:cNvPr id="14" name="Text 12"/>
          <p:cNvSpPr/>
          <p:nvPr/>
        </p:nvSpPr>
        <p:spPr>
          <a:xfrm>
            <a:off x="2926080" y="2798064"/>
            <a:ext cx="5715000" cy="5029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Returns the exact prompt that would be sent to Ollama — without actually calling Ollama. Shows you the grounding instruction, user question, and source blocks.</a:t>
            </a:r>
            <a:endParaRPr lang="en-US" sz="1000" dirty="0"/>
          </a:p>
        </p:txBody>
      </p:sp>
      <p:sp>
        <p:nvSpPr>
          <p:cNvPr id="15" name="Text 13"/>
          <p:cNvSpPr/>
          <p:nvPr/>
        </p:nvSpPr>
        <p:spPr>
          <a:xfrm>
            <a:off x="548640" y="3136392"/>
            <a:ext cx="8046720" cy="457200"/>
          </a:xfrm>
          <a:prstGeom prst="rect">
            <a:avLst/>
          </a:prstGeom>
          <a:noFill/>
          <a:ln/>
        </p:spPr>
        <p:txBody>
          <a:bodyPr wrap="square" rtlCol="0" anchor="ctr"/>
          <a:lstStyle/>
          <a:p>
            <a:pPr indent="0" marL="0">
              <a:buNone/>
            </a:pPr>
            <a:r>
              <a:rPr lang="en-US" sz="800" dirty="0">
                <a:solidFill>
                  <a:srgbClr val="79C0FF"/>
                </a:solidFill>
                <a:latin typeface="Consolas" pitchFamily="34" charset="0"/>
                <a:ea typeface="Consolas" pitchFamily="34" charset="-122"/>
                <a:cs typeface="Consolas" pitchFamily="34" charset="-120"/>
              </a:rPr>
              <a:t>curl -sS -X POST http://localhost:8088/debug/prompt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-H "X-API-Key: $EDGE_API_KEY"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-H "Content-Type: application/json"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-d '{"message":"What is defense in depth?"}' | python -m json.tool</a:t>
            </a:r>
            <a:endParaRPr lang="en-US" sz="800" dirty="0"/>
          </a:p>
        </p:txBody>
      </p:sp>
      <p:sp>
        <p:nvSpPr>
          <p:cNvPr id="16" name="Shape 14"/>
          <p:cNvSpPr/>
          <p:nvPr/>
        </p:nvSpPr>
        <p:spPr>
          <a:xfrm>
            <a:off x="365760" y="3822192"/>
            <a:ext cx="8412480" cy="9875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7" name="Shape 15"/>
          <p:cNvSpPr/>
          <p:nvPr/>
        </p:nvSpPr>
        <p:spPr>
          <a:xfrm>
            <a:off x="365760" y="3822192"/>
            <a:ext cx="54864" cy="987552"/>
          </a:xfrm>
          <a:prstGeom prst="rect">
            <a:avLst/>
          </a:prstGeom>
          <a:solidFill>
            <a:srgbClr val="BC8CFF"/>
          </a:solidFill>
          <a:ln/>
        </p:spPr>
      </p:sp>
      <p:sp>
        <p:nvSpPr>
          <p:cNvPr id="18" name="Text 16"/>
          <p:cNvSpPr/>
          <p:nvPr/>
        </p:nvSpPr>
        <p:spPr>
          <a:xfrm>
            <a:off x="548640" y="3877056"/>
            <a:ext cx="2286000" cy="320040"/>
          </a:xfrm>
          <a:prstGeom prst="rect">
            <a:avLst/>
          </a:prstGeom>
          <a:noFill/>
          <a:ln/>
        </p:spPr>
        <p:txBody>
          <a:bodyPr wrap="square" rtlCol="0" anchor="ctr"/>
          <a:lstStyle/>
          <a:p>
            <a:pPr indent="0" marL="0">
              <a:buNone/>
            </a:pPr>
            <a:r>
              <a:rPr lang="en-US" sz="1200" b="1" dirty="0">
                <a:solidFill>
                  <a:srgbClr val="BC8CFF"/>
                </a:solidFill>
                <a:latin typeface="Consolas" pitchFamily="34" charset="0"/>
                <a:ea typeface="Consolas" pitchFamily="34" charset="-122"/>
                <a:cs typeface="Consolas" pitchFamily="34" charset="-120"/>
              </a:rPr>
              <a:t>/debug/ollama</a:t>
            </a:r>
            <a:endParaRPr lang="en-US" sz="1200" dirty="0"/>
          </a:p>
        </p:txBody>
      </p:sp>
      <p:sp>
        <p:nvSpPr>
          <p:cNvPr id="19" name="Text 17"/>
          <p:cNvSpPr/>
          <p:nvPr/>
        </p:nvSpPr>
        <p:spPr>
          <a:xfrm>
            <a:off x="2926080" y="3877056"/>
            <a:ext cx="5715000" cy="5029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Bypasses retrieval entirely — sends your message directly to Ollama for generation. Useful for testing model availability and speed without any RAG context.</a:t>
            </a:r>
            <a:endParaRPr lang="en-US" sz="1000" dirty="0"/>
          </a:p>
        </p:txBody>
      </p:sp>
      <p:sp>
        <p:nvSpPr>
          <p:cNvPr id="20" name="Text 18"/>
          <p:cNvSpPr/>
          <p:nvPr/>
        </p:nvSpPr>
        <p:spPr>
          <a:xfrm>
            <a:off x="548640" y="4215384"/>
            <a:ext cx="8046720" cy="457200"/>
          </a:xfrm>
          <a:prstGeom prst="rect">
            <a:avLst/>
          </a:prstGeom>
          <a:noFill/>
          <a:ln/>
        </p:spPr>
        <p:txBody>
          <a:bodyPr wrap="square" rtlCol="0" anchor="ctr"/>
          <a:lstStyle/>
          <a:p>
            <a:pPr indent="0" marL="0">
              <a:buNone/>
            </a:pPr>
            <a:r>
              <a:rPr lang="en-US" sz="800" dirty="0">
                <a:solidFill>
                  <a:srgbClr val="79C0FF"/>
                </a:solidFill>
                <a:latin typeface="Consolas" pitchFamily="34" charset="0"/>
                <a:ea typeface="Consolas" pitchFamily="34" charset="-122"/>
                <a:cs typeface="Consolas" pitchFamily="34" charset="-120"/>
              </a:rPr>
              <a:t>curl -sS -X POST http://localhost:8088/debug/ollama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-H "X-API-Key: $EDGE_API_KEY"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-H "Content-Type: application/json" \</a:t>
            </a:r>
            <a:endParaRPr lang="en-US" sz="800" dirty="0"/>
          </a:p>
          <a:p>
            <a:pPr indent="0" marL="0">
              <a:buNone/>
            </a:pPr>
            <a:r>
              <a:rPr lang="en-US" sz="800" dirty="0">
                <a:solidFill>
                  <a:srgbClr val="79C0FF"/>
                </a:solidFill>
                <a:latin typeface="Consolas" pitchFamily="34" charset="0"/>
                <a:ea typeface="Consolas" pitchFamily="34" charset="-122"/>
                <a:cs typeface="Consolas" pitchFamily="34" charset="-120"/>
              </a:rPr>
              <a:t>  -d '{"message":"Explain CIA triad in 2 sentences."}'</a:t>
            </a:r>
            <a:endParaRPr lang="en-US" sz="800" dirty="0"/>
          </a:p>
        </p:txBody>
      </p:sp>
      <p:sp>
        <p:nvSpPr>
          <p:cNvPr id="21" name="Shape 19"/>
          <p:cNvSpPr/>
          <p:nvPr/>
        </p:nvSpPr>
        <p:spPr>
          <a:xfrm>
            <a:off x="365760" y="4919472"/>
            <a:ext cx="8412480" cy="91440"/>
          </a:xfrm>
          <a:prstGeom prst="rect">
            <a:avLst/>
          </a:prstGeom>
          <a:solidFill>
            <a:srgbClr val="0A1628"/>
          </a:solidFill>
          <a:ln/>
          <a:effectLst>
            <a:outerShdw sx="100000" sy="100000" kx="0" ky="0" algn="bl" rotWithShape="0" blurRad="101600" dist="25400" dir="8100000">
              <a:srgbClr val="000000">
                <a:alpha val="30000"/>
              </a:srgbClr>
            </a:outerShdw>
          </a:effectLst>
        </p:spPr>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7</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7 — RAG Chat (Part 1): Pipeline Walkthrough</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Pull Ollama model · Understand the 6-step pipeline · Know why to debug retrieval first</a:t>
            </a:r>
            <a:endParaRPr lang="en-US" sz="1100" dirty="0"/>
          </a:p>
        </p:txBody>
      </p:sp>
      <p:sp>
        <p:nvSpPr>
          <p:cNvPr id="6" name="Shape 4"/>
          <p:cNvSpPr/>
          <p:nvPr/>
        </p:nvSpPr>
        <p:spPr>
          <a:xfrm>
            <a:off x="365760" y="1664208"/>
            <a:ext cx="4114800" cy="10058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005840"/>
          </a:xfrm>
          <a:prstGeom prst="rect">
            <a:avLst/>
          </a:prstGeom>
          <a:solidFill>
            <a:srgbClr val="00D4AA"/>
          </a:solidFill>
          <a:ln/>
        </p:spPr>
      </p:sp>
      <p:sp>
        <p:nvSpPr>
          <p:cNvPr id="8" name="Text 6"/>
          <p:cNvSpPr/>
          <p:nvPr/>
        </p:nvSpPr>
        <p:spPr>
          <a:xfrm>
            <a:off x="548640" y="1755648"/>
            <a:ext cx="3749040" cy="32004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Step 0 — Pull the Ollama Model</a:t>
            </a:r>
            <a:endParaRPr lang="en-US" sz="1200" dirty="0"/>
          </a:p>
        </p:txBody>
      </p:sp>
      <p:sp>
        <p:nvSpPr>
          <p:cNvPr id="9" name="Shape 7"/>
          <p:cNvSpPr/>
          <p:nvPr/>
        </p:nvSpPr>
        <p:spPr>
          <a:xfrm>
            <a:off x="365760" y="2048256"/>
            <a:ext cx="4114800" cy="548640"/>
          </a:xfrm>
          <a:prstGeom prst="rect">
            <a:avLst/>
          </a:prstGeom>
          <a:solidFill>
            <a:srgbClr val="010409"/>
          </a:solidFill>
          <a:ln/>
        </p:spPr>
      </p:sp>
      <p:sp>
        <p:nvSpPr>
          <p:cNvPr id="10" name="Text 8"/>
          <p:cNvSpPr/>
          <p:nvPr/>
        </p:nvSpPr>
        <p:spPr>
          <a:xfrm>
            <a:off x="502920" y="2093976"/>
            <a:ext cx="3840480" cy="4572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Set in .env: OLLAMA_MODEL=llama3.2:1b</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./bin/pull_model.sh</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exec -it ollama ollama list</a:t>
            </a:r>
            <a:endParaRPr lang="en-US" sz="1000" dirty="0"/>
          </a:p>
        </p:txBody>
      </p:sp>
      <p:sp>
        <p:nvSpPr>
          <p:cNvPr id="11" name="Shape 9"/>
          <p:cNvSpPr/>
          <p:nvPr/>
        </p:nvSpPr>
        <p:spPr>
          <a:xfrm>
            <a:off x="4663440" y="1664208"/>
            <a:ext cx="4114800" cy="10058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4663440" y="1664208"/>
            <a:ext cx="54864" cy="1005840"/>
          </a:xfrm>
          <a:prstGeom prst="rect">
            <a:avLst/>
          </a:prstGeom>
          <a:solidFill>
            <a:srgbClr val="D29922"/>
          </a:solidFill>
          <a:ln/>
        </p:spPr>
      </p:sp>
      <p:sp>
        <p:nvSpPr>
          <p:cNvPr id="13" name="Text 11"/>
          <p:cNvSpPr/>
          <p:nvPr/>
        </p:nvSpPr>
        <p:spPr>
          <a:xfrm>
            <a:off x="4846320" y="1755648"/>
            <a:ext cx="3749040" cy="320040"/>
          </a:xfrm>
          <a:prstGeom prst="rect">
            <a:avLst/>
          </a:prstGeom>
          <a:noFill/>
          <a:ln/>
        </p:spPr>
        <p:txBody>
          <a:bodyPr wrap="square" rtlCol="0" anchor="ctr"/>
          <a:lstStyle/>
          <a:p>
            <a:pPr indent="0" marL="0">
              <a:buNone/>
            </a:pPr>
            <a:r>
              <a:rPr lang="en-US" sz="1200" b="1" dirty="0">
                <a:solidFill>
                  <a:srgbClr val="D29922"/>
                </a:solidFill>
                <a:latin typeface="Calibri" pitchFamily="34" charset="0"/>
                <a:ea typeface="Calibri" pitchFamily="34" charset="-122"/>
                <a:cs typeface="Calibri" pitchFamily="34" charset="-120"/>
              </a:rPr>
              <a:t>Recommended: llama3.2:1b</a:t>
            </a:r>
            <a:endParaRPr lang="en-US" sz="1200" dirty="0"/>
          </a:p>
        </p:txBody>
      </p:sp>
      <p:sp>
        <p:nvSpPr>
          <p:cNvPr id="14" name="Text 12"/>
          <p:cNvSpPr/>
          <p:nvPr/>
        </p:nvSpPr>
        <p:spPr>
          <a:xfrm>
            <a:off x="4846320" y="2103120"/>
            <a:ext cx="3749040" cy="502920"/>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Fast, stable, 1.3GB. Use llama3.2:3b for better answers at cost of slower generation. Never pull 8B+ on a laptop.</a:t>
            </a:r>
            <a:endParaRPr lang="en-US" sz="1000" dirty="0"/>
          </a:p>
        </p:txBody>
      </p:sp>
      <p:sp>
        <p:nvSpPr>
          <p:cNvPr id="15" name="Text 13"/>
          <p:cNvSpPr/>
          <p:nvPr/>
        </p:nvSpPr>
        <p:spPr>
          <a:xfrm>
            <a:off x="365760" y="2788920"/>
            <a:ext cx="8412480" cy="292608"/>
          </a:xfrm>
          <a:prstGeom prst="rect">
            <a:avLst/>
          </a:prstGeom>
          <a:noFill/>
          <a:ln/>
        </p:spPr>
        <p:txBody>
          <a:bodyPr wrap="square" rtlCol="0" anchor="ctr"/>
          <a:lstStyle/>
          <a:p>
            <a:pPr indent="0" marL="0">
              <a:buNone/>
            </a:pPr>
            <a:r>
              <a:rPr lang="en-US" sz="1200" b="1" dirty="0">
                <a:solidFill>
                  <a:srgbClr val="E6EDF3"/>
                </a:solidFill>
                <a:latin typeface="Calibri" pitchFamily="34" charset="0"/>
                <a:ea typeface="Calibri" pitchFamily="34" charset="-122"/>
                <a:cs typeface="Calibri" pitchFamily="34" charset="-120"/>
              </a:rPr>
              <a:t>What happens on every /chat call:</a:t>
            </a:r>
            <a:endParaRPr lang="en-US" sz="1200" dirty="0"/>
          </a:p>
        </p:txBody>
      </p:sp>
      <p:sp>
        <p:nvSpPr>
          <p:cNvPr id="16" name="Shape 14"/>
          <p:cNvSpPr/>
          <p:nvPr/>
        </p:nvSpPr>
        <p:spPr>
          <a:xfrm>
            <a:off x="365760" y="3154680"/>
            <a:ext cx="2788920" cy="530352"/>
          </a:xfrm>
          <a:prstGeom prst="rect">
            <a:avLst/>
          </a:prstGeom>
          <a:solidFill>
            <a:srgbClr val="161B22"/>
          </a:solidFill>
          <a:ln/>
        </p:spPr>
      </p:sp>
      <p:sp>
        <p:nvSpPr>
          <p:cNvPr id="17" name="Shape 15"/>
          <p:cNvSpPr/>
          <p:nvPr/>
        </p:nvSpPr>
        <p:spPr>
          <a:xfrm>
            <a:off x="365760" y="3154680"/>
            <a:ext cx="347472" cy="530352"/>
          </a:xfrm>
          <a:prstGeom prst="rect">
            <a:avLst/>
          </a:prstGeom>
          <a:solidFill>
            <a:srgbClr val="F78166"/>
          </a:solidFill>
          <a:ln/>
        </p:spPr>
      </p:sp>
      <p:sp>
        <p:nvSpPr>
          <p:cNvPr id="18" name="Text 16"/>
          <p:cNvSpPr/>
          <p:nvPr/>
        </p:nvSpPr>
        <p:spPr>
          <a:xfrm>
            <a:off x="365760" y="3246120"/>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1</a:t>
            </a:r>
            <a:endParaRPr lang="en-US" sz="1400" dirty="0"/>
          </a:p>
        </p:txBody>
      </p:sp>
      <p:sp>
        <p:nvSpPr>
          <p:cNvPr id="19" name="Text 17"/>
          <p:cNvSpPr/>
          <p:nvPr/>
        </p:nvSpPr>
        <p:spPr>
          <a:xfrm>
            <a:off x="804672" y="3227832"/>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NGINX validates X-API-Key</a:t>
            </a:r>
            <a:endParaRPr lang="en-US" sz="1000" dirty="0"/>
          </a:p>
        </p:txBody>
      </p:sp>
      <p:sp>
        <p:nvSpPr>
          <p:cNvPr id="20" name="Shape 18"/>
          <p:cNvSpPr/>
          <p:nvPr/>
        </p:nvSpPr>
        <p:spPr>
          <a:xfrm>
            <a:off x="3310128" y="3154680"/>
            <a:ext cx="2788920" cy="530352"/>
          </a:xfrm>
          <a:prstGeom prst="rect">
            <a:avLst/>
          </a:prstGeom>
          <a:solidFill>
            <a:srgbClr val="161B22"/>
          </a:solidFill>
          <a:ln/>
        </p:spPr>
      </p:sp>
      <p:sp>
        <p:nvSpPr>
          <p:cNvPr id="21" name="Shape 19"/>
          <p:cNvSpPr/>
          <p:nvPr/>
        </p:nvSpPr>
        <p:spPr>
          <a:xfrm>
            <a:off x="3310128" y="3154680"/>
            <a:ext cx="347472" cy="530352"/>
          </a:xfrm>
          <a:prstGeom prst="rect">
            <a:avLst/>
          </a:prstGeom>
          <a:solidFill>
            <a:srgbClr val="79C0FF"/>
          </a:solidFill>
          <a:ln/>
        </p:spPr>
      </p:sp>
      <p:sp>
        <p:nvSpPr>
          <p:cNvPr id="22" name="Text 20"/>
          <p:cNvSpPr/>
          <p:nvPr/>
        </p:nvSpPr>
        <p:spPr>
          <a:xfrm>
            <a:off x="3310128" y="3246120"/>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2</a:t>
            </a:r>
            <a:endParaRPr lang="en-US" sz="1400" dirty="0"/>
          </a:p>
        </p:txBody>
      </p:sp>
      <p:sp>
        <p:nvSpPr>
          <p:cNvPr id="23" name="Text 21"/>
          <p:cNvSpPr/>
          <p:nvPr/>
        </p:nvSpPr>
        <p:spPr>
          <a:xfrm>
            <a:off x="3749040" y="3227832"/>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FastAPI validates ChatIn schema</a:t>
            </a:r>
            <a:endParaRPr lang="en-US" sz="1000" dirty="0"/>
          </a:p>
        </p:txBody>
      </p:sp>
      <p:sp>
        <p:nvSpPr>
          <p:cNvPr id="24" name="Shape 22"/>
          <p:cNvSpPr/>
          <p:nvPr/>
        </p:nvSpPr>
        <p:spPr>
          <a:xfrm>
            <a:off x="6254496" y="3154680"/>
            <a:ext cx="2788920" cy="530352"/>
          </a:xfrm>
          <a:prstGeom prst="rect">
            <a:avLst/>
          </a:prstGeom>
          <a:solidFill>
            <a:srgbClr val="161B22"/>
          </a:solidFill>
          <a:ln/>
        </p:spPr>
      </p:sp>
      <p:sp>
        <p:nvSpPr>
          <p:cNvPr id="25" name="Shape 23"/>
          <p:cNvSpPr/>
          <p:nvPr/>
        </p:nvSpPr>
        <p:spPr>
          <a:xfrm>
            <a:off x="6254496" y="3154680"/>
            <a:ext cx="347472" cy="530352"/>
          </a:xfrm>
          <a:prstGeom prst="rect">
            <a:avLst/>
          </a:prstGeom>
          <a:solidFill>
            <a:srgbClr val="00D4AA"/>
          </a:solidFill>
          <a:ln/>
        </p:spPr>
      </p:sp>
      <p:sp>
        <p:nvSpPr>
          <p:cNvPr id="26" name="Text 24"/>
          <p:cNvSpPr/>
          <p:nvPr/>
        </p:nvSpPr>
        <p:spPr>
          <a:xfrm>
            <a:off x="6254496" y="3246120"/>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3</a:t>
            </a:r>
            <a:endParaRPr lang="en-US" sz="1400" dirty="0"/>
          </a:p>
        </p:txBody>
      </p:sp>
      <p:sp>
        <p:nvSpPr>
          <p:cNvPr id="27" name="Text 25"/>
          <p:cNvSpPr/>
          <p:nvPr/>
        </p:nvSpPr>
        <p:spPr>
          <a:xfrm>
            <a:off x="6693408" y="3227832"/>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retrieve_sources() → Qdrant nearText search</a:t>
            </a:r>
            <a:endParaRPr lang="en-US" sz="1000" dirty="0"/>
          </a:p>
        </p:txBody>
      </p:sp>
      <p:sp>
        <p:nvSpPr>
          <p:cNvPr id="28" name="Shape 26"/>
          <p:cNvSpPr/>
          <p:nvPr/>
        </p:nvSpPr>
        <p:spPr>
          <a:xfrm>
            <a:off x="365760" y="3813048"/>
            <a:ext cx="2788920" cy="530352"/>
          </a:xfrm>
          <a:prstGeom prst="rect">
            <a:avLst/>
          </a:prstGeom>
          <a:solidFill>
            <a:srgbClr val="161B22"/>
          </a:solidFill>
          <a:ln/>
        </p:spPr>
      </p:sp>
      <p:sp>
        <p:nvSpPr>
          <p:cNvPr id="29" name="Shape 27"/>
          <p:cNvSpPr/>
          <p:nvPr/>
        </p:nvSpPr>
        <p:spPr>
          <a:xfrm>
            <a:off x="365760" y="3813048"/>
            <a:ext cx="347472" cy="530352"/>
          </a:xfrm>
          <a:prstGeom prst="rect">
            <a:avLst/>
          </a:prstGeom>
          <a:solidFill>
            <a:srgbClr val="D29922"/>
          </a:solidFill>
          <a:ln/>
        </p:spPr>
      </p:sp>
      <p:sp>
        <p:nvSpPr>
          <p:cNvPr id="30" name="Text 28"/>
          <p:cNvSpPr/>
          <p:nvPr/>
        </p:nvSpPr>
        <p:spPr>
          <a:xfrm>
            <a:off x="365760" y="3904488"/>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4</a:t>
            </a:r>
            <a:endParaRPr lang="en-US" sz="1400" dirty="0"/>
          </a:p>
        </p:txBody>
      </p:sp>
      <p:sp>
        <p:nvSpPr>
          <p:cNvPr id="31" name="Text 29"/>
          <p:cNvSpPr/>
          <p:nvPr/>
        </p:nvSpPr>
        <p:spPr>
          <a:xfrm>
            <a:off x="804672" y="3886200"/>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build_prompt() → inject sources + grounding rule</a:t>
            </a:r>
            <a:endParaRPr lang="en-US" sz="1000" dirty="0"/>
          </a:p>
        </p:txBody>
      </p:sp>
      <p:sp>
        <p:nvSpPr>
          <p:cNvPr id="32" name="Shape 30"/>
          <p:cNvSpPr/>
          <p:nvPr/>
        </p:nvSpPr>
        <p:spPr>
          <a:xfrm>
            <a:off x="3310128" y="3813048"/>
            <a:ext cx="2788920" cy="530352"/>
          </a:xfrm>
          <a:prstGeom prst="rect">
            <a:avLst/>
          </a:prstGeom>
          <a:solidFill>
            <a:srgbClr val="161B22"/>
          </a:solidFill>
          <a:ln/>
        </p:spPr>
      </p:sp>
      <p:sp>
        <p:nvSpPr>
          <p:cNvPr id="33" name="Shape 31"/>
          <p:cNvSpPr/>
          <p:nvPr/>
        </p:nvSpPr>
        <p:spPr>
          <a:xfrm>
            <a:off x="3310128" y="3813048"/>
            <a:ext cx="347472" cy="530352"/>
          </a:xfrm>
          <a:prstGeom prst="rect">
            <a:avLst/>
          </a:prstGeom>
          <a:solidFill>
            <a:srgbClr val="BC8CFF"/>
          </a:solidFill>
          <a:ln/>
        </p:spPr>
      </p:sp>
      <p:sp>
        <p:nvSpPr>
          <p:cNvPr id="34" name="Text 32"/>
          <p:cNvSpPr/>
          <p:nvPr/>
        </p:nvSpPr>
        <p:spPr>
          <a:xfrm>
            <a:off x="3310128" y="3904488"/>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5</a:t>
            </a:r>
            <a:endParaRPr lang="en-US" sz="1400" dirty="0"/>
          </a:p>
        </p:txBody>
      </p:sp>
      <p:sp>
        <p:nvSpPr>
          <p:cNvPr id="35" name="Text 33"/>
          <p:cNvSpPr/>
          <p:nvPr/>
        </p:nvSpPr>
        <p:spPr>
          <a:xfrm>
            <a:off x="3749040" y="3886200"/>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ollama_generate() → local LLM generates answer</a:t>
            </a:r>
            <a:endParaRPr lang="en-US" sz="1000" dirty="0"/>
          </a:p>
        </p:txBody>
      </p:sp>
      <p:sp>
        <p:nvSpPr>
          <p:cNvPr id="36" name="Shape 34"/>
          <p:cNvSpPr/>
          <p:nvPr/>
        </p:nvSpPr>
        <p:spPr>
          <a:xfrm>
            <a:off x="6254496" y="3813048"/>
            <a:ext cx="2788920" cy="530352"/>
          </a:xfrm>
          <a:prstGeom prst="rect">
            <a:avLst/>
          </a:prstGeom>
          <a:solidFill>
            <a:srgbClr val="161B22"/>
          </a:solidFill>
          <a:ln/>
        </p:spPr>
      </p:sp>
      <p:sp>
        <p:nvSpPr>
          <p:cNvPr id="37" name="Shape 35"/>
          <p:cNvSpPr/>
          <p:nvPr/>
        </p:nvSpPr>
        <p:spPr>
          <a:xfrm>
            <a:off x="6254496" y="3813048"/>
            <a:ext cx="347472" cy="530352"/>
          </a:xfrm>
          <a:prstGeom prst="rect">
            <a:avLst/>
          </a:prstGeom>
          <a:solidFill>
            <a:srgbClr val="3FB950"/>
          </a:solidFill>
          <a:ln/>
        </p:spPr>
      </p:sp>
      <p:sp>
        <p:nvSpPr>
          <p:cNvPr id="38" name="Text 36"/>
          <p:cNvSpPr/>
          <p:nvPr/>
        </p:nvSpPr>
        <p:spPr>
          <a:xfrm>
            <a:off x="6254496" y="3904488"/>
            <a:ext cx="347472" cy="347472"/>
          </a:xfrm>
          <a:prstGeom prst="rect">
            <a:avLst/>
          </a:prstGeom>
          <a:noFill/>
          <a:ln/>
        </p:spPr>
        <p:txBody>
          <a:bodyPr wrap="square" lIns="0" tIns="0" rIns="0" bIns="0" rtlCol="0" anchor="ctr"/>
          <a:lstStyle/>
          <a:p>
            <a:pPr algn="ctr" indent="0" marL="0">
              <a:buNone/>
            </a:pPr>
            <a:r>
              <a:rPr lang="en-US" sz="1400" b="1" dirty="0">
                <a:solidFill>
                  <a:srgbClr val="0D1117"/>
                </a:solidFill>
              </a:rPr>
              <a:t>6</a:t>
            </a:r>
            <a:endParaRPr lang="en-US" sz="1400" dirty="0"/>
          </a:p>
        </p:txBody>
      </p:sp>
      <p:sp>
        <p:nvSpPr>
          <p:cNvPr id="39" name="Text 37"/>
          <p:cNvSpPr/>
          <p:nvPr/>
        </p:nvSpPr>
        <p:spPr>
          <a:xfrm>
            <a:off x="6693408" y="3886200"/>
            <a:ext cx="2286000" cy="384048"/>
          </a:xfrm>
          <a:prstGeom prst="rect">
            <a:avLst/>
          </a:prstGeom>
          <a:noFill/>
          <a:ln/>
        </p:spPr>
        <p:txBody>
          <a:bodyPr wrap="square" rtlCol="0" anchor="ctr"/>
          <a:lstStyle/>
          <a:p>
            <a:pPr indent="0" marL="0">
              <a:buNone/>
            </a:pPr>
            <a:r>
              <a:rPr lang="en-US" sz="1000" dirty="0">
                <a:solidFill>
                  <a:srgbClr val="E6EDF3"/>
                </a:solidFill>
                <a:latin typeface="Calibri" pitchFamily="34" charset="0"/>
                <a:ea typeface="Calibri" pitchFamily="34" charset="-122"/>
                <a:cs typeface="Calibri" pitchFamily="34" charset="-120"/>
              </a:rPr>
              <a:t>Return {answer, sources} JSON</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7</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7 — RAG Chat (Part 2): Inspecting the Prompt</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200" i="1" dirty="0">
                <a:solidFill>
                  <a:srgbClr val="00D4AA"/>
                </a:solidFill>
                <a:latin typeface="Calibri" pitchFamily="34" charset="0"/>
                <a:ea typeface="Calibri" pitchFamily="34" charset="-122"/>
                <a:cs typeface="Calibri" pitchFamily="34" charset="-120"/>
              </a:rPr>
              <a:t>The LLM does not see your database. It only sees the prompt string that FastAPI constructs.</a:t>
            </a:r>
            <a:endParaRPr lang="en-US" sz="1200" dirty="0"/>
          </a:p>
        </p:txBody>
      </p:sp>
      <p:sp>
        <p:nvSpPr>
          <p:cNvPr id="6" name="Shape 4"/>
          <p:cNvSpPr/>
          <p:nvPr/>
        </p:nvSpPr>
        <p:spPr>
          <a:xfrm>
            <a:off x="365760" y="1664208"/>
            <a:ext cx="4160520" cy="28346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2834640"/>
          </a:xfrm>
          <a:prstGeom prst="rect">
            <a:avLst/>
          </a:prstGeom>
          <a:solidFill>
            <a:srgbClr val="00D4AA"/>
          </a:solidFill>
          <a:ln/>
        </p:spPr>
      </p:sp>
      <p:sp>
        <p:nvSpPr>
          <p:cNvPr id="8" name="Text 6"/>
          <p:cNvSpPr/>
          <p:nvPr/>
        </p:nvSpPr>
        <p:spPr>
          <a:xfrm>
            <a:off x="548640" y="1755648"/>
            <a:ext cx="374904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What the Prompt Looks Like</a:t>
            </a:r>
            <a:endParaRPr lang="en-US" sz="1300" dirty="0"/>
          </a:p>
        </p:txBody>
      </p:sp>
      <p:sp>
        <p:nvSpPr>
          <p:cNvPr id="9" name="Shape 7"/>
          <p:cNvSpPr/>
          <p:nvPr/>
        </p:nvSpPr>
        <p:spPr>
          <a:xfrm>
            <a:off x="365760" y="2148840"/>
            <a:ext cx="4160520" cy="2194560"/>
          </a:xfrm>
          <a:prstGeom prst="rect">
            <a:avLst/>
          </a:prstGeom>
          <a:solidFill>
            <a:srgbClr val="010409"/>
          </a:solidFill>
          <a:ln/>
        </p:spPr>
      </p:sp>
      <p:sp>
        <p:nvSpPr>
          <p:cNvPr id="10" name="Text 8"/>
          <p:cNvSpPr/>
          <p:nvPr/>
        </p:nvSpPr>
        <p:spPr>
          <a:xfrm>
            <a:off x="502920" y="2194560"/>
            <a:ext cx="3886200" cy="210312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You are a helpful assistant answering</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questions using ONLY the provided sources.</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User question: What is defense in depth?</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[Source 1]</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Title: Defense in Depth...</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URL: https://example.org/...</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Excerpt: Defense in depth means using</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multiple layers of security controls...</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[Source 2]</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a:t>
            </a:r>
            <a:endParaRPr lang="en-US" sz="1000" dirty="0"/>
          </a:p>
        </p:txBody>
      </p:sp>
      <p:sp>
        <p:nvSpPr>
          <p:cNvPr id="11" name="Shape 9"/>
          <p:cNvSpPr/>
          <p:nvPr/>
        </p:nvSpPr>
        <p:spPr>
          <a:xfrm>
            <a:off x="4663440" y="1664208"/>
            <a:ext cx="4114800" cy="28346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4663440" y="1664208"/>
            <a:ext cx="54864" cy="2834640"/>
          </a:xfrm>
          <a:prstGeom prst="rect">
            <a:avLst/>
          </a:prstGeom>
          <a:solidFill>
            <a:srgbClr val="D29922"/>
          </a:solidFill>
          <a:ln/>
        </p:spPr>
      </p:sp>
      <p:sp>
        <p:nvSpPr>
          <p:cNvPr id="13" name="Text 11"/>
          <p:cNvSpPr/>
          <p:nvPr/>
        </p:nvSpPr>
        <p:spPr>
          <a:xfrm>
            <a:off x="4846320" y="1755648"/>
            <a:ext cx="3749040" cy="347472"/>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What 'Grounding' Means</a:t>
            </a:r>
            <a:endParaRPr lang="en-US" sz="1300" dirty="0"/>
          </a:p>
        </p:txBody>
      </p:sp>
      <p:sp>
        <p:nvSpPr>
          <p:cNvPr id="14" name="Text 12"/>
          <p:cNvSpPr/>
          <p:nvPr/>
        </p:nvSpPr>
        <p:spPr>
          <a:xfrm>
            <a:off x="4846320" y="2148840"/>
            <a:ext cx="3749040" cy="219456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The instruction 'Use ONLY sources' forces the model to cite rather than guess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If no sources are retrieved → the model says so</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Sources are returned with the answer so the user can verify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This is what makes RAG more trustworthy than plain LLM generation</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Prompt engineering IS system engineering</a:t>
            </a:r>
            <a:endParaRPr lang="en-US" sz="1050" dirty="0"/>
          </a:p>
        </p:txBody>
      </p:sp>
      <p:sp>
        <p:nvSpPr>
          <p:cNvPr id="15" name="Shape 13"/>
          <p:cNvSpPr/>
          <p:nvPr/>
        </p:nvSpPr>
        <p:spPr>
          <a:xfrm>
            <a:off x="365760" y="4572000"/>
            <a:ext cx="8412480" cy="43891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6" name="Text 14"/>
          <p:cNvSpPr/>
          <p:nvPr/>
        </p:nvSpPr>
        <p:spPr>
          <a:xfrm>
            <a:off x="548640" y="4617720"/>
            <a:ext cx="8046720" cy="347472"/>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Inspect the exact prompt:  curl -sS -X POST http://localhost:8088/debug/prompt -H "X-API-Key: $EDGE_API_KEY" -H "Content-Type: application/json" -d '{"message":"CIA triad?"}'</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7</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7 — RAG Chat (Part 3): Tuning &amp; Full /chat Call</a:t>
            </a:r>
            <a:endParaRPr lang="en-US" sz="2800" dirty="0"/>
          </a:p>
        </p:txBody>
      </p:sp>
      <p:sp>
        <p:nvSpPr>
          <p:cNvPr id="5" name="Shape 3"/>
          <p:cNvSpPr/>
          <p:nvPr/>
        </p:nvSpPr>
        <p:spPr>
          <a:xfrm>
            <a:off x="365760" y="1371600"/>
            <a:ext cx="4114800" cy="21031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71600"/>
            <a:ext cx="54864" cy="2103120"/>
          </a:xfrm>
          <a:prstGeom prst="rect">
            <a:avLst/>
          </a:prstGeom>
          <a:solidFill>
            <a:srgbClr val="79C0FF"/>
          </a:solidFill>
          <a:ln/>
        </p:spPr>
      </p:sp>
      <p:sp>
        <p:nvSpPr>
          <p:cNvPr id="7" name="Text 5"/>
          <p:cNvSpPr/>
          <p:nvPr/>
        </p:nvSpPr>
        <p:spPr>
          <a:xfrm>
            <a:off x="548640" y="1463040"/>
            <a:ext cx="374904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Tuning RAG_TOP_K</a:t>
            </a:r>
            <a:endParaRPr lang="en-US" sz="1300" dirty="0"/>
          </a:p>
        </p:txBody>
      </p:sp>
      <p:sp>
        <p:nvSpPr>
          <p:cNvPr id="8" name="Text 6"/>
          <p:cNvSpPr/>
          <p:nvPr/>
        </p:nvSpPr>
        <p:spPr>
          <a:xfrm>
            <a:off x="548640" y="1847088"/>
            <a:ext cx="374904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Controls how many documents are retrieved per query. This is a real RAG tradeoff:</a:t>
            </a:r>
            <a:endParaRPr lang="en-US" sz="1100" dirty="0"/>
          </a:p>
        </p:txBody>
      </p:sp>
      <p:sp>
        <p:nvSpPr>
          <p:cNvPr id="9" name="Text 7"/>
          <p:cNvSpPr/>
          <p:nvPr/>
        </p:nvSpPr>
        <p:spPr>
          <a:xfrm>
            <a:off x="548640" y="2304288"/>
            <a:ext cx="3749040" cy="100584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More sources → more coverage, but more noise in the prompt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Fewer sources → more focused, but may miss key context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Change in .env, restart ingestion-api to apply</a:t>
            </a:r>
            <a:endParaRPr lang="en-US" sz="1050" dirty="0"/>
          </a:p>
        </p:txBody>
      </p:sp>
      <p:sp>
        <p:nvSpPr>
          <p:cNvPr id="10" name="Shape 8"/>
          <p:cNvSpPr/>
          <p:nvPr/>
        </p:nvSpPr>
        <p:spPr>
          <a:xfrm>
            <a:off x="365760" y="3246120"/>
            <a:ext cx="4114800" cy="530352"/>
          </a:xfrm>
          <a:prstGeom prst="rect">
            <a:avLst/>
          </a:prstGeom>
          <a:solidFill>
            <a:srgbClr val="010409"/>
          </a:solidFill>
          <a:ln/>
        </p:spPr>
      </p:sp>
      <p:sp>
        <p:nvSpPr>
          <p:cNvPr id="11" name="Text 9"/>
          <p:cNvSpPr/>
          <p:nvPr/>
        </p:nvSpPr>
        <p:spPr>
          <a:xfrm>
            <a:off x="502920" y="3291840"/>
            <a:ext cx="3840480" cy="438912"/>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.env</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RAG_TOP_K=4</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then: docker compose restart ingestion-api</a:t>
            </a:r>
            <a:endParaRPr lang="en-US" sz="1000" dirty="0"/>
          </a:p>
        </p:txBody>
      </p:sp>
      <p:sp>
        <p:nvSpPr>
          <p:cNvPr id="12" name="Shape 10"/>
          <p:cNvSpPr/>
          <p:nvPr/>
        </p:nvSpPr>
        <p:spPr>
          <a:xfrm>
            <a:off x="4663440" y="1371600"/>
            <a:ext cx="4114800" cy="34290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3" name="Shape 11"/>
          <p:cNvSpPr/>
          <p:nvPr/>
        </p:nvSpPr>
        <p:spPr>
          <a:xfrm>
            <a:off x="4663440" y="1371600"/>
            <a:ext cx="54864" cy="3429000"/>
          </a:xfrm>
          <a:prstGeom prst="rect">
            <a:avLst/>
          </a:prstGeom>
          <a:solidFill>
            <a:srgbClr val="3FB950"/>
          </a:solidFill>
          <a:ln/>
        </p:spPr>
      </p:sp>
      <p:sp>
        <p:nvSpPr>
          <p:cNvPr id="14" name="Text 12"/>
          <p:cNvSpPr/>
          <p:nvPr/>
        </p:nvSpPr>
        <p:spPr>
          <a:xfrm>
            <a:off x="4846320" y="1463040"/>
            <a:ext cx="3749040" cy="34747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Full /chat Call</a:t>
            </a:r>
            <a:endParaRPr lang="en-US" sz="1300" dirty="0"/>
          </a:p>
        </p:txBody>
      </p:sp>
      <p:sp>
        <p:nvSpPr>
          <p:cNvPr id="15" name="Shape 13"/>
          <p:cNvSpPr/>
          <p:nvPr/>
        </p:nvSpPr>
        <p:spPr>
          <a:xfrm>
            <a:off x="4663440" y="1874520"/>
            <a:ext cx="4114800" cy="2651760"/>
          </a:xfrm>
          <a:prstGeom prst="rect">
            <a:avLst/>
          </a:prstGeom>
          <a:solidFill>
            <a:srgbClr val="010409"/>
          </a:solidFill>
          <a:ln/>
        </p:spPr>
      </p:sp>
      <p:sp>
        <p:nvSpPr>
          <p:cNvPr id="16" name="Text 14"/>
          <p:cNvSpPr/>
          <p:nvPr/>
        </p:nvSpPr>
        <p:spPr>
          <a:xfrm>
            <a:off x="4800600" y="1920240"/>
            <a:ext cx="3840480" cy="256032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curl -sS -X POST http://localhost:8088/chat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"Content-Type: application/json"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"X-API-Key: $EDGE_API_KEY"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-d '{"message": "What is defense in depth and how does this lab demonstrate it?"}'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 python -m json.tool</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Expected response shape:</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"answer":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"sources": [{title, url, distance,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t>
            </a:r>
            <a:endParaRPr lang="en-US" sz="1000" dirty="0"/>
          </a:p>
        </p:txBody>
      </p:sp>
      <p:sp>
        <p:nvSpPr>
          <p:cNvPr id="17" name="Shape 15"/>
          <p:cNvSpPr/>
          <p:nvPr/>
        </p:nvSpPr>
        <p:spPr>
          <a:xfrm>
            <a:off x="365760" y="3858768"/>
            <a:ext cx="4114800" cy="11430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8" name="Shape 16"/>
          <p:cNvSpPr/>
          <p:nvPr/>
        </p:nvSpPr>
        <p:spPr>
          <a:xfrm>
            <a:off x="365760" y="3858768"/>
            <a:ext cx="54864" cy="1143000"/>
          </a:xfrm>
          <a:prstGeom prst="rect">
            <a:avLst/>
          </a:prstGeom>
          <a:solidFill>
            <a:srgbClr val="F78166"/>
          </a:solidFill>
          <a:ln/>
        </p:spPr>
      </p:sp>
      <p:sp>
        <p:nvSpPr>
          <p:cNvPr id="19" name="Text 17"/>
          <p:cNvSpPr/>
          <p:nvPr/>
        </p:nvSpPr>
        <p:spPr>
          <a:xfrm>
            <a:off x="548640" y="3950208"/>
            <a:ext cx="3749040" cy="32004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If /chat fails or hangs:</a:t>
            </a:r>
            <a:endParaRPr lang="en-US" sz="1200" dirty="0"/>
          </a:p>
        </p:txBody>
      </p:sp>
      <p:sp>
        <p:nvSpPr>
          <p:cNvPr id="20" name="Text 18"/>
          <p:cNvSpPr/>
          <p:nvPr/>
        </p:nvSpPr>
        <p:spPr>
          <a:xfrm>
            <a:off x="548640" y="4315968"/>
            <a:ext cx="3749040" cy="594360"/>
          </a:xfrm>
          <a:prstGeom prst="rect">
            <a:avLst/>
          </a:prstGeom>
          <a:noFill/>
          <a:ln/>
        </p:spPr>
        <p:txBody>
          <a:bodyPr wrap="square" rtlCol="0" anchor="t"/>
          <a:lstStyle/>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debug/retrieve → if empty, fix ingestion</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debug/prompt → if wrong, fix prompt builder</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debug/ollama → if hangs, fix model/memory</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8</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8 — Gradio Chat UI</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Use the UI as an end-user · Understand the request path · Interpret sources · Debug from the UI</a:t>
            </a:r>
            <a:endParaRPr lang="en-US" sz="1100" dirty="0"/>
          </a:p>
        </p:txBody>
      </p:sp>
      <p:sp>
        <p:nvSpPr>
          <p:cNvPr id="6" name="Shape 4"/>
          <p:cNvSpPr/>
          <p:nvPr/>
        </p:nvSpPr>
        <p:spPr>
          <a:xfrm>
            <a:off x="365760" y="1664208"/>
            <a:ext cx="402336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3108960"/>
          </a:xfrm>
          <a:prstGeom prst="rect">
            <a:avLst/>
          </a:prstGeom>
          <a:solidFill>
            <a:srgbClr val="3FB950"/>
          </a:solidFill>
          <a:ln/>
        </p:spPr>
      </p:sp>
      <p:sp>
        <p:nvSpPr>
          <p:cNvPr id="8" name="Text 6"/>
          <p:cNvSpPr/>
          <p:nvPr/>
        </p:nvSpPr>
        <p:spPr>
          <a:xfrm>
            <a:off x="548640" y="1755648"/>
            <a:ext cx="3657600" cy="347472"/>
          </a:xfrm>
          <a:prstGeom prst="rect">
            <a:avLst/>
          </a:prstGeom>
          <a:noFill/>
          <a:ln/>
        </p:spPr>
        <p:txBody>
          <a:bodyPr wrap="square" rtlCol="0" anchor="ctr"/>
          <a:lstStyle/>
          <a:p>
            <a:pPr indent="0" marL="0">
              <a:buNone/>
            </a:pPr>
            <a:r>
              <a:rPr lang="en-US" sz="1400" b="1" dirty="0">
                <a:solidFill>
                  <a:srgbClr val="3FB950"/>
                </a:solidFill>
                <a:latin typeface="Calibri" pitchFamily="34" charset="0"/>
                <a:ea typeface="Calibri" pitchFamily="34" charset="-122"/>
                <a:cs typeface="Calibri" pitchFamily="34" charset="-120"/>
              </a:rPr>
              <a:t>Using the Chat UI</a:t>
            </a:r>
            <a:endParaRPr lang="en-US" sz="1400" dirty="0"/>
          </a:p>
        </p:txBody>
      </p:sp>
      <p:sp>
        <p:nvSpPr>
          <p:cNvPr id="9" name="Text 7"/>
          <p:cNvSpPr/>
          <p:nvPr/>
        </p:nvSpPr>
        <p:spPr>
          <a:xfrm>
            <a:off x="548640" y="2148840"/>
            <a:ext cx="3657600" cy="274320"/>
          </a:xfrm>
          <a:prstGeom prst="rect">
            <a:avLst/>
          </a:prstGeom>
          <a:noFill/>
          <a:ln/>
        </p:spPr>
        <p:txBody>
          <a:bodyPr wrap="square" rtlCol="0" anchor="ctr"/>
          <a:lstStyle/>
          <a:p>
            <a:pPr indent="0" marL="0">
              <a:buNone/>
            </a:pPr>
            <a:r>
              <a:rPr lang="en-US" sz="1100" dirty="0">
                <a:solidFill>
                  <a:srgbClr val="79C0FF"/>
                </a:solidFill>
                <a:latin typeface="Consolas" pitchFamily="34" charset="0"/>
                <a:ea typeface="Consolas" pitchFamily="34" charset="-122"/>
                <a:cs typeface="Consolas" pitchFamily="34" charset="-120"/>
              </a:rPr>
              <a:t>Open: http://localhost:7860</a:t>
            </a:r>
            <a:endParaRPr lang="en-US" sz="1100" dirty="0"/>
          </a:p>
        </p:txBody>
      </p:sp>
      <p:sp>
        <p:nvSpPr>
          <p:cNvPr id="10" name="Text 8"/>
          <p:cNvSpPr/>
          <p:nvPr/>
        </p:nvSpPr>
        <p:spPr>
          <a:xfrm>
            <a:off x="548640" y="2487168"/>
            <a:ext cx="365760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Good test questions:</a:t>
            </a:r>
            <a:endParaRPr lang="en-US" sz="1100" dirty="0"/>
          </a:p>
        </p:txBody>
      </p:sp>
      <p:sp>
        <p:nvSpPr>
          <p:cNvPr id="11" name="Text 9"/>
          <p:cNvSpPr/>
          <p:nvPr/>
        </p:nvSpPr>
        <p:spPr>
          <a:xfrm>
            <a:off x="548640" y="2798064"/>
            <a:ext cx="3657600" cy="1737360"/>
          </a:xfrm>
          <a:prstGeom prst="rect">
            <a:avLst/>
          </a:prstGeom>
          <a:noFill/>
          <a:ln/>
        </p:spPr>
        <p:txBody>
          <a:bodyPr wrap="square" rtlCol="0" anchor="t"/>
          <a:lstStyle/>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is the difference between authentication and authorization?"</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"Why is exposing a database directly to the internet risky?"</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is supply chain risk in AI pipelines?"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should we log during an incident?"</a:t>
            </a:r>
            <a:endParaRPr lang="en-US" sz="1000" dirty="0"/>
          </a:p>
        </p:txBody>
      </p:sp>
      <p:sp>
        <p:nvSpPr>
          <p:cNvPr id="12" name="Shape 10"/>
          <p:cNvSpPr/>
          <p:nvPr/>
        </p:nvSpPr>
        <p:spPr>
          <a:xfrm>
            <a:off x="4572000" y="1664208"/>
            <a:ext cx="420624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3" name="Shape 11"/>
          <p:cNvSpPr/>
          <p:nvPr/>
        </p:nvSpPr>
        <p:spPr>
          <a:xfrm>
            <a:off x="4572000" y="1664208"/>
            <a:ext cx="54864" cy="3108960"/>
          </a:xfrm>
          <a:prstGeom prst="rect">
            <a:avLst/>
          </a:prstGeom>
          <a:solidFill>
            <a:srgbClr val="79C0FF"/>
          </a:solidFill>
          <a:ln/>
        </p:spPr>
      </p:sp>
      <p:sp>
        <p:nvSpPr>
          <p:cNvPr id="14" name="Text 12"/>
          <p:cNvSpPr/>
          <p:nvPr/>
        </p:nvSpPr>
        <p:spPr>
          <a:xfrm>
            <a:off x="4754880" y="1755648"/>
            <a:ext cx="3840480" cy="347472"/>
          </a:xfrm>
          <a:prstGeom prst="rect">
            <a:avLst/>
          </a:prstGeom>
          <a:noFill/>
          <a:ln/>
        </p:spPr>
        <p:txBody>
          <a:bodyPr wrap="square" rtlCol="0" anchor="ctr"/>
          <a:lstStyle/>
          <a:p>
            <a:pPr indent="0" marL="0">
              <a:buNone/>
            </a:pPr>
            <a:r>
              <a:rPr lang="en-US" sz="1400" b="1" dirty="0">
                <a:solidFill>
                  <a:srgbClr val="79C0FF"/>
                </a:solidFill>
                <a:latin typeface="Calibri" pitchFamily="34" charset="0"/>
                <a:ea typeface="Calibri" pitchFamily="34" charset="-122"/>
                <a:cs typeface="Calibri" pitchFamily="34" charset="-120"/>
              </a:rPr>
              <a:t>Why Sources Matter</a:t>
            </a:r>
            <a:endParaRPr lang="en-US" sz="1400" dirty="0"/>
          </a:p>
        </p:txBody>
      </p:sp>
      <p:sp>
        <p:nvSpPr>
          <p:cNvPr id="15" name="Text 13"/>
          <p:cNvSpPr/>
          <p:nvPr/>
        </p:nvSpPr>
        <p:spPr>
          <a:xfrm>
            <a:off x="4754880" y="2148840"/>
            <a:ext cx="3840480" cy="24688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Sources show which documents the LLM used</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They make answers verifiable and auditable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High distance score = weaker match</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Low distance score = stronger semantic match</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Empty sources = retrieval failed, not a model problem</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Sources from example.org = sample data (expected until you ingest real docs)</a:t>
            </a:r>
            <a:endParaRPr lang="en-US" sz="1050" dirty="0"/>
          </a:p>
        </p:txBody>
      </p:sp>
      <p:sp>
        <p:nvSpPr>
          <p:cNvPr id="16" name="Shape 14"/>
          <p:cNvSpPr/>
          <p:nvPr/>
        </p:nvSpPr>
        <p:spPr>
          <a:xfrm>
            <a:off x="365760" y="4846320"/>
            <a:ext cx="8412480" cy="182880"/>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17" name="Text 15"/>
          <p:cNvSpPr/>
          <p:nvPr/>
        </p:nvSpPr>
        <p:spPr>
          <a:xfrm>
            <a:off x="548640" y="4864608"/>
            <a:ext cx="8046720" cy="146304"/>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Gradio UI is for demonstrating the chat pipeline to end users. /memory/query is a developer tool — use curl in the terminal to test it.</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9</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9 — Operations &amp; Troubleshooting (Part 1)</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Learning objectives: Use health endpoints · Read logs · Run the smoke test · Diagnose failures methodically</a:t>
            </a:r>
            <a:endParaRPr lang="en-US" sz="1100" dirty="0"/>
          </a:p>
        </p:txBody>
      </p:sp>
      <p:sp>
        <p:nvSpPr>
          <p:cNvPr id="6" name="Shape 4"/>
          <p:cNvSpPr/>
          <p:nvPr/>
        </p:nvSpPr>
        <p:spPr>
          <a:xfrm>
            <a:off x="365760" y="1664208"/>
            <a:ext cx="4114800" cy="18288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828800"/>
          </a:xfrm>
          <a:prstGeom prst="rect">
            <a:avLst/>
          </a:prstGeom>
          <a:solidFill>
            <a:srgbClr val="3FB950"/>
          </a:solidFill>
          <a:ln/>
        </p:spPr>
      </p:sp>
      <p:sp>
        <p:nvSpPr>
          <p:cNvPr id="8" name="Text 6"/>
          <p:cNvSpPr/>
          <p:nvPr/>
        </p:nvSpPr>
        <p:spPr>
          <a:xfrm>
            <a:off x="548640" y="1755648"/>
            <a:ext cx="3749040" cy="347472"/>
          </a:xfrm>
          <a:prstGeom prst="rect">
            <a:avLst/>
          </a:prstGeom>
          <a:noFill/>
          <a:ln/>
        </p:spPr>
        <p:txBody>
          <a:bodyPr wrap="square" rtlCol="0" anchor="ctr"/>
          <a:lstStyle/>
          <a:p>
            <a:pPr indent="0" marL="0">
              <a:buNone/>
            </a:pPr>
            <a:r>
              <a:rPr lang="en-US" sz="1300" b="1" dirty="0">
                <a:solidFill>
                  <a:srgbClr val="3FB950"/>
                </a:solidFill>
                <a:latin typeface="Calibri" pitchFamily="34" charset="0"/>
                <a:ea typeface="Calibri" pitchFamily="34" charset="-122"/>
                <a:cs typeface="Calibri" pitchFamily="34" charset="-120"/>
              </a:rPr>
              <a:t>Health Endpoints</a:t>
            </a:r>
            <a:endParaRPr lang="en-US" sz="1300" dirty="0"/>
          </a:p>
        </p:txBody>
      </p:sp>
      <p:sp>
        <p:nvSpPr>
          <p:cNvPr id="9" name="Shape 7"/>
          <p:cNvSpPr/>
          <p:nvPr/>
        </p:nvSpPr>
        <p:spPr>
          <a:xfrm>
            <a:off x="365760" y="2148840"/>
            <a:ext cx="4114800" cy="1234440"/>
          </a:xfrm>
          <a:prstGeom prst="rect">
            <a:avLst/>
          </a:prstGeom>
          <a:solidFill>
            <a:srgbClr val="010409"/>
          </a:solidFill>
          <a:ln/>
        </p:spPr>
      </p:sp>
      <p:sp>
        <p:nvSpPr>
          <p:cNvPr id="10" name="Text 8"/>
          <p:cNvSpPr/>
          <p:nvPr/>
        </p:nvSpPr>
        <p:spPr>
          <a:xfrm>
            <a:off x="502920" y="2194560"/>
            <a:ext cx="3840480" cy="11430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Proxy health (no auth needed)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-i http://localhost:8088/proxy-health</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API health (auth required)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-i -H "X-API-Key: $EDGE_API_KEY" http://localhost:8088/health</a:t>
            </a:r>
            <a:endParaRPr lang="en-US" sz="1000" dirty="0"/>
          </a:p>
        </p:txBody>
      </p:sp>
      <p:sp>
        <p:nvSpPr>
          <p:cNvPr id="11" name="Shape 9"/>
          <p:cNvSpPr/>
          <p:nvPr/>
        </p:nvSpPr>
        <p:spPr>
          <a:xfrm>
            <a:off x="4663440" y="1664208"/>
            <a:ext cx="4114800" cy="18288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4663440" y="1664208"/>
            <a:ext cx="54864" cy="1828800"/>
          </a:xfrm>
          <a:prstGeom prst="rect">
            <a:avLst/>
          </a:prstGeom>
          <a:solidFill>
            <a:srgbClr val="79C0FF"/>
          </a:solidFill>
          <a:ln/>
        </p:spPr>
      </p:sp>
      <p:sp>
        <p:nvSpPr>
          <p:cNvPr id="13" name="Text 11"/>
          <p:cNvSpPr/>
          <p:nvPr/>
        </p:nvSpPr>
        <p:spPr>
          <a:xfrm>
            <a:off x="4846320" y="1755648"/>
            <a:ext cx="374904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Logs — Your #1 Debug Tool</a:t>
            </a:r>
            <a:endParaRPr lang="en-US" sz="1300" dirty="0"/>
          </a:p>
        </p:txBody>
      </p:sp>
      <p:sp>
        <p:nvSpPr>
          <p:cNvPr id="14" name="Shape 12"/>
          <p:cNvSpPr/>
          <p:nvPr/>
        </p:nvSpPr>
        <p:spPr>
          <a:xfrm>
            <a:off x="4663440" y="2148840"/>
            <a:ext cx="4114800" cy="1234440"/>
          </a:xfrm>
          <a:prstGeom prst="rect">
            <a:avLst/>
          </a:prstGeom>
          <a:solidFill>
            <a:srgbClr val="010409"/>
          </a:solidFill>
          <a:ln/>
        </p:spPr>
      </p:sp>
      <p:sp>
        <p:nvSpPr>
          <p:cNvPr id="15" name="Text 13"/>
          <p:cNvSpPr/>
          <p:nvPr/>
        </p:nvSpPr>
        <p:spPr>
          <a:xfrm>
            <a:off x="4800600" y="2194560"/>
            <a:ext cx="3840480" cy="11430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 All services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./bin/logs.sh</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Specific service</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compose logs ingestion-api --tail=200</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compose logs qdrant --tail=200</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compose logs ollama --tail=200</a:t>
            </a:r>
            <a:endParaRPr lang="en-US" sz="1000" dirty="0"/>
          </a:p>
        </p:txBody>
      </p:sp>
      <p:sp>
        <p:nvSpPr>
          <p:cNvPr id="16" name="Shape 14"/>
          <p:cNvSpPr/>
          <p:nvPr/>
        </p:nvSpPr>
        <p:spPr>
          <a:xfrm>
            <a:off x="365760" y="3584448"/>
            <a:ext cx="8412480" cy="12344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7" name="Shape 15"/>
          <p:cNvSpPr/>
          <p:nvPr/>
        </p:nvSpPr>
        <p:spPr>
          <a:xfrm>
            <a:off x="365760" y="3584448"/>
            <a:ext cx="54864" cy="1234440"/>
          </a:xfrm>
          <a:prstGeom prst="rect">
            <a:avLst/>
          </a:prstGeom>
          <a:solidFill>
            <a:srgbClr val="00D4AA"/>
          </a:solidFill>
          <a:ln/>
        </p:spPr>
      </p:sp>
      <p:sp>
        <p:nvSpPr>
          <p:cNvPr id="18" name="Text 16"/>
          <p:cNvSpPr/>
          <p:nvPr/>
        </p:nvSpPr>
        <p:spPr>
          <a:xfrm>
            <a:off x="548640" y="3675888"/>
            <a:ext cx="804672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Smoke Test — The 'It Works' Button</a:t>
            </a:r>
            <a:endParaRPr lang="en-US" sz="1300" dirty="0"/>
          </a:p>
        </p:txBody>
      </p:sp>
      <p:sp>
        <p:nvSpPr>
          <p:cNvPr id="19" name="Text 17"/>
          <p:cNvSpPr/>
          <p:nvPr/>
        </p:nvSpPr>
        <p:spPr>
          <a:xfrm>
            <a:off x="548640" y="4041648"/>
            <a:ext cx="4114800" cy="41148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Runs proxy → auth → ingest → retrieval → prompt build → chat generation. If all pass, your system is healthy.</a:t>
            </a:r>
            <a:endParaRPr lang="en-US" sz="1100" dirty="0"/>
          </a:p>
        </p:txBody>
      </p:sp>
      <p:sp>
        <p:nvSpPr>
          <p:cNvPr id="20" name="Shape 18"/>
          <p:cNvSpPr/>
          <p:nvPr/>
        </p:nvSpPr>
        <p:spPr>
          <a:xfrm>
            <a:off x="4754880" y="3913632"/>
            <a:ext cx="3840480" cy="384048"/>
          </a:xfrm>
          <a:prstGeom prst="rect">
            <a:avLst/>
          </a:prstGeom>
          <a:solidFill>
            <a:srgbClr val="010409"/>
          </a:solidFill>
          <a:ln/>
        </p:spPr>
      </p:sp>
      <p:sp>
        <p:nvSpPr>
          <p:cNvPr id="21" name="Text 19"/>
          <p:cNvSpPr/>
          <p:nvPr/>
        </p:nvSpPr>
        <p:spPr>
          <a:xfrm>
            <a:off x="4892040" y="3959352"/>
            <a:ext cx="3566160" cy="292608"/>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./bin/smoke_test.sh</a:t>
            </a:r>
            <a:endParaRPr lang="en-US" sz="1000" dirty="0"/>
          </a:p>
        </p:txBody>
      </p:sp>
      <p:sp>
        <p:nvSpPr>
          <p:cNvPr id="22" name="Text 20"/>
          <p:cNvSpPr/>
          <p:nvPr/>
        </p:nvSpPr>
        <p:spPr>
          <a:xfrm>
            <a:off x="548640" y="4864608"/>
            <a:ext cx="8046720" cy="182880"/>
          </a:xfrm>
          <a:prstGeom prst="rect">
            <a:avLst/>
          </a:prstGeom>
          <a:noFill/>
          <a:ln/>
        </p:spPr>
        <p:txBody>
          <a:bodyPr wrap="square" rtlCol="0" anchor="ctr"/>
          <a:lstStyle/>
          <a:p>
            <a:pPr indent="0" marL="0">
              <a:buNone/>
            </a:pPr>
            <a:r>
              <a:rPr lang="en-US" sz="1000" i="1" dirty="0">
                <a:solidFill>
                  <a:srgbClr val="D29922"/>
                </a:solidFill>
                <a:latin typeface="Calibri" pitchFamily="34" charset="0"/>
                <a:ea typeface="Calibri" pitchFamily="34" charset="-122"/>
                <a:cs typeface="Calibri" pitchFamily="34" charset="-120"/>
              </a:rPr>
              <a:t>Rule: Don't guess — check ps → logs → health → smoke test in that order.</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9</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9 — Operations (Part 2): Failure Drills</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Each drill: run smoke test → break a component → observe → diagnose → fix → run smoke test again.</a:t>
            </a:r>
            <a:endParaRPr lang="en-US" sz="1100" dirty="0"/>
          </a:p>
        </p:txBody>
      </p:sp>
      <p:sp>
        <p:nvSpPr>
          <p:cNvPr id="6" name="Shape 4"/>
          <p:cNvSpPr/>
          <p:nvPr/>
        </p:nvSpPr>
        <p:spPr>
          <a:xfrm>
            <a:off x="365760" y="1645920"/>
            <a:ext cx="8412480" cy="877824"/>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45920"/>
            <a:ext cx="54864" cy="877824"/>
          </a:xfrm>
          <a:prstGeom prst="rect">
            <a:avLst/>
          </a:prstGeom>
          <a:solidFill>
            <a:srgbClr val="F78166"/>
          </a:solidFill>
          <a:ln/>
        </p:spPr>
      </p:sp>
      <p:sp>
        <p:nvSpPr>
          <p:cNvPr id="8" name="Text 6"/>
          <p:cNvSpPr/>
          <p:nvPr/>
        </p:nvSpPr>
        <p:spPr>
          <a:xfrm>
            <a:off x="548640" y="1719072"/>
            <a:ext cx="2743200" cy="292608"/>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Drill A — Stop Ollama</a:t>
            </a:r>
            <a:endParaRPr lang="en-US" sz="1200" dirty="0"/>
          </a:p>
        </p:txBody>
      </p:sp>
      <p:sp>
        <p:nvSpPr>
          <p:cNvPr id="9" name="Text 7"/>
          <p:cNvSpPr/>
          <p:nvPr/>
        </p:nvSpPr>
        <p:spPr>
          <a:xfrm>
            <a:off x="548640" y="2029968"/>
            <a:ext cx="457200" cy="256032"/>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Stop:</a:t>
            </a:r>
            <a:endParaRPr lang="en-US" sz="900" dirty="0"/>
          </a:p>
        </p:txBody>
      </p:sp>
      <p:sp>
        <p:nvSpPr>
          <p:cNvPr id="10" name="Text 8"/>
          <p:cNvSpPr/>
          <p:nvPr/>
        </p:nvSpPr>
        <p:spPr>
          <a:xfrm>
            <a:off x="1005840" y="2029968"/>
            <a:ext cx="2286000" cy="256032"/>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docker stop ollama</a:t>
            </a:r>
            <a:endParaRPr lang="en-US" sz="900" dirty="0"/>
          </a:p>
        </p:txBody>
      </p:sp>
      <p:sp>
        <p:nvSpPr>
          <p:cNvPr id="11" name="Text 9"/>
          <p:cNvSpPr/>
          <p:nvPr/>
        </p:nvSpPr>
        <p:spPr>
          <a:xfrm>
            <a:off x="3383280" y="1737360"/>
            <a:ext cx="5212080" cy="292608"/>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Symptom: debug/retrieve still works · /chat fails on generation step</a:t>
            </a:r>
            <a:endParaRPr lang="en-US" sz="950" dirty="0"/>
          </a:p>
        </p:txBody>
      </p:sp>
      <p:sp>
        <p:nvSpPr>
          <p:cNvPr id="12" name="Text 10"/>
          <p:cNvSpPr/>
          <p:nvPr/>
        </p:nvSpPr>
        <p:spPr>
          <a:xfrm>
            <a:off x="3383280" y="2029968"/>
            <a:ext cx="5212080" cy="384048"/>
          </a:xfrm>
          <a:prstGeom prst="rect">
            <a:avLst/>
          </a:prstGeom>
          <a:noFill/>
          <a:ln/>
        </p:spPr>
        <p:txBody>
          <a:bodyPr wrap="square" rtlCol="0" anchor="ctr"/>
          <a:lstStyle/>
          <a:p>
            <a:pPr indent="0" marL="0">
              <a:buNone/>
            </a:pPr>
            <a:r>
              <a:rPr lang="en-US" sz="950" i="1" dirty="0">
                <a:solidFill>
                  <a:srgbClr val="8B949E"/>
                </a:solidFill>
                <a:latin typeface="Calibri" pitchFamily="34" charset="0"/>
                <a:ea typeface="Calibri" pitchFamily="34" charset="-122"/>
                <a:cs typeface="Calibri" pitchFamily="34" charset="-120"/>
              </a:rPr>
              <a:t>→ Retrieval and generation are independent. Retrieval doesn't need Ollama.</a:t>
            </a:r>
            <a:endParaRPr lang="en-US" sz="950" dirty="0"/>
          </a:p>
        </p:txBody>
      </p:sp>
      <p:sp>
        <p:nvSpPr>
          <p:cNvPr id="13" name="Shape 11"/>
          <p:cNvSpPr/>
          <p:nvPr/>
        </p:nvSpPr>
        <p:spPr>
          <a:xfrm>
            <a:off x="365760" y="2633472"/>
            <a:ext cx="8412480" cy="877824"/>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4" name="Shape 12"/>
          <p:cNvSpPr/>
          <p:nvPr/>
        </p:nvSpPr>
        <p:spPr>
          <a:xfrm>
            <a:off x="365760" y="2633472"/>
            <a:ext cx="54864" cy="877824"/>
          </a:xfrm>
          <a:prstGeom prst="rect">
            <a:avLst/>
          </a:prstGeom>
          <a:solidFill>
            <a:srgbClr val="00D4AA"/>
          </a:solidFill>
          <a:ln/>
        </p:spPr>
      </p:sp>
      <p:sp>
        <p:nvSpPr>
          <p:cNvPr id="15" name="Text 13"/>
          <p:cNvSpPr/>
          <p:nvPr/>
        </p:nvSpPr>
        <p:spPr>
          <a:xfrm>
            <a:off x="548640" y="2706624"/>
            <a:ext cx="2743200" cy="292608"/>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Drill B — Stop Qdrant</a:t>
            </a:r>
            <a:endParaRPr lang="en-US" sz="1200" dirty="0"/>
          </a:p>
        </p:txBody>
      </p:sp>
      <p:sp>
        <p:nvSpPr>
          <p:cNvPr id="16" name="Text 14"/>
          <p:cNvSpPr/>
          <p:nvPr/>
        </p:nvSpPr>
        <p:spPr>
          <a:xfrm>
            <a:off x="548640" y="3017520"/>
            <a:ext cx="457200" cy="256032"/>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Stop:</a:t>
            </a:r>
            <a:endParaRPr lang="en-US" sz="900" dirty="0"/>
          </a:p>
        </p:txBody>
      </p:sp>
      <p:sp>
        <p:nvSpPr>
          <p:cNvPr id="17" name="Text 15"/>
          <p:cNvSpPr/>
          <p:nvPr/>
        </p:nvSpPr>
        <p:spPr>
          <a:xfrm>
            <a:off x="1005840" y="3017520"/>
            <a:ext cx="2286000" cy="256032"/>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docker stop qdrant</a:t>
            </a:r>
            <a:endParaRPr lang="en-US" sz="900" dirty="0"/>
          </a:p>
        </p:txBody>
      </p:sp>
      <p:sp>
        <p:nvSpPr>
          <p:cNvPr id="18" name="Text 16"/>
          <p:cNvSpPr/>
          <p:nvPr/>
        </p:nvSpPr>
        <p:spPr>
          <a:xfrm>
            <a:off x="3383280" y="2724912"/>
            <a:ext cx="5212080" cy="292608"/>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Symptom: /health reports ok: false · debug/retrieve fails · chat fails at retrieval step</a:t>
            </a:r>
            <a:endParaRPr lang="en-US" sz="950" dirty="0"/>
          </a:p>
        </p:txBody>
      </p:sp>
      <p:sp>
        <p:nvSpPr>
          <p:cNvPr id="19" name="Text 17"/>
          <p:cNvSpPr/>
          <p:nvPr/>
        </p:nvSpPr>
        <p:spPr>
          <a:xfrm>
            <a:off x="3383280" y="3017520"/>
            <a:ext cx="5212080" cy="384048"/>
          </a:xfrm>
          <a:prstGeom prst="rect">
            <a:avLst/>
          </a:prstGeom>
          <a:noFill/>
          <a:ln/>
        </p:spPr>
        <p:txBody>
          <a:bodyPr wrap="square" rtlCol="0" anchor="ctr"/>
          <a:lstStyle/>
          <a:p>
            <a:pPr indent="0" marL="0">
              <a:buNone/>
            </a:pPr>
            <a:r>
              <a:rPr lang="en-US" sz="950" i="1" dirty="0">
                <a:solidFill>
                  <a:srgbClr val="8B949E"/>
                </a:solidFill>
                <a:latin typeface="Calibri" pitchFamily="34" charset="0"/>
                <a:ea typeface="Calibri" pitchFamily="34" charset="-122"/>
                <a:cs typeface="Calibri" pitchFamily="34" charset="-120"/>
              </a:rPr>
              <a:t>→ Everything downstream of retrieval breaks when Qdrant is down.</a:t>
            </a:r>
            <a:endParaRPr lang="en-US" sz="950" dirty="0"/>
          </a:p>
        </p:txBody>
      </p:sp>
      <p:sp>
        <p:nvSpPr>
          <p:cNvPr id="20" name="Shape 18"/>
          <p:cNvSpPr/>
          <p:nvPr/>
        </p:nvSpPr>
        <p:spPr>
          <a:xfrm>
            <a:off x="365760" y="3621024"/>
            <a:ext cx="8412480" cy="877824"/>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9"/>
          <p:cNvSpPr/>
          <p:nvPr/>
        </p:nvSpPr>
        <p:spPr>
          <a:xfrm>
            <a:off x="365760" y="3621024"/>
            <a:ext cx="54864" cy="877824"/>
          </a:xfrm>
          <a:prstGeom prst="rect">
            <a:avLst/>
          </a:prstGeom>
          <a:solidFill>
            <a:srgbClr val="79C0FF"/>
          </a:solidFill>
          <a:ln/>
        </p:spPr>
      </p:sp>
      <p:sp>
        <p:nvSpPr>
          <p:cNvPr id="22" name="Text 20"/>
          <p:cNvSpPr/>
          <p:nvPr/>
        </p:nvSpPr>
        <p:spPr>
          <a:xfrm>
            <a:off x="548640" y="3694176"/>
            <a:ext cx="2743200" cy="292608"/>
          </a:xfrm>
          <a:prstGeom prst="rect">
            <a:avLst/>
          </a:prstGeom>
          <a:noFill/>
          <a:ln/>
        </p:spPr>
        <p:txBody>
          <a:bodyPr wrap="square" rtlCol="0" anchor="ctr"/>
          <a:lstStyle/>
          <a:p>
            <a:pPr indent="0" marL="0">
              <a:buNone/>
            </a:pPr>
            <a:r>
              <a:rPr lang="en-US" sz="1200" b="1" dirty="0">
                <a:solidFill>
                  <a:srgbClr val="79C0FF"/>
                </a:solidFill>
                <a:latin typeface="Calibri" pitchFamily="34" charset="0"/>
                <a:ea typeface="Calibri" pitchFamily="34" charset="-122"/>
                <a:cs typeface="Calibri" pitchFamily="34" charset="-120"/>
              </a:rPr>
              <a:t>Drill C — Stop text2vec-transformers</a:t>
            </a:r>
            <a:endParaRPr lang="en-US" sz="1200" dirty="0"/>
          </a:p>
        </p:txBody>
      </p:sp>
      <p:sp>
        <p:nvSpPr>
          <p:cNvPr id="23" name="Text 21"/>
          <p:cNvSpPr/>
          <p:nvPr/>
        </p:nvSpPr>
        <p:spPr>
          <a:xfrm>
            <a:off x="548640" y="4005072"/>
            <a:ext cx="457200" cy="256032"/>
          </a:xfrm>
          <a:prstGeom prst="rect">
            <a:avLst/>
          </a:prstGeom>
          <a:noFill/>
          <a:ln/>
        </p:spPr>
        <p:txBody>
          <a:bodyPr wrap="square" rtlCol="0" anchor="ctr"/>
          <a:lstStyle/>
          <a:p>
            <a:pPr indent="0" marL="0">
              <a:buNone/>
            </a:pPr>
            <a:r>
              <a:rPr lang="en-US" sz="900" dirty="0">
                <a:solidFill>
                  <a:srgbClr val="8B949E"/>
                </a:solidFill>
                <a:latin typeface="Calibri" pitchFamily="34" charset="0"/>
                <a:ea typeface="Calibri" pitchFamily="34" charset="-122"/>
                <a:cs typeface="Calibri" pitchFamily="34" charset="-120"/>
              </a:rPr>
              <a:t>Stop:</a:t>
            </a:r>
            <a:endParaRPr lang="en-US" sz="900" dirty="0"/>
          </a:p>
        </p:txBody>
      </p:sp>
      <p:sp>
        <p:nvSpPr>
          <p:cNvPr id="24" name="Text 22"/>
          <p:cNvSpPr/>
          <p:nvPr/>
        </p:nvSpPr>
        <p:spPr>
          <a:xfrm>
            <a:off x="1005840" y="4005072"/>
            <a:ext cx="2286000" cy="256032"/>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docker stop text2vec-transformers</a:t>
            </a:r>
            <a:endParaRPr lang="en-US" sz="900" dirty="0"/>
          </a:p>
        </p:txBody>
      </p:sp>
      <p:sp>
        <p:nvSpPr>
          <p:cNvPr id="25" name="Text 23"/>
          <p:cNvSpPr/>
          <p:nvPr/>
        </p:nvSpPr>
        <p:spPr>
          <a:xfrm>
            <a:off x="3383280" y="3712464"/>
            <a:ext cx="5212080" cy="292608"/>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Symptom: Ingestion may fail · Retrieval degrades because embeddings can't be generated</a:t>
            </a:r>
            <a:endParaRPr lang="en-US" sz="950" dirty="0"/>
          </a:p>
        </p:txBody>
      </p:sp>
      <p:sp>
        <p:nvSpPr>
          <p:cNvPr id="26" name="Text 24"/>
          <p:cNvSpPr/>
          <p:nvPr/>
        </p:nvSpPr>
        <p:spPr>
          <a:xfrm>
            <a:off x="3383280" y="4005072"/>
            <a:ext cx="5212080" cy="384048"/>
          </a:xfrm>
          <a:prstGeom prst="rect">
            <a:avLst/>
          </a:prstGeom>
          <a:noFill/>
          <a:ln/>
        </p:spPr>
        <p:txBody>
          <a:bodyPr wrap="square" rtlCol="0" anchor="ctr"/>
          <a:lstStyle/>
          <a:p>
            <a:pPr indent="0" marL="0">
              <a:buNone/>
            </a:pPr>
            <a:r>
              <a:rPr lang="en-US" sz="950" i="1" dirty="0">
                <a:solidFill>
                  <a:srgbClr val="8B949E"/>
                </a:solidFill>
                <a:latin typeface="Calibri" pitchFamily="34" charset="0"/>
                <a:ea typeface="Calibri" pitchFamily="34" charset="-122"/>
                <a:cs typeface="Calibri" pitchFamily="34" charset="-120"/>
              </a:rPr>
              <a:t>→ The embedding service is required for both ingestion AND retrieval.</a:t>
            </a:r>
            <a:endParaRPr lang="en-US" sz="950" dirty="0"/>
          </a:p>
        </p:txBody>
      </p:sp>
      <p:sp>
        <p:nvSpPr>
          <p:cNvPr id="27" name="Shape 25"/>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28" name="Text 26"/>
          <p:cNvSpPr/>
          <p:nvPr/>
        </p:nvSpPr>
        <p:spPr>
          <a:xfrm>
            <a:off x="548640" y="4663440"/>
            <a:ext cx="8046720" cy="292608"/>
          </a:xfrm>
          <a:prstGeom prst="rect">
            <a:avLst/>
          </a:prstGeom>
          <a:noFill/>
          <a:ln/>
        </p:spPr>
        <p:txBody>
          <a:bodyPr wrap="square" rtlCol="0" anchor="ctr"/>
          <a:lstStyle/>
          <a:p>
            <a:pPr indent="0" marL="0">
              <a:buNone/>
            </a:pPr>
            <a:r>
              <a:rPr lang="en-US" sz="1000" dirty="0">
                <a:solidFill>
                  <a:srgbClr val="D29922"/>
                </a:solidFill>
                <a:latin typeface="Calibri" pitchFamily="34" charset="0"/>
                <a:ea typeface="Calibri" pitchFamily="34" charset="-122"/>
                <a:cs typeface="Calibri" pitchFamily="34" charset="-120"/>
              </a:rPr>
              <a:t>Stop = pauses container (data preserved)  ·  docker compose down = stops all (data preserved)  ·  ./bin/reset_all.sh = FULL WIPE (data deleted)</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10</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10 — Conclusion (Part 1): What You Actually Built</a:t>
            </a:r>
            <a:endParaRPr lang="en-US" sz="2800" dirty="0"/>
          </a:p>
        </p:txBody>
      </p:sp>
      <p:sp>
        <p:nvSpPr>
          <p:cNvPr id="5" name="Shape 3"/>
          <p:cNvSpPr/>
          <p:nvPr/>
        </p:nvSpPr>
        <p:spPr>
          <a:xfrm>
            <a:off x="365760" y="1325880"/>
            <a:ext cx="8412480" cy="56692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25880"/>
            <a:ext cx="384048" cy="566928"/>
          </a:xfrm>
          <a:prstGeom prst="rect">
            <a:avLst/>
          </a:prstGeom>
          <a:solidFill>
            <a:srgbClr val="F78166"/>
          </a:solidFill>
          <a:ln/>
        </p:spPr>
      </p:sp>
      <p:sp>
        <p:nvSpPr>
          <p:cNvPr id="7" name="Text 5"/>
          <p:cNvSpPr/>
          <p:nvPr/>
        </p:nvSpPr>
        <p:spPr>
          <a:xfrm>
            <a:off x="365760" y="1417320"/>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rPr>
              <a:t>1</a:t>
            </a:r>
            <a:endParaRPr lang="en-US" sz="1600" dirty="0"/>
          </a:p>
        </p:txBody>
      </p:sp>
      <p:sp>
        <p:nvSpPr>
          <p:cNvPr id="8" name="Text 6"/>
          <p:cNvSpPr/>
          <p:nvPr/>
        </p:nvSpPr>
        <p:spPr>
          <a:xfrm>
            <a:off x="868680" y="1389888"/>
            <a:ext cx="3200400" cy="292608"/>
          </a:xfrm>
          <a:prstGeom prst="rect">
            <a:avLst/>
          </a:prstGeom>
          <a:noFill/>
          <a:ln/>
        </p:spPr>
        <p:txBody>
          <a:bodyPr wrap="square" rtlCol="0" anchor="ctr"/>
          <a:lstStyle/>
          <a:p>
            <a:pPr indent="0" marL="0">
              <a:buNone/>
            </a:pPr>
            <a:r>
              <a:rPr lang="en-US" sz="1100" b="1" dirty="0">
                <a:solidFill>
                  <a:srgbClr val="F78166"/>
                </a:solidFill>
                <a:latin typeface="Calibri" pitchFamily="34" charset="0"/>
                <a:ea typeface="Calibri" pitchFamily="34" charset="-122"/>
                <a:cs typeface="Calibri" pitchFamily="34" charset="-120"/>
              </a:rPr>
              <a:t>Edge Control (NGINX)</a:t>
            </a:r>
            <a:endParaRPr lang="en-US" sz="1100" dirty="0"/>
          </a:p>
        </p:txBody>
      </p:sp>
      <p:sp>
        <p:nvSpPr>
          <p:cNvPr id="9" name="Text 7"/>
          <p:cNvSpPr/>
          <p:nvPr/>
        </p:nvSpPr>
        <p:spPr>
          <a:xfrm>
            <a:off x="4160520" y="1389888"/>
            <a:ext cx="457200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Validates API key, blocks unauthorized traffic, proxies to FastAPI</a:t>
            </a:r>
            <a:endParaRPr lang="en-US" sz="1100" dirty="0"/>
          </a:p>
        </p:txBody>
      </p:sp>
      <p:sp>
        <p:nvSpPr>
          <p:cNvPr id="10" name="Shape 8"/>
          <p:cNvSpPr/>
          <p:nvPr/>
        </p:nvSpPr>
        <p:spPr>
          <a:xfrm>
            <a:off x="365760" y="1984248"/>
            <a:ext cx="8412480" cy="56692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365760" y="1984248"/>
            <a:ext cx="384048" cy="566928"/>
          </a:xfrm>
          <a:prstGeom prst="rect">
            <a:avLst/>
          </a:prstGeom>
          <a:solidFill>
            <a:srgbClr val="79C0FF"/>
          </a:solidFill>
          <a:ln/>
        </p:spPr>
      </p:sp>
      <p:sp>
        <p:nvSpPr>
          <p:cNvPr id="12" name="Text 10"/>
          <p:cNvSpPr/>
          <p:nvPr/>
        </p:nvSpPr>
        <p:spPr>
          <a:xfrm>
            <a:off x="365760" y="2075688"/>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rPr>
              <a:t>2</a:t>
            </a:r>
            <a:endParaRPr lang="en-US" sz="1600" dirty="0"/>
          </a:p>
        </p:txBody>
      </p:sp>
      <p:sp>
        <p:nvSpPr>
          <p:cNvPr id="13" name="Text 11"/>
          <p:cNvSpPr/>
          <p:nvPr/>
        </p:nvSpPr>
        <p:spPr>
          <a:xfrm>
            <a:off x="868680" y="2048256"/>
            <a:ext cx="3200400" cy="292608"/>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Application Orchestration (FastAPI)</a:t>
            </a:r>
            <a:endParaRPr lang="en-US" sz="1100" dirty="0"/>
          </a:p>
        </p:txBody>
      </p:sp>
      <p:sp>
        <p:nvSpPr>
          <p:cNvPr id="14" name="Text 12"/>
          <p:cNvSpPr/>
          <p:nvPr/>
        </p:nvSpPr>
        <p:spPr>
          <a:xfrm>
            <a:off x="4160520" y="2048256"/>
            <a:ext cx="457200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Coordinates retrieval → prompt → generation. The system's brain.</a:t>
            </a:r>
            <a:endParaRPr lang="en-US" sz="1100" dirty="0"/>
          </a:p>
        </p:txBody>
      </p:sp>
      <p:sp>
        <p:nvSpPr>
          <p:cNvPr id="15" name="Shape 13"/>
          <p:cNvSpPr/>
          <p:nvPr/>
        </p:nvSpPr>
        <p:spPr>
          <a:xfrm>
            <a:off x="365760" y="2642616"/>
            <a:ext cx="8412480" cy="56692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4"/>
          <p:cNvSpPr/>
          <p:nvPr/>
        </p:nvSpPr>
        <p:spPr>
          <a:xfrm>
            <a:off x="365760" y="2642616"/>
            <a:ext cx="384048" cy="566928"/>
          </a:xfrm>
          <a:prstGeom prst="rect">
            <a:avLst/>
          </a:prstGeom>
          <a:solidFill>
            <a:srgbClr val="00D4AA"/>
          </a:solidFill>
          <a:ln/>
        </p:spPr>
      </p:sp>
      <p:sp>
        <p:nvSpPr>
          <p:cNvPr id="17" name="Text 15"/>
          <p:cNvSpPr/>
          <p:nvPr/>
        </p:nvSpPr>
        <p:spPr>
          <a:xfrm>
            <a:off x="365760" y="2734056"/>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rPr>
              <a:t>3</a:t>
            </a:r>
            <a:endParaRPr lang="en-US" sz="1600" dirty="0"/>
          </a:p>
        </p:txBody>
      </p:sp>
      <p:sp>
        <p:nvSpPr>
          <p:cNvPr id="18" name="Text 16"/>
          <p:cNvSpPr/>
          <p:nvPr/>
        </p:nvSpPr>
        <p:spPr>
          <a:xfrm>
            <a:off x="868680" y="2706624"/>
            <a:ext cx="3200400" cy="292608"/>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Retrieval (Qdrant)</a:t>
            </a:r>
            <a:endParaRPr lang="en-US" sz="1100" dirty="0"/>
          </a:p>
        </p:txBody>
      </p:sp>
      <p:sp>
        <p:nvSpPr>
          <p:cNvPr id="19" name="Text 17"/>
          <p:cNvSpPr/>
          <p:nvPr/>
        </p:nvSpPr>
        <p:spPr>
          <a:xfrm>
            <a:off x="4160520" y="2706624"/>
            <a:ext cx="457200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Semantic similarity search — finds meaning-based document matches</a:t>
            </a:r>
            <a:endParaRPr lang="en-US" sz="1100" dirty="0"/>
          </a:p>
        </p:txBody>
      </p:sp>
      <p:sp>
        <p:nvSpPr>
          <p:cNvPr id="20" name="Shape 18"/>
          <p:cNvSpPr/>
          <p:nvPr/>
        </p:nvSpPr>
        <p:spPr>
          <a:xfrm>
            <a:off x="365760" y="3300984"/>
            <a:ext cx="8412480" cy="56692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9"/>
          <p:cNvSpPr/>
          <p:nvPr/>
        </p:nvSpPr>
        <p:spPr>
          <a:xfrm>
            <a:off x="365760" y="3300984"/>
            <a:ext cx="384048" cy="566928"/>
          </a:xfrm>
          <a:prstGeom prst="rect">
            <a:avLst/>
          </a:prstGeom>
          <a:solidFill>
            <a:srgbClr val="D29922"/>
          </a:solidFill>
          <a:ln/>
        </p:spPr>
      </p:sp>
      <p:sp>
        <p:nvSpPr>
          <p:cNvPr id="22" name="Text 20"/>
          <p:cNvSpPr/>
          <p:nvPr/>
        </p:nvSpPr>
        <p:spPr>
          <a:xfrm>
            <a:off x="365760" y="3392424"/>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rPr>
              <a:t>4</a:t>
            </a:r>
            <a:endParaRPr lang="en-US" sz="1600" dirty="0"/>
          </a:p>
        </p:txBody>
      </p:sp>
      <p:sp>
        <p:nvSpPr>
          <p:cNvPr id="23" name="Text 21"/>
          <p:cNvSpPr/>
          <p:nvPr/>
        </p:nvSpPr>
        <p:spPr>
          <a:xfrm>
            <a:off x="868680" y="3364992"/>
            <a:ext cx="3200400" cy="292608"/>
          </a:xfrm>
          <a:prstGeom prst="rect">
            <a:avLst/>
          </a:prstGeom>
          <a:noFill/>
          <a:ln/>
        </p:spPr>
        <p:txBody>
          <a:bodyPr wrap="square" rtlCol="0" anchor="ctr"/>
          <a:lstStyle/>
          <a:p>
            <a:pPr indent="0" marL="0">
              <a:buNone/>
            </a:pPr>
            <a:r>
              <a:rPr lang="en-US" sz="1100" b="1" dirty="0">
                <a:solidFill>
                  <a:srgbClr val="D29922"/>
                </a:solidFill>
                <a:latin typeface="Calibri" pitchFamily="34" charset="0"/>
                <a:ea typeface="Calibri" pitchFamily="34" charset="-122"/>
                <a:cs typeface="Calibri" pitchFamily="34" charset="-120"/>
              </a:rPr>
              <a:t>Prompt Construction</a:t>
            </a:r>
            <a:endParaRPr lang="en-US" sz="1100" dirty="0"/>
          </a:p>
        </p:txBody>
      </p:sp>
      <p:sp>
        <p:nvSpPr>
          <p:cNvPr id="24" name="Text 22"/>
          <p:cNvSpPr/>
          <p:nvPr/>
        </p:nvSpPr>
        <p:spPr>
          <a:xfrm>
            <a:off x="4160520" y="3364992"/>
            <a:ext cx="457200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Builds the grounded prompt: instruction + question + source blocks</a:t>
            </a:r>
            <a:endParaRPr lang="en-US" sz="1100" dirty="0"/>
          </a:p>
        </p:txBody>
      </p:sp>
      <p:sp>
        <p:nvSpPr>
          <p:cNvPr id="25" name="Shape 23"/>
          <p:cNvSpPr/>
          <p:nvPr/>
        </p:nvSpPr>
        <p:spPr>
          <a:xfrm>
            <a:off x="365760" y="3959352"/>
            <a:ext cx="8412480" cy="566928"/>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4"/>
          <p:cNvSpPr/>
          <p:nvPr/>
        </p:nvSpPr>
        <p:spPr>
          <a:xfrm>
            <a:off x="365760" y="3959352"/>
            <a:ext cx="384048" cy="566928"/>
          </a:xfrm>
          <a:prstGeom prst="rect">
            <a:avLst/>
          </a:prstGeom>
          <a:solidFill>
            <a:srgbClr val="BC8CFF"/>
          </a:solidFill>
          <a:ln/>
        </p:spPr>
      </p:sp>
      <p:sp>
        <p:nvSpPr>
          <p:cNvPr id="27" name="Text 25"/>
          <p:cNvSpPr/>
          <p:nvPr/>
        </p:nvSpPr>
        <p:spPr>
          <a:xfrm>
            <a:off x="365760" y="4050792"/>
            <a:ext cx="384048" cy="384048"/>
          </a:xfrm>
          <a:prstGeom prst="rect">
            <a:avLst/>
          </a:prstGeom>
          <a:noFill/>
          <a:ln/>
        </p:spPr>
        <p:txBody>
          <a:bodyPr wrap="square" lIns="0" tIns="0" rIns="0" bIns="0" rtlCol="0" anchor="ctr"/>
          <a:lstStyle/>
          <a:p>
            <a:pPr algn="ctr" indent="0" marL="0">
              <a:buNone/>
            </a:pPr>
            <a:r>
              <a:rPr lang="en-US" sz="1600" b="1" dirty="0">
                <a:solidFill>
                  <a:srgbClr val="0D1117"/>
                </a:solidFill>
              </a:rPr>
              <a:t>5</a:t>
            </a:r>
            <a:endParaRPr lang="en-US" sz="1600" dirty="0"/>
          </a:p>
        </p:txBody>
      </p:sp>
      <p:sp>
        <p:nvSpPr>
          <p:cNvPr id="28" name="Text 26"/>
          <p:cNvSpPr/>
          <p:nvPr/>
        </p:nvSpPr>
        <p:spPr>
          <a:xfrm>
            <a:off x="868680" y="4023360"/>
            <a:ext cx="3200400" cy="292608"/>
          </a:xfrm>
          <a:prstGeom prst="rect">
            <a:avLst/>
          </a:prstGeom>
          <a:noFill/>
          <a:ln/>
        </p:spPr>
        <p:txBody>
          <a:bodyPr wrap="square" rtlCol="0" anchor="ctr"/>
          <a:lstStyle/>
          <a:p>
            <a:pPr indent="0" marL="0">
              <a:buNone/>
            </a:pPr>
            <a:r>
              <a:rPr lang="en-US" sz="1100" b="1" dirty="0">
                <a:solidFill>
                  <a:srgbClr val="BC8CFF"/>
                </a:solidFill>
                <a:latin typeface="Calibri" pitchFamily="34" charset="0"/>
                <a:ea typeface="Calibri" pitchFamily="34" charset="-122"/>
                <a:cs typeface="Calibri" pitchFamily="34" charset="-120"/>
              </a:rPr>
              <a:t>Generation (Ollama)</a:t>
            </a:r>
            <a:endParaRPr lang="en-US" sz="1100" dirty="0"/>
          </a:p>
        </p:txBody>
      </p:sp>
      <p:sp>
        <p:nvSpPr>
          <p:cNvPr id="29" name="Text 27"/>
          <p:cNvSpPr/>
          <p:nvPr/>
        </p:nvSpPr>
        <p:spPr>
          <a:xfrm>
            <a:off x="4160520" y="4023360"/>
            <a:ext cx="4572000" cy="457200"/>
          </a:xfrm>
          <a:prstGeom prst="rect">
            <a:avLst/>
          </a:prstGeom>
          <a:noFill/>
          <a:ln/>
        </p:spPr>
        <p:txBody>
          <a:bodyPr wrap="square" rtlCol="0" anchor="ctr"/>
          <a:lstStyle/>
          <a:p>
            <a:pPr indent="0" marL="0">
              <a:buNone/>
            </a:pPr>
            <a:r>
              <a:rPr lang="en-US" sz="1100" dirty="0">
                <a:solidFill>
                  <a:srgbClr val="E6EDF3"/>
                </a:solidFill>
                <a:latin typeface="Calibri" pitchFamily="34" charset="0"/>
                <a:ea typeface="Calibri" pitchFamily="34" charset="-122"/>
                <a:cs typeface="Calibri" pitchFamily="34" charset="-120"/>
              </a:rPr>
              <a:t>Local LLM receives only the prompt — no DB access, bounded output</a:t>
            </a:r>
            <a:endParaRPr lang="en-US" sz="1100" dirty="0"/>
          </a:p>
        </p:txBody>
      </p:sp>
      <p:sp>
        <p:nvSpPr>
          <p:cNvPr id="30" name="Shape 28"/>
          <p:cNvSpPr/>
          <p:nvPr/>
        </p:nvSpPr>
        <p:spPr>
          <a:xfrm>
            <a:off x="365760" y="4645152"/>
            <a:ext cx="8412480" cy="347472"/>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31" name="Text 29"/>
          <p:cNvSpPr/>
          <p:nvPr/>
        </p:nvSpPr>
        <p:spPr>
          <a:xfrm>
            <a:off x="548640" y="4663440"/>
            <a:ext cx="8046720" cy="292608"/>
          </a:xfrm>
          <a:prstGeom prst="rect">
            <a:avLst/>
          </a:prstGeom>
          <a:noFill/>
          <a:ln/>
        </p:spPr>
        <p:txBody>
          <a:bodyPr wrap="square" rtlCol="0" anchor="ctr"/>
          <a:lstStyle/>
          <a:p>
            <a:pPr indent="0" marL="0">
              <a:buNone/>
            </a:pPr>
            <a:r>
              <a:rPr lang="en-US" sz="1200" b="1" i="1" dirty="0">
                <a:solidFill>
                  <a:srgbClr val="00D4AA"/>
                </a:solidFill>
                <a:latin typeface="Calibri" pitchFamily="34" charset="0"/>
                <a:ea typeface="Calibri" pitchFamily="34" charset="-122"/>
                <a:cs typeface="Calibri" pitchFamily="34" charset="-120"/>
              </a:rPr>
              <a:t>You did not build a chatbot. You built a layered, security-conscious production-pattern RAG system.</a:t>
            </a:r>
            <a:endParaRPr lang="en-US" sz="12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79C0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10</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10 — Conclusion (Part 2): Skills &amp; Production Parallels</a:t>
            </a:r>
            <a:endParaRPr lang="en-US" sz="2800" dirty="0"/>
          </a:p>
        </p:txBody>
      </p:sp>
      <p:sp>
        <p:nvSpPr>
          <p:cNvPr id="5" name="Shape 3"/>
          <p:cNvSpPr/>
          <p:nvPr/>
        </p:nvSpPr>
        <p:spPr>
          <a:xfrm>
            <a:off x="365760" y="1371600"/>
            <a:ext cx="4114800" cy="21945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71600"/>
            <a:ext cx="54864" cy="2194560"/>
          </a:xfrm>
          <a:prstGeom prst="rect">
            <a:avLst/>
          </a:prstGeom>
          <a:solidFill>
            <a:srgbClr val="F78166"/>
          </a:solidFill>
          <a:ln/>
        </p:spPr>
      </p:sp>
      <p:sp>
        <p:nvSpPr>
          <p:cNvPr id="7" name="Text 5"/>
          <p:cNvSpPr/>
          <p:nvPr/>
        </p:nvSpPr>
        <p:spPr>
          <a:xfrm>
            <a:off x="548640" y="1463040"/>
            <a:ext cx="3749040" cy="347472"/>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The Debugging Discipline You Learned</a:t>
            </a:r>
            <a:endParaRPr lang="en-US" sz="1200" dirty="0"/>
          </a:p>
        </p:txBody>
      </p:sp>
      <p:sp>
        <p:nvSpPr>
          <p:cNvPr id="8" name="Text 6"/>
          <p:cNvSpPr/>
          <p:nvPr/>
        </p:nvSpPr>
        <p:spPr>
          <a:xfrm>
            <a:off x="548640" y="1856232"/>
            <a:ext cx="3749040" cy="16002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debug/retrieve first — is retrieval working?</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debug/prompt next — is the prompt correct?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debug/ollama then — is generation working?</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debug/chat last — does it all work together?</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Never debug the whole system at once — isolate layers</a:t>
            </a:r>
            <a:endParaRPr lang="en-US" sz="1050" dirty="0"/>
          </a:p>
        </p:txBody>
      </p:sp>
      <p:sp>
        <p:nvSpPr>
          <p:cNvPr id="9" name="Shape 7"/>
          <p:cNvSpPr/>
          <p:nvPr/>
        </p:nvSpPr>
        <p:spPr>
          <a:xfrm>
            <a:off x="4663440" y="1371600"/>
            <a:ext cx="4114800" cy="21945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0" name="Shape 8"/>
          <p:cNvSpPr/>
          <p:nvPr/>
        </p:nvSpPr>
        <p:spPr>
          <a:xfrm>
            <a:off x="4663440" y="1371600"/>
            <a:ext cx="54864" cy="2194560"/>
          </a:xfrm>
          <a:prstGeom prst="rect">
            <a:avLst/>
          </a:prstGeom>
          <a:solidFill>
            <a:srgbClr val="3FB950"/>
          </a:solidFill>
          <a:ln/>
        </p:spPr>
      </p:sp>
      <p:sp>
        <p:nvSpPr>
          <p:cNvPr id="11" name="Text 9"/>
          <p:cNvSpPr/>
          <p:nvPr/>
        </p:nvSpPr>
        <p:spPr>
          <a:xfrm>
            <a:off x="4846320" y="1463040"/>
            <a:ext cx="3749040" cy="347472"/>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How This Changes in Production</a:t>
            </a:r>
            <a:endParaRPr lang="en-US" sz="1200" dirty="0"/>
          </a:p>
        </p:txBody>
      </p:sp>
      <p:sp>
        <p:nvSpPr>
          <p:cNvPr id="12" name="Text 10"/>
          <p:cNvSpPr/>
          <p:nvPr/>
        </p:nvSpPr>
        <p:spPr>
          <a:xfrm>
            <a:off x="4846320" y="1856232"/>
            <a:ext cx="3749040" cy="160020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Qdrant → managed cloud vector DB</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Secrets → secret manager (not .env files)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API keys → OAuth / JWT tokens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Observability → Prometheus + Grafana</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LLM → GPU-backed or cloud inference</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Architecture pattern stays the same</a:t>
            </a:r>
            <a:endParaRPr lang="en-US" sz="1050" dirty="0"/>
          </a:p>
        </p:txBody>
      </p:sp>
      <p:sp>
        <p:nvSpPr>
          <p:cNvPr id="13" name="Shape 11"/>
          <p:cNvSpPr/>
          <p:nvPr/>
        </p:nvSpPr>
        <p:spPr>
          <a:xfrm>
            <a:off x="365760" y="3657600"/>
            <a:ext cx="8412480" cy="13258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4" name="Shape 12"/>
          <p:cNvSpPr/>
          <p:nvPr/>
        </p:nvSpPr>
        <p:spPr>
          <a:xfrm>
            <a:off x="365760" y="3657600"/>
            <a:ext cx="54864" cy="1325880"/>
          </a:xfrm>
          <a:prstGeom prst="rect">
            <a:avLst/>
          </a:prstGeom>
          <a:solidFill>
            <a:srgbClr val="00D4AA"/>
          </a:solidFill>
          <a:ln/>
        </p:spPr>
      </p:sp>
      <p:sp>
        <p:nvSpPr>
          <p:cNvPr id="15" name="Text 13"/>
          <p:cNvSpPr/>
          <p:nvPr/>
        </p:nvSpPr>
        <p:spPr>
          <a:xfrm>
            <a:off x="548640" y="3749040"/>
            <a:ext cx="804672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What You Can Now Explain to Anyone</a:t>
            </a:r>
            <a:endParaRPr lang="en-US" sz="1300" dirty="0"/>
          </a:p>
        </p:txBody>
      </p:sp>
      <p:sp>
        <p:nvSpPr>
          <p:cNvPr id="16" name="Text 14"/>
          <p:cNvSpPr/>
          <p:nvPr/>
        </p:nvSpPr>
        <p:spPr>
          <a:xfrm>
            <a:off x="548640" y="4133088"/>
            <a:ext cx="4023360" cy="749808"/>
          </a:xfrm>
          <a:prstGeom prst="rect">
            <a:avLst/>
          </a:prstGeom>
          <a:noFill/>
          <a:ln/>
        </p:spPr>
        <p:txBody>
          <a:bodyPr wrap="square" rtlCol="0" anchor="t"/>
          <a:lstStyle/>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RAG is and why it matters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a vector database does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Why internal networking improves security</a:t>
            </a:r>
            <a:endParaRPr lang="en-US" sz="1000" dirty="0"/>
          </a:p>
        </p:txBody>
      </p:sp>
      <p:sp>
        <p:nvSpPr>
          <p:cNvPr id="17" name="Text 15"/>
          <p:cNvSpPr/>
          <p:nvPr/>
        </p:nvSpPr>
        <p:spPr>
          <a:xfrm>
            <a:off x="4663440" y="4133088"/>
            <a:ext cx="4023360" cy="749808"/>
          </a:xfrm>
          <a:prstGeom prst="rect">
            <a:avLst/>
          </a:prstGeom>
          <a:noFill/>
          <a:ln/>
        </p:spPr>
        <p:txBody>
          <a:bodyPr wrap="square" rtlCol="0" anchor="t"/>
          <a:lstStyle/>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How grounding reduces hallucination</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How to isolate failures in a multi-service AI system</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What production AI infrastructure actually looks like</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EXTENSION</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Security Memory Extension — Overview</a:t>
            </a:r>
            <a:endParaRPr lang="en-US" sz="2800" dirty="0"/>
          </a:p>
        </p:txBody>
      </p:sp>
      <p:pic>
        <p:nvPicPr>
          <p:cNvPr id="5" name="Image 0" descr="preencoded.png">    </p:cNvPr>
          <p:cNvPicPr>
            <a:picLocks noChangeAspect="1"/>
          </p:cNvPicPr>
          <p:nvPr/>
        </p:nvPicPr>
        <p:blipFill>
          <a:blip r:embed="rId1"/>
          <a:stretch>
            <a:fillRect/>
          </a:stretch>
        </p:blipFill>
        <p:spPr>
          <a:xfrm>
            <a:off x="365760" y="1261872"/>
            <a:ext cx="548640" cy="548640"/>
          </a:xfrm>
          <a:prstGeom prst="rect">
            <a:avLst/>
          </a:prstGeom>
        </p:spPr>
      </p:pic>
      <p:sp>
        <p:nvSpPr>
          <p:cNvPr id="6" name="Text 3"/>
          <p:cNvSpPr/>
          <p:nvPr/>
        </p:nvSpPr>
        <p:spPr>
          <a:xfrm>
            <a:off x="1005840" y="1325880"/>
            <a:ext cx="7772400" cy="320040"/>
          </a:xfrm>
          <a:prstGeom prst="rect">
            <a:avLst/>
          </a:prstGeom>
          <a:noFill/>
          <a:ln/>
        </p:spPr>
        <p:txBody>
          <a:bodyPr wrap="square" rtlCol="0" anchor="ctr"/>
          <a:lstStyle/>
          <a:p>
            <a:pPr indent="0" marL="0">
              <a:buNone/>
            </a:pPr>
            <a:r>
              <a:rPr lang="en-US" sz="1200" dirty="0">
                <a:solidFill>
                  <a:srgbClr val="8B949E"/>
                </a:solidFill>
                <a:latin typeface="Calibri" pitchFamily="34" charset="0"/>
                <a:ea typeface="Calibri" pitchFamily="34" charset="-122"/>
                <a:cs typeface="Calibri" pitchFamily="34" charset="-120"/>
              </a:rPr>
              <a:t>Lessons 4.1 · 4.2 · 4.3  —  Adds a cybersecurity knowledge base to the RAG system</a:t>
            </a:r>
            <a:endParaRPr lang="en-US" sz="1200" dirty="0"/>
          </a:p>
        </p:txBody>
      </p:sp>
      <p:sp>
        <p:nvSpPr>
          <p:cNvPr id="7" name="Shape 4"/>
          <p:cNvSpPr/>
          <p:nvPr/>
        </p:nvSpPr>
        <p:spPr>
          <a:xfrm>
            <a:off x="365760" y="1755648"/>
            <a:ext cx="4114800" cy="19202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8" name="Shape 5"/>
          <p:cNvSpPr/>
          <p:nvPr/>
        </p:nvSpPr>
        <p:spPr>
          <a:xfrm>
            <a:off x="365760" y="1755648"/>
            <a:ext cx="54864" cy="1920240"/>
          </a:xfrm>
          <a:prstGeom prst="rect">
            <a:avLst/>
          </a:prstGeom>
          <a:solidFill>
            <a:srgbClr val="BC8CFF"/>
          </a:solidFill>
          <a:ln/>
        </p:spPr>
      </p:sp>
      <p:sp>
        <p:nvSpPr>
          <p:cNvPr id="9" name="Text 6"/>
          <p:cNvSpPr/>
          <p:nvPr/>
        </p:nvSpPr>
        <p:spPr>
          <a:xfrm>
            <a:off x="548640" y="1847088"/>
            <a:ext cx="3749040" cy="347472"/>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What the Extension Adds</a:t>
            </a:r>
            <a:endParaRPr lang="en-US" sz="1300" dirty="0"/>
          </a:p>
        </p:txBody>
      </p:sp>
      <p:sp>
        <p:nvSpPr>
          <p:cNvPr id="10" name="Text 7"/>
          <p:cNvSpPr/>
          <p:nvPr/>
        </p:nvSpPr>
        <p:spPr>
          <a:xfrm>
            <a:off x="548640" y="2240280"/>
            <a:ext cx="3749040" cy="13258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A second Qdrant collection: ExpandedVSCodeMemory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Stores NIST, CIS, MITRE, OWASP, Docker security docs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Security classifier that detects security-related questions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Memory injection into the prompt for grounded answers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API endpoints: /memory/health and /memory/query</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IDE workflow for grounded security code reviews</a:t>
            </a:r>
            <a:endParaRPr lang="en-US" sz="1050" dirty="0"/>
          </a:p>
        </p:txBody>
      </p:sp>
      <p:sp>
        <p:nvSpPr>
          <p:cNvPr id="11" name="Shape 8"/>
          <p:cNvSpPr/>
          <p:nvPr/>
        </p:nvSpPr>
        <p:spPr>
          <a:xfrm>
            <a:off x="4663440" y="1755648"/>
            <a:ext cx="4114800" cy="19202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9"/>
          <p:cNvSpPr/>
          <p:nvPr/>
        </p:nvSpPr>
        <p:spPr>
          <a:xfrm>
            <a:off x="4663440" y="1755648"/>
            <a:ext cx="54864" cy="1920240"/>
          </a:xfrm>
          <a:prstGeom prst="rect">
            <a:avLst/>
          </a:prstGeom>
          <a:solidFill>
            <a:srgbClr val="00D4AA"/>
          </a:solidFill>
          <a:ln/>
        </p:spPr>
      </p:sp>
      <p:sp>
        <p:nvSpPr>
          <p:cNvPr id="13" name="Text 10"/>
          <p:cNvSpPr/>
          <p:nvPr/>
        </p:nvSpPr>
        <p:spPr>
          <a:xfrm>
            <a:off x="4846320" y="1847088"/>
            <a:ext cx="374904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Why a Separate Collection?</a:t>
            </a:r>
            <a:endParaRPr lang="en-US" sz="1300" dirty="0"/>
          </a:p>
        </p:txBody>
      </p:sp>
      <p:sp>
        <p:nvSpPr>
          <p:cNvPr id="14" name="Text 11"/>
          <p:cNvSpPr/>
          <p:nvPr/>
        </p:nvSpPr>
        <p:spPr>
          <a:xfrm>
            <a:off x="4846320" y="2240280"/>
            <a:ext cx="3749040" cy="13258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Prevents retrieval noise — security docs don't pollute general chat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Security corpus can be updated without touching LabDoc</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Each collection can have its own retrieval parameters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Mirrors real production pattern: domain-specific knowledge stores</a:t>
            </a:r>
            <a:endParaRPr lang="en-US" sz="1050" dirty="0"/>
          </a:p>
        </p:txBody>
      </p:sp>
      <p:sp>
        <p:nvSpPr>
          <p:cNvPr id="15" name="Shape 12"/>
          <p:cNvSpPr/>
          <p:nvPr/>
        </p:nvSpPr>
        <p:spPr>
          <a:xfrm>
            <a:off x="365760" y="3767328"/>
            <a:ext cx="274320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3"/>
          <p:cNvSpPr/>
          <p:nvPr/>
        </p:nvSpPr>
        <p:spPr>
          <a:xfrm>
            <a:off x="365760" y="3767328"/>
            <a:ext cx="2743200" cy="64008"/>
          </a:xfrm>
          <a:prstGeom prst="rect">
            <a:avLst/>
          </a:prstGeom>
          <a:solidFill>
            <a:srgbClr val="BC8CFF"/>
          </a:solidFill>
          <a:ln/>
        </p:spPr>
      </p:sp>
      <p:sp>
        <p:nvSpPr>
          <p:cNvPr id="17" name="Text 14"/>
          <p:cNvSpPr/>
          <p:nvPr/>
        </p:nvSpPr>
        <p:spPr>
          <a:xfrm>
            <a:off x="548640" y="3858768"/>
            <a:ext cx="2377440" cy="274320"/>
          </a:xfrm>
          <a:prstGeom prst="rect">
            <a:avLst/>
          </a:prstGeom>
          <a:noFill/>
          <a:ln/>
        </p:spPr>
        <p:txBody>
          <a:bodyPr wrap="square" rtlCol="0" anchor="ctr"/>
          <a:lstStyle/>
          <a:p>
            <a:pPr indent="0" marL="0">
              <a:buNone/>
            </a:pPr>
            <a:r>
              <a:rPr lang="en-US" sz="1100" b="1" dirty="0">
                <a:solidFill>
                  <a:srgbClr val="BC8CFF"/>
                </a:solidFill>
                <a:latin typeface="Calibri" pitchFamily="34" charset="0"/>
                <a:ea typeface="Calibri" pitchFamily="34" charset="-122"/>
                <a:cs typeface="Calibri" pitchFamily="34" charset="-120"/>
              </a:rPr>
              <a:t>Lesson 4.1</a:t>
            </a:r>
            <a:endParaRPr lang="en-US" sz="1100" dirty="0"/>
          </a:p>
        </p:txBody>
      </p:sp>
      <p:sp>
        <p:nvSpPr>
          <p:cNvPr id="18" name="Text 15"/>
          <p:cNvSpPr/>
          <p:nvPr/>
        </p:nvSpPr>
        <p:spPr>
          <a:xfrm>
            <a:off x="548640" y="4151376"/>
            <a:ext cx="2377440" cy="347472"/>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Organize corpus → ingest → verify ExpandedVSCodeMemory</a:t>
            </a:r>
            <a:endParaRPr lang="en-US" sz="950" dirty="0"/>
          </a:p>
        </p:txBody>
      </p:sp>
      <p:sp>
        <p:nvSpPr>
          <p:cNvPr id="19" name="Shape 16"/>
          <p:cNvSpPr/>
          <p:nvPr/>
        </p:nvSpPr>
        <p:spPr>
          <a:xfrm>
            <a:off x="3310128" y="3767328"/>
            <a:ext cx="274320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0" name="Shape 17"/>
          <p:cNvSpPr/>
          <p:nvPr/>
        </p:nvSpPr>
        <p:spPr>
          <a:xfrm>
            <a:off x="3310128" y="3767328"/>
            <a:ext cx="2743200" cy="64008"/>
          </a:xfrm>
          <a:prstGeom prst="rect">
            <a:avLst/>
          </a:prstGeom>
          <a:solidFill>
            <a:srgbClr val="00D4AA"/>
          </a:solidFill>
          <a:ln/>
        </p:spPr>
      </p:sp>
      <p:sp>
        <p:nvSpPr>
          <p:cNvPr id="21" name="Text 18"/>
          <p:cNvSpPr/>
          <p:nvPr/>
        </p:nvSpPr>
        <p:spPr>
          <a:xfrm>
            <a:off x="3493008" y="3858768"/>
            <a:ext cx="2377440" cy="274320"/>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Lesson 4.2</a:t>
            </a:r>
            <a:endParaRPr lang="en-US" sz="1100" dirty="0"/>
          </a:p>
        </p:txBody>
      </p:sp>
      <p:sp>
        <p:nvSpPr>
          <p:cNvPr id="22" name="Text 19"/>
          <p:cNvSpPr/>
          <p:nvPr/>
        </p:nvSpPr>
        <p:spPr>
          <a:xfrm>
            <a:off x="3493008" y="4151376"/>
            <a:ext cx="2377440" cy="347472"/>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Add /memory/health and /memory/query · optional chat integration</a:t>
            </a:r>
            <a:endParaRPr lang="en-US" sz="950" dirty="0"/>
          </a:p>
        </p:txBody>
      </p:sp>
      <p:sp>
        <p:nvSpPr>
          <p:cNvPr id="23" name="Shape 20"/>
          <p:cNvSpPr/>
          <p:nvPr/>
        </p:nvSpPr>
        <p:spPr>
          <a:xfrm>
            <a:off x="6254496" y="3767328"/>
            <a:ext cx="2743200" cy="80467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4" name="Shape 21"/>
          <p:cNvSpPr/>
          <p:nvPr/>
        </p:nvSpPr>
        <p:spPr>
          <a:xfrm>
            <a:off x="6254496" y="3767328"/>
            <a:ext cx="2743200" cy="64008"/>
          </a:xfrm>
          <a:prstGeom prst="rect">
            <a:avLst/>
          </a:prstGeom>
          <a:solidFill>
            <a:srgbClr val="79C0FF"/>
          </a:solidFill>
          <a:ln/>
        </p:spPr>
      </p:sp>
      <p:sp>
        <p:nvSpPr>
          <p:cNvPr id="25" name="Text 22"/>
          <p:cNvSpPr/>
          <p:nvPr/>
        </p:nvSpPr>
        <p:spPr>
          <a:xfrm>
            <a:off x="6437376" y="3858768"/>
            <a:ext cx="2377440" cy="274320"/>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Lesson 4.3</a:t>
            </a:r>
            <a:endParaRPr lang="en-US" sz="1100" dirty="0"/>
          </a:p>
        </p:txBody>
      </p:sp>
      <p:sp>
        <p:nvSpPr>
          <p:cNvPr id="26" name="Text 23"/>
          <p:cNvSpPr/>
          <p:nvPr/>
        </p:nvSpPr>
        <p:spPr>
          <a:xfrm>
            <a:off x="6437376" y="4151376"/>
            <a:ext cx="2377440" cy="347472"/>
          </a:xfrm>
          <a:prstGeom prst="rect">
            <a:avLst/>
          </a:prstGeom>
          <a:noFill/>
          <a:ln/>
        </p:spPr>
        <p:txBody>
          <a:bodyPr wrap="square" rtlCol="0" anchor="ctr"/>
          <a:lstStyle/>
          <a:p>
            <a:pPr indent="0" marL="0">
              <a:buNone/>
            </a:pPr>
            <a:r>
              <a:rPr lang="en-US" sz="950" dirty="0">
                <a:solidFill>
                  <a:srgbClr val="E6EDF3"/>
                </a:solidFill>
                <a:latin typeface="Calibri" pitchFamily="34" charset="0"/>
                <a:ea typeface="Calibri" pitchFamily="34" charset="-122"/>
                <a:cs typeface="Calibri" pitchFamily="34" charset="-120"/>
              </a:rPr>
              <a:t>Grounded security reviews in VS Code / Cursor using prompt library</a:t>
            </a:r>
            <a:endParaRPr lang="en-US" sz="9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4.1</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4.1 — Building Security Memory (Part 1)</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Objective: Ingest NIST, CIS, MITRE, OWASP, Docker security docs into ExpandedVSCodeMemory</a:t>
            </a:r>
            <a:endParaRPr lang="en-US" sz="1100" dirty="0"/>
          </a:p>
        </p:txBody>
      </p:sp>
      <p:sp>
        <p:nvSpPr>
          <p:cNvPr id="6" name="Shape 4"/>
          <p:cNvSpPr/>
          <p:nvPr/>
        </p:nvSpPr>
        <p:spPr>
          <a:xfrm>
            <a:off x="365760" y="1664208"/>
            <a:ext cx="4114800" cy="16459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645920"/>
          </a:xfrm>
          <a:prstGeom prst="rect">
            <a:avLst/>
          </a:prstGeom>
          <a:solidFill>
            <a:srgbClr val="BC8CFF"/>
          </a:solidFill>
          <a:ln/>
        </p:spPr>
      </p:sp>
      <p:sp>
        <p:nvSpPr>
          <p:cNvPr id="8" name="Text 6"/>
          <p:cNvSpPr/>
          <p:nvPr/>
        </p:nvSpPr>
        <p:spPr>
          <a:xfrm>
            <a:off x="548640" y="1755648"/>
            <a:ext cx="3749040" cy="347472"/>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What 'AI Memory' Means Here</a:t>
            </a:r>
            <a:endParaRPr lang="en-US" sz="1300" dirty="0"/>
          </a:p>
        </p:txBody>
      </p:sp>
      <p:sp>
        <p:nvSpPr>
          <p:cNvPr id="9" name="Text 7"/>
          <p:cNvSpPr/>
          <p:nvPr/>
        </p:nvSpPr>
        <p:spPr>
          <a:xfrm>
            <a:off x="548640" y="2148840"/>
            <a:ext cx="3749040" cy="1097280"/>
          </a:xfrm>
          <a:prstGeom prst="rect">
            <a:avLst/>
          </a:prstGeom>
          <a:noFill/>
          <a:ln/>
        </p:spPr>
        <p:txBody>
          <a:bodyPr wrap="square" rtlCol="0" anchor="t"/>
          <a:lstStyle/>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NOT a fine-tuned model</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NOT persistent memory across sessions</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IS a curated reference corpus in Qdrant</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IS a retrieval pipeline feeding chunks to the LLM</a:t>
            </a:r>
            <a:endParaRPr lang="en-US" sz="1050" dirty="0"/>
          </a:p>
          <a:p>
            <a:pPr marL="342900" indent="-342900">
              <a:buSzPct val="100000"/>
              <a:buChar char="•"/>
            </a:pPr>
            <a:r>
              <a:rPr lang="en-US" sz="1050" dirty="0">
                <a:solidFill>
                  <a:srgbClr val="E6EDF3"/>
                </a:solidFill>
                <a:latin typeface="Calibri" pitchFamily="34" charset="0"/>
                <a:ea typeface="Calibri" pitchFamily="34" charset="-122"/>
                <a:cs typeface="Calibri" pitchFamily="34" charset="-120"/>
              </a:rPr>
              <a:t>Model is unchanged — improvement comes from better context</a:t>
            </a:r>
            <a:endParaRPr lang="en-US" sz="1050" dirty="0"/>
          </a:p>
        </p:txBody>
      </p:sp>
      <p:sp>
        <p:nvSpPr>
          <p:cNvPr id="10" name="Shape 8"/>
          <p:cNvSpPr/>
          <p:nvPr/>
        </p:nvSpPr>
        <p:spPr>
          <a:xfrm>
            <a:off x="4663440" y="1664208"/>
            <a:ext cx="4114800" cy="164592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663440" y="1664208"/>
            <a:ext cx="54864" cy="1645920"/>
          </a:xfrm>
          <a:prstGeom prst="rect">
            <a:avLst/>
          </a:prstGeom>
          <a:solidFill>
            <a:srgbClr val="79C0FF"/>
          </a:solidFill>
          <a:ln/>
        </p:spPr>
      </p:sp>
      <p:sp>
        <p:nvSpPr>
          <p:cNvPr id="12" name="Text 10"/>
          <p:cNvSpPr/>
          <p:nvPr/>
        </p:nvSpPr>
        <p:spPr>
          <a:xfrm>
            <a:off x="4846320" y="1755648"/>
            <a:ext cx="374904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Corpus Organization</a:t>
            </a:r>
            <a:endParaRPr lang="en-US" sz="1300" dirty="0"/>
          </a:p>
        </p:txBody>
      </p:sp>
      <p:sp>
        <p:nvSpPr>
          <p:cNvPr id="13" name="Shape 11"/>
          <p:cNvSpPr/>
          <p:nvPr/>
        </p:nvSpPr>
        <p:spPr>
          <a:xfrm>
            <a:off x="4663440" y="2148840"/>
            <a:ext cx="4114800" cy="1097280"/>
          </a:xfrm>
          <a:prstGeom prst="rect">
            <a:avLst/>
          </a:prstGeom>
          <a:solidFill>
            <a:srgbClr val="010409"/>
          </a:solidFill>
          <a:ln/>
        </p:spPr>
      </p:sp>
      <p:sp>
        <p:nvSpPr>
          <p:cNvPr id="14" name="Text 12"/>
          <p:cNvSpPr/>
          <p:nvPr/>
        </p:nvSpPr>
        <p:spPr>
          <a:xfrm>
            <a:off x="4800600" y="2194560"/>
            <a:ext cx="3840480" cy="100584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security-memory/data/</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nist/nist-csf.md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cis/cis-controls-v8.md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mitre/attack-enterprise.md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owasp/owasp-top10.md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cis/cis-docker-benchmark.md</a:t>
            </a:r>
            <a:endParaRPr lang="en-US" sz="1000" dirty="0"/>
          </a:p>
        </p:txBody>
      </p:sp>
      <p:sp>
        <p:nvSpPr>
          <p:cNvPr id="15" name="Shape 13"/>
          <p:cNvSpPr/>
          <p:nvPr/>
        </p:nvSpPr>
        <p:spPr>
          <a:xfrm>
            <a:off x="365760" y="3401568"/>
            <a:ext cx="8412480" cy="100584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4"/>
          <p:cNvSpPr/>
          <p:nvPr/>
        </p:nvSpPr>
        <p:spPr>
          <a:xfrm>
            <a:off x="365760" y="3401568"/>
            <a:ext cx="54864" cy="1005840"/>
          </a:xfrm>
          <a:prstGeom prst="rect">
            <a:avLst/>
          </a:prstGeom>
          <a:solidFill>
            <a:srgbClr val="D29922"/>
          </a:solidFill>
          <a:ln/>
        </p:spPr>
      </p:sp>
      <p:sp>
        <p:nvSpPr>
          <p:cNvPr id="17" name="Text 15"/>
          <p:cNvSpPr/>
          <p:nvPr/>
        </p:nvSpPr>
        <p:spPr>
          <a:xfrm>
            <a:off x="548640" y="3493008"/>
            <a:ext cx="8046720" cy="347472"/>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Environment Variables for Retrieval Control</a:t>
            </a:r>
            <a:endParaRPr lang="en-US" sz="1300" dirty="0"/>
          </a:p>
        </p:txBody>
      </p:sp>
      <p:sp>
        <p:nvSpPr>
          <p:cNvPr id="18" name="Shape 16"/>
          <p:cNvSpPr/>
          <p:nvPr/>
        </p:nvSpPr>
        <p:spPr>
          <a:xfrm>
            <a:off x="365760" y="3858768"/>
            <a:ext cx="8412480" cy="475488"/>
          </a:xfrm>
          <a:prstGeom prst="rect">
            <a:avLst/>
          </a:prstGeom>
          <a:solidFill>
            <a:srgbClr val="010409"/>
          </a:solidFill>
          <a:ln/>
        </p:spPr>
      </p:sp>
      <p:sp>
        <p:nvSpPr>
          <p:cNvPr id="19" name="Text 17"/>
          <p:cNvSpPr/>
          <p:nvPr/>
        </p:nvSpPr>
        <p:spPr>
          <a:xfrm>
            <a:off x="502920" y="3904488"/>
            <a:ext cx="8138160" cy="384048"/>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SECURITY_COLLECTION=ExpandedVSCodeMemory   # separate from LabDoc</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SECURITY_TOP_K=6                           # chunks retrieved per query</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SECURITY_CHUNK_CHARS=1200                  # size of each chunk</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SECURITY_CHUNK_OVERLAP=200                 # overlap prevents boundary loss</a:t>
            </a:r>
            <a:endParaRPr lang="en-US" sz="1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4.1</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4.1 — Building Security Memory (Part 2)</a:t>
            </a:r>
            <a:endParaRPr lang="en-US" sz="2800" dirty="0"/>
          </a:p>
        </p:txBody>
      </p:sp>
      <p:sp>
        <p:nvSpPr>
          <p:cNvPr id="5" name="Shape 3"/>
          <p:cNvSpPr/>
          <p:nvPr/>
        </p:nvSpPr>
        <p:spPr>
          <a:xfrm>
            <a:off x="365760" y="1371600"/>
            <a:ext cx="5120640" cy="15544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71600"/>
            <a:ext cx="54864" cy="1554480"/>
          </a:xfrm>
          <a:prstGeom prst="rect">
            <a:avLst/>
          </a:prstGeom>
          <a:solidFill>
            <a:srgbClr val="BC8CFF"/>
          </a:solidFill>
          <a:ln/>
        </p:spPr>
      </p:sp>
      <p:sp>
        <p:nvSpPr>
          <p:cNvPr id="7" name="Text 5"/>
          <p:cNvSpPr/>
          <p:nvPr/>
        </p:nvSpPr>
        <p:spPr>
          <a:xfrm>
            <a:off x="548640" y="1463040"/>
            <a:ext cx="4754880" cy="347472"/>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Run Ingestion (Inside Container)</a:t>
            </a:r>
            <a:endParaRPr lang="en-US" sz="1300" dirty="0"/>
          </a:p>
        </p:txBody>
      </p:sp>
      <p:sp>
        <p:nvSpPr>
          <p:cNvPr id="8" name="Shape 6"/>
          <p:cNvSpPr/>
          <p:nvPr/>
        </p:nvSpPr>
        <p:spPr>
          <a:xfrm>
            <a:off x="365760" y="1828800"/>
            <a:ext cx="5120640" cy="1024128"/>
          </a:xfrm>
          <a:prstGeom prst="rect">
            <a:avLst/>
          </a:prstGeom>
          <a:solidFill>
            <a:srgbClr val="010409"/>
          </a:solidFill>
          <a:ln/>
        </p:spPr>
      </p:sp>
      <p:sp>
        <p:nvSpPr>
          <p:cNvPr id="9" name="Text 7"/>
          <p:cNvSpPr/>
          <p:nvPr/>
        </p:nvSpPr>
        <p:spPr>
          <a:xfrm>
            <a:off x="502920" y="1874520"/>
            <a:ext cx="4846320" cy="932688"/>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docker exec -i ingestion-api python -m app.security_memory.ingest</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Monitor progress in another tab:</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stats              # Ollama CPU should be high</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docker logs -f ingestion-api  # see chunk + embedding progress</a:t>
            </a:r>
            <a:endParaRPr lang="en-US" sz="1000" dirty="0"/>
          </a:p>
        </p:txBody>
      </p:sp>
      <p:sp>
        <p:nvSpPr>
          <p:cNvPr id="10" name="Shape 8"/>
          <p:cNvSpPr/>
          <p:nvPr/>
        </p:nvSpPr>
        <p:spPr>
          <a:xfrm>
            <a:off x="5669280" y="1371600"/>
            <a:ext cx="3108960" cy="15544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5669280" y="1371600"/>
            <a:ext cx="54864" cy="1554480"/>
          </a:xfrm>
          <a:prstGeom prst="rect">
            <a:avLst/>
          </a:prstGeom>
          <a:solidFill>
            <a:srgbClr val="79C0FF"/>
          </a:solidFill>
          <a:ln/>
        </p:spPr>
      </p:sp>
      <p:sp>
        <p:nvSpPr>
          <p:cNvPr id="12" name="Text 10"/>
          <p:cNvSpPr/>
          <p:nvPr/>
        </p:nvSpPr>
        <p:spPr>
          <a:xfrm>
            <a:off x="5852160" y="1463040"/>
            <a:ext cx="2743200" cy="347472"/>
          </a:xfrm>
          <a:prstGeom prst="rect">
            <a:avLst/>
          </a:prstGeom>
          <a:noFill/>
          <a:ln/>
        </p:spPr>
        <p:txBody>
          <a:bodyPr wrap="square" rtlCol="0" anchor="ctr"/>
          <a:lstStyle/>
          <a:p>
            <a:pPr indent="0" marL="0">
              <a:buNone/>
            </a:pPr>
            <a:r>
              <a:rPr lang="en-US" sz="1200" b="1" dirty="0">
                <a:solidFill>
                  <a:srgbClr val="79C0FF"/>
                </a:solidFill>
                <a:latin typeface="Calibri" pitchFamily="34" charset="0"/>
                <a:ea typeface="Calibri" pitchFamily="34" charset="-122"/>
                <a:cs typeface="Calibri" pitchFamily="34" charset="-120"/>
              </a:rPr>
              <a:t>What Happens</a:t>
            </a:r>
            <a:endParaRPr lang="en-US" sz="1200" dirty="0"/>
          </a:p>
        </p:txBody>
      </p:sp>
      <p:sp>
        <p:nvSpPr>
          <p:cNvPr id="13" name="Text 11"/>
          <p:cNvSpPr/>
          <p:nvPr/>
        </p:nvSpPr>
        <p:spPr>
          <a:xfrm>
            <a:off x="5852160" y="1847088"/>
            <a:ext cx="2743200" cy="1005840"/>
          </a:xfrm>
          <a:prstGeom prst="rect">
            <a:avLst/>
          </a:prstGeom>
          <a:noFill/>
          <a:ln/>
        </p:spPr>
        <p:txBody>
          <a:bodyPr wrap="square" rtlCol="0" anchor="t"/>
          <a:lstStyle/>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Scan security-memory/data/</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Split files into 1200-char chunks</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Embed each chunk via Ollama</a:t>
            </a:r>
            <a:endParaRPr lang="en-US" sz="950" dirty="0"/>
          </a:p>
          <a:p>
            <a:pPr marL="342900" indent="-342900">
              <a:buSzPct val="100000"/>
              <a:buChar char="•"/>
            </a:pPr>
            <a:r>
              <a:rPr lang="en-US" sz="950" dirty="0">
                <a:solidFill>
                  <a:srgbClr val="E6EDF3"/>
                </a:solidFill>
                <a:latin typeface="Calibri" pitchFamily="34" charset="0"/>
                <a:ea typeface="Calibri" pitchFamily="34" charset="-122"/>
                <a:cs typeface="Calibri" pitchFamily="34" charset="-120"/>
              </a:rPr>
              <a:t>Upsert into ExpandedVSCodeMemory</a:t>
            </a:r>
            <a:endParaRPr lang="en-US" sz="950" dirty="0"/>
          </a:p>
        </p:txBody>
      </p:sp>
      <p:sp>
        <p:nvSpPr>
          <p:cNvPr id="14" name="Shape 12"/>
          <p:cNvSpPr/>
          <p:nvPr/>
        </p:nvSpPr>
        <p:spPr>
          <a:xfrm>
            <a:off x="365760" y="3017520"/>
            <a:ext cx="5120640" cy="18288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5" name="Shape 13"/>
          <p:cNvSpPr/>
          <p:nvPr/>
        </p:nvSpPr>
        <p:spPr>
          <a:xfrm>
            <a:off x="365760" y="3017520"/>
            <a:ext cx="54864" cy="1828800"/>
          </a:xfrm>
          <a:prstGeom prst="rect">
            <a:avLst/>
          </a:prstGeom>
          <a:solidFill>
            <a:srgbClr val="3FB950"/>
          </a:solidFill>
          <a:ln/>
        </p:spPr>
      </p:sp>
      <p:sp>
        <p:nvSpPr>
          <p:cNvPr id="16" name="Text 14"/>
          <p:cNvSpPr/>
          <p:nvPr/>
        </p:nvSpPr>
        <p:spPr>
          <a:xfrm>
            <a:off x="548640" y="3108960"/>
            <a:ext cx="4663440" cy="320040"/>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Option 1: Qdrant Dashboard</a:t>
            </a:r>
            <a:endParaRPr lang="en-US" sz="1200" dirty="0"/>
          </a:p>
        </p:txBody>
      </p:sp>
      <p:sp>
        <p:nvSpPr>
          <p:cNvPr id="17" name="Text 15"/>
          <p:cNvSpPr/>
          <p:nvPr/>
        </p:nvSpPr>
        <p:spPr>
          <a:xfrm>
            <a:off x="548640" y="3456432"/>
            <a:ext cx="4663440" cy="41148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Open http://localhost:6333/dashboard → find ExpandedVSCodeMemory → confirm points_count &gt; 0</a:t>
            </a:r>
            <a:endParaRPr lang="en-US" sz="1050" dirty="0"/>
          </a:p>
        </p:txBody>
      </p:sp>
      <p:sp>
        <p:nvSpPr>
          <p:cNvPr id="18" name="Text 16"/>
          <p:cNvSpPr/>
          <p:nvPr/>
        </p:nvSpPr>
        <p:spPr>
          <a:xfrm>
            <a:off x="548640" y="3895344"/>
            <a:ext cx="4663440" cy="274320"/>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Option 2: curl</a:t>
            </a:r>
            <a:endParaRPr lang="en-US" sz="1200" dirty="0"/>
          </a:p>
        </p:txBody>
      </p:sp>
      <p:sp>
        <p:nvSpPr>
          <p:cNvPr id="19" name="Shape 17"/>
          <p:cNvSpPr/>
          <p:nvPr/>
        </p:nvSpPr>
        <p:spPr>
          <a:xfrm>
            <a:off x="365760" y="4187952"/>
            <a:ext cx="5120640" cy="548640"/>
          </a:xfrm>
          <a:prstGeom prst="rect">
            <a:avLst/>
          </a:prstGeom>
          <a:solidFill>
            <a:srgbClr val="010409"/>
          </a:solidFill>
          <a:ln/>
        </p:spPr>
      </p:sp>
      <p:sp>
        <p:nvSpPr>
          <p:cNvPr id="20" name="Text 18"/>
          <p:cNvSpPr/>
          <p:nvPr/>
        </p:nvSpPr>
        <p:spPr>
          <a:xfrm>
            <a:off x="502920" y="4233672"/>
            <a:ext cx="4846320" cy="4572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curl -sS http://localhost:6333/collections/ExpandedVSCodeMemory | python -m json.tool</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Look for: "points_count": &lt;number&gt;</a:t>
            </a:r>
            <a:endParaRPr lang="en-US" sz="1000" dirty="0"/>
          </a:p>
        </p:txBody>
      </p:sp>
      <p:sp>
        <p:nvSpPr>
          <p:cNvPr id="21" name="Shape 19"/>
          <p:cNvSpPr/>
          <p:nvPr/>
        </p:nvSpPr>
        <p:spPr>
          <a:xfrm>
            <a:off x="5669280" y="3017520"/>
            <a:ext cx="3108960" cy="18288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2" name="Shape 20"/>
          <p:cNvSpPr/>
          <p:nvPr/>
        </p:nvSpPr>
        <p:spPr>
          <a:xfrm>
            <a:off x="5669280" y="3017520"/>
            <a:ext cx="54864" cy="1828800"/>
          </a:xfrm>
          <a:prstGeom prst="rect">
            <a:avLst/>
          </a:prstGeom>
          <a:solidFill>
            <a:srgbClr val="00D4AA"/>
          </a:solidFill>
          <a:ln/>
        </p:spPr>
      </p:sp>
      <p:sp>
        <p:nvSpPr>
          <p:cNvPr id="23" name="Text 21"/>
          <p:cNvSpPr/>
          <p:nvPr/>
        </p:nvSpPr>
        <p:spPr>
          <a:xfrm>
            <a:off x="5852160" y="3108960"/>
            <a:ext cx="2743200" cy="320040"/>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Smoke Test Retrieval</a:t>
            </a:r>
            <a:endParaRPr lang="en-US" sz="1200" dirty="0"/>
          </a:p>
        </p:txBody>
      </p:sp>
      <p:sp>
        <p:nvSpPr>
          <p:cNvPr id="24" name="Shape 22"/>
          <p:cNvSpPr/>
          <p:nvPr/>
        </p:nvSpPr>
        <p:spPr>
          <a:xfrm>
            <a:off x="5669280" y="3456432"/>
            <a:ext cx="3108960" cy="1280160"/>
          </a:xfrm>
          <a:prstGeom prst="rect">
            <a:avLst/>
          </a:prstGeom>
          <a:solidFill>
            <a:srgbClr val="010409"/>
          </a:solidFill>
          <a:ln/>
        </p:spPr>
      </p:sp>
      <p:sp>
        <p:nvSpPr>
          <p:cNvPr id="25" name="Text 23"/>
          <p:cNvSpPr/>
          <p:nvPr/>
        </p:nvSpPr>
        <p:spPr>
          <a:xfrm>
            <a:off x="5806440" y="3502152"/>
            <a:ext cx="2834640" cy="118872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EDGE_API_KEY=$(grep -E '^EDGE_API_KEY=' .env | cut -d= -f2-)</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-X POST http://localhost:8088/memory/query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"X-API-Key: $EDGE_API_KEY"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"Content-Type: application/json"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-d '{"query":"OWASP A01", "tags":["owasp"], "top_k":3}'</a:t>
            </a:r>
            <a:endParaRPr lang="en-US" sz="1000" dirty="0"/>
          </a:p>
        </p:txBody>
      </p:sp>
      <p:sp>
        <p:nvSpPr>
          <p:cNvPr id="26" name="Text 24"/>
          <p:cNvSpPr/>
          <p:nvPr/>
        </p:nvSpPr>
        <p:spPr>
          <a:xfrm>
            <a:off x="365760" y="4892040"/>
            <a:ext cx="8412480" cy="182880"/>
          </a:xfrm>
          <a:prstGeom prst="rect">
            <a:avLst/>
          </a:prstGeom>
          <a:noFill/>
          <a:ln/>
        </p:spPr>
        <p:txBody>
          <a:bodyPr wrap="square" rtlCol="0" anchor="ctr"/>
          <a:lstStyle/>
          <a:p>
            <a:pPr indent="0" marL="0">
              <a:buNone/>
            </a:pPr>
            <a:r>
              <a:rPr lang="en-US" sz="900" dirty="0">
                <a:solidFill>
                  <a:srgbClr val="D29922"/>
                </a:solidFill>
                <a:latin typeface="Calibri" pitchFamily="34" charset="0"/>
                <a:ea typeface="Calibri" pitchFamily="34" charset="-122"/>
                <a:cs typeface="Calibri" pitchFamily="34" charset="-120"/>
              </a:rPr>
              <a:t>Ingestion can take 30 min – 2 hours depending on corpus size. Do not cancel while Ollama CPU is high.</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4.2</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4.2 — Security Tool API</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Building /memory/health and /memory/query — the endpoints that expose security memory as a callable tool</a:t>
            </a:r>
            <a:endParaRPr lang="en-US" sz="1100" dirty="0"/>
          </a:p>
        </p:txBody>
      </p:sp>
      <p:sp>
        <p:nvSpPr>
          <p:cNvPr id="6" name="Shape 4"/>
          <p:cNvSpPr/>
          <p:nvPr/>
        </p:nvSpPr>
        <p:spPr>
          <a:xfrm>
            <a:off x="365760" y="1664208"/>
            <a:ext cx="411480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3108960"/>
          </a:xfrm>
          <a:prstGeom prst="rect">
            <a:avLst/>
          </a:prstGeom>
          <a:solidFill>
            <a:srgbClr val="BC8CFF"/>
          </a:solidFill>
          <a:ln/>
        </p:spPr>
      </p:sp>
      <p:sp>
        <p:nvSpPr>
          <p:cNvPr id="8" name="Text 6"/>
          <p:cNvSpPr/>
          <p:nvPr/>
        </p:nvSpPr>
        <p:spPr>
          <a:xfrm>
            <a:off x="548640" y="1755648"/>
            <a:ext cx="3749040" cy="347472"/>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The Tool Contract</a:t>
            </a:r>
            <a:endParaRPr lang="en-US" sz="1300" dirty="0"/>
          </a:p>
        </p:txBody>
      </p:sp>
      <p:sp>
        <p:nvSpPr>
          <p:cNvPr id="9" name="Text 7"/>
          <p:cNvSpPr/>
          <p:nvPr/>
        </p:nvSpPr>
        <p:spPr>
          <a:xfrm>
            <a:off x="548640" y="2148840"/>
            <a:ext cx="3749040" cy="256032"/>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Request shape:</a:t>
            </a:r>
            <a:endParaRPr lang="en-US" sz="1100" dirty="0"/>
          </a:p>
        </p:txBody>
      </p:sp>
      <p:sp>
        <p:nvSpPr>
          <p:cNvPr id="10" name="Shape 8"/>
          <p:cNvSpPr/>
          <p:nvPr/>
        </p:nvSpPr>
        <p:spPr>
          <a:xfrm>
            <a:off x="365760" y="2432304"/>
            <a:ext cx="4114800" cy="804672"/>
          </a:xfrm>
          <a:prstGeom prst="rect">
            <a:avLst/>
          </a:prstGeom>
          <a:solidFill>
            <a:srgbClr val="010409"/>
          </a:solidFill>
          <a:ln/>
        </p:spPr>
      </p:sp>
      <p:sp>
        <p:nvSpPr>
          <p:cNvPr id="11" name="Text 9"/>
          <p:cNvSpPr/>
          <p:nvPr/>
        </p:nvSpPr>
        <p:spPr>
          <a:xfrm>
            <a:off x="502920" y="2478024"/>
            <a:ext cx="3840480" cy="713232"/>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"query": "docker containers running as root",</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"tags": ["docker", "cis"],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"top_k": 6</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a:t>
            </a:r>
            <a:endParaRPr lang="en-US" sz="1000" dirty="0"/>
          </a:p>
        </p:txBody>
      </p:sp>
      <p:sp>
        <p:nvSpPr>
          <p:cNvPr id="12" name="Text 10"/>
          <p:cNvSpPr/>
          <p:nvPr/>
        </p:nvSpPr>
        <p:spPr>
          <a:xfrm>
            <a:off x="548640" y="3291840"/>
            <a:ext cx="3749040" cy="256032"/>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Response shape:</a:t>
            </a:r>
            <a:endParaRPr lang="en-US" sz="1100" dirty="0"/>
          </a:p>
        </p:txBody>
      </p:sp>
      <p:sp>
        <p:nvSpPr>
          <p:cNvPr id="13" name="Shape 11"/>
          <p:cNvSpPr/>
          <p:nvPr/>
        </p:nvSpPr>
        <p:spPr>
          <a:xfrm>
            <a:off x="365760" y="3584448"/>
            <a:ext cx="4114800" cy="1097280"/>
          </a:xfrm>
          <a:prstGeom prst="rect">
            <a:avLst/>
          </a:prstGeom>
          <a:solidFill>
            <a:srgbClr val="010409"/>
          </a:solidFill>
          <a:ln/>
        </p:spPr>
      </p:sp>
      <p:sp>
        <p:nvSpPr>
          <p:cNvPr id="14" name="Text 12"/>
          <p:cNvSpPr/>
          <p:nvPr/>
        </p:nvSpPr>
        <p:spPr>
          <a:xfrm>
            <a:off x="502920" y="3630168"/>
            <a:ext cx="3840480" cy="100584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"results":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"score": 0.83,</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"title": "CIS Docker Benchmark",</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"source": "cis",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"tags": ["docker","cis"],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"text":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a:t>
            </a:r>
            <a:endParaRPr lang="en-US" sz="1000" dirty="0"/>
          </a:p>
        </p:txBody>
      </p:sp>
      <p:sp>
        <p:nvSpPr>
          <p:cNvPr id="15" name="Shape 13"/>
          <p:cNvSpPr/>
          <p:nvPr/>
        </p:nvSpPr>
        <p:spPr>
          <a:xfrm>
            <a:off x="4663440" y="1664208"/>
            <a:ext cx="411480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4"/>
          <p:cNvSpPr/>
          <p:nvPr/>
        </p:nvSpPr>
        <p:spPr>
          <a:xfrm>
            <a:off x="4663440" y="1664208"/>
            <a:ext cx="54864" cy="3108960"/>
          </a:xfrm>
          <a:prstGeom prst="rect">
            <a:avLst/>
          </a:prstGeom>
          <a:solidFill>
            <a:srgbClr val="00D4AA"/>
          </a:solidFill>
          <a:ln/>
        </p:spPr>
      </p:sp>
      <p:sp>
        <p:nvSpPr>
          <p:cNvPr id="17" name="Text 15"/>
          <p:cNvSpPr/>
          <p:nvPr/>
        </p:nvSpPr>
        <p:spPr>
          <a:xfrm>
            <a:off x="4846320" y="1755648"/>
            <a:ext cx="3749040" cy="347472"/>
          </a:xfrm>
          <a:prstGeom prst="rect">
            <a:avLst/>
          </a:prstGeom>
          <a:noFill/>
          <a:ln/>
        </p:spPr>
        <p:txBody>
          <a:bodyPr wrap="square" rtlCol="0" anchor="ctr"/>
          <a:lstStyle/>
          <a:p>
            <a:pPr indent="0" marL="0">
              <a:buNone/>
            </a:pPr>
            <a:r>
              <a:rPr lang="en-US" sz="1300" b="1" dirty="0">
                <a:solidFill>
                  <a:srgbClr val="00D4AA"/>
                </a:solidFill>
                <a:latin typeface="Calibri" pitchFamily="34" charset="0"/>
                <a:ea typeface="Calibri" pitchFamily="34" charset="-122"/>
                <a:cs typeface="Calibri" pitchFamily="34" charset="-120"/>
              </a:rPr>
              <a:t>The security_memory Package</a:t>
            </a:r>
            <a:endParaRPr lang="en-US" sz="1300" dirty="0"/>
          </a:p>
        </p:txBody>
      </p:sp>
      <p:sp>
        <p:nvSpPr>
          <p:cNvPr id="18" name="Shape 16"/>
          <p:cNvSpPr/>
          <p:nvPr/>
        </p:nvSpPr>
        <p:spPr>
          <a:xfrm>
            <a:off x="4663440" y="2148840"/>
            <a:ext cx="4114800" cy="1280160"/>
          </a:xfrm>
          <a:prstGeom prst="rect">
            <a:avLst/>
          </a:prstGeom>
          <a:solidFill>
            <a:srgbClr val="010409"/>
          </a:solidFill>
          <a:ln/>
        </p:spPr>
      </p:sp>
      <p:sp>
        <p:nvSpPr>
          <p:cNvPr id="19" name="Text 17"/>
          <p:cNvSpPr/>
          <p:nvPr/>
        </p:nvSpPr>
        <p:spPr>
          <a:xfrm>
            <a:off x="4800600" y="2194560"/>
            <a:ext cx="3840480" cy="118872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ingestion-api/app/security_memory/</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router.py   ← /memory/health + /memory/query</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schemas.py  ← Pydantic request/response models</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store.py    ← embeds query, searches Qdrant</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ingest.py   ← ingestion script (run from container)</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__init__.py ← makes it a Python package</a:t>
            </a:r>
            <a:endParaRPr lang="en-US" sz="1000" dirty="0"/>
          </a:p>
        </p:txBody>
      </p:sp>
      <p:sp>
        <p:nvSpPr>
          <p:cNvPr id="20" name="Text 18"/>
          <p:cNvSpPr/>
          <p:nvPr/>
        </p:nvSpPr>
        <p:spPr>
          <a:xfrm>
            <a:off x="4846320" y="3493008"/>
            <a:ext cx="3749040" cy="256032"/>
          </a:xfrm>
          <a:prstGeom prst="rect">
            <a:avLst/>
          </a:prstGeom>
          <a:noFill/>
          <a:ln/>
        </p:spPr>
        <p:txBody>
          <a:bodyPr wrap="square" rtlCol="0" anchor="ctr"/>
          <a:lstStyle/>
          <a:p>
            <a:pPr indent="0" marL="0">
              <a:buNone/>
            </a:pPr>
            <a:r>
              <a:rPr lang="en-US" sz="1100" b="1" dirty="0">
                <a:solidFill>
                  <a:srgbClr val="79C0FF"/>
                </a:solidFill>
                <a:latin typeface="Calibri" pitchFamily="34" charset="0"/>
                <a:ea typeface="Calibri" pitchFamily="34" charset="-122"/>
                <a:cs typeface="Calibri" pitchFamily="34" charset="-120"/>
              </a:rPr>
              <a:t>Test the endpoints:</a:t>
            </a:r>
            <a:endParaRPr lang="en-US" sz="1100" dirty="0"/>
          </a:p>
        </p:txBody>
      </p:sp>
      <p:sp>
        <p:nvSpPr>
          <p:cNvPr id="21" name="Shape 19"/>
          <p:cNvSpPr/>
          <p:nvPr/>
        </p:nvSpPr>
        <p:spPr>
          <a:xfrm>
            <a:off x="4663440" y="3767328"/>
            <a:ext cx="4114800" cy="1005840"/>
          </a:xfrm>
          <a:prstGeom prst="rect">
            <a:avLst/>
          </a:prstGeom>
          <a:solidFill>
            <a:srgbClr val="010409"/>
          </a:solidFill>
          <a:ln/>
        </p:spPr>
      </p:sp>
      <p:sp>
        <p:nvSpPr>
          <p:cNvPr id="22" name="Text 20"/>
          <p:cNvSpPr/>
          <p:nvPr/>
        </p:nvSpPr>
        <p:spPr>
          <a:xfrm>
            <a:off x="4800600" y="3813048"/>
            <a:ext cx="3840480" cy="914400"/>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curl -sS http://localhost:8088/memory/health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"X-API-Key: $EDGE_API_KEY" | python -m json.tool</a:t>
            </a:r>
            <a:endParaRPr lang="en-US" sz="1000" dirty="0"/>
          </a:p>
          <a:p>
            <a:pPr algn="l" indent="0" marL="0">
              <a:buNone/>
            </a:pP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Expected:</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{"ok": true, "points_count": 3596}</a:t>
            </a:r>
            <a:endParaRPr lang="en-US" sz="10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D29922"/>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4.2 OPTIONAL</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4.2 — Optional: Chat Integration &amp; Enhancements</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These optional steps enhance the /chat endpoint with security-aware behavior. Each builds on the previous.</a:t>
            </a:r>
            <a:endParaRPr lang="en-US" sz="1100" dirty="0"/>
          </a:p>
        </p:txBody>
      </p:sp>
      <p:sp>
        <p:nvSpPr>
          <p:cNvPr id="6" name="Shape 4"/>
          <p:cNvSpPr/>
          <p:nvPr/>
        </p:nvSpPr>
        <p:spPr>
          <a:xfrm>
            <a:off x="365760" y="1664208"/>
            <a:ext cx="8412480" cy="5303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73152" cy="530352"/>
          </a:xfrm>
          <a:prstGeom prst="rect">
            <a:avLst/>
          </a:prstGeom>
          <a:solidFill>
            <a:srgbClr val="00D4AA"/>
          </a:solidFill>
          <a:ln/>
        </p:spPr>
      </p:sp>
      <p:sp>
        <p:nvSpPr>
          <p:cNvPr id="8" name="Text 6"/>
          <p:cNvSpPr/>
          <p:nvPr/>
        </p:nvSpPr>
        <p:spPr>
          <a:xfrm>
            <a:off x="530352" y="1709928"/>
            <a:ext cx="1005840" cy="274320"/>
          </a:xfrm>
          <a:prstGeom prst="rect">
            <a:avLst/>
          </a:prstGeom>
          <a:noFill/>
          <a:ln/>
        </p:spPr>
        <p:txBody>
          <a:bodyPr wrap="square" rtlCol="0" anchor="ctr"/>
          <a:lstStyle/>
          <a:p>
            <a:pPr indent="0" marL="0">
              <a:buNone/>
            </a:pPr>
            <a:r>
              <a:rPr lang="en-US" sz="1000" b="1" dirty="0">
                <a:solidFill>
                  <a:srgbClr val="00D4AA"/>
                </a:solidFill>
                <a:latin typeface="Calibri" pitchFamily="34" charset="0"/>
                <a:ea typeface="Calibri" pitchFamily="34" charset="-122"/>
                <a:cs typeface="Calibri" pitchFamily="34" charset="-120"/>
              </a:rPr>
              <a:t>Step 1</a:t>
            </a:r>
            <a:endParaRPr lang="en-US" sz="1000" dirty="0"/>
          </a:p>
        </p:txBody>
      </p:sp>
      <p:sp>
        <p:nvSpPr>
          <p:cNvPr id="9" name="Text 7"/>
          <p:cNvSpPr/>
          <p:nvPr/>
        </p:nvSpPr>
        <p:spPr>
          <a:xfrm>
            <a:off x="1554480" y="1709928"/>
            <a:ext cx="219456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Security Classifier</a:t>
            </a:r>
            <a:endParaRPr lang="en-US" sz="1100" dirty="0"/>
          </a:p>
        </p:txBody>
      </p:sp>
      <p:sp>
        <p:nvSpPr>
          <p:cNvPr id="10" name="Text 8"/>
          <p:cNvSpPr/>
          <p:nvPr/>
        </p:nvSpPr>
        <p:spPr>
          <a:xfrm>
            <a:off x="3840480" y="1709928"/>
            <a:ext cx="4754880" cy="384048"/>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is_security_related() — Asks Ollama YES/NO whether the question is security-related. Returns True/False.</a:t>
            </a:r>
            <a:endParaRPr lang="en-US" sz="1000" dirty="0"/>
          </a:p>
        </p:txBody>
      </p:sp>
      <p:sp>
        <p:nvSpPr>
          <p:cNvPr id="11" name="Shape 9"/>
          <p:cNvSpPr/>
          <p:nvPr/>
        </p:nvSpPr>
        <p:spPr>
          <a:xfrm>
            <a:off x="365760" y="2286000"/>
            <a:ext cx="8412480" cy="5303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2" name="Shape 10"/>
          <p:cNvSpPr/>
          <p:nvPr/>
        </p:nvSpPr>
        <p:spPr>
          <a:xfrm>
            <a:off x="365760" y="2286000"/>
            <a:ext cx="73152" cy="530352"/>
          </a:xfrm>
          <a:prstGeom prst="rect">
            <a:avLst/>
          </a:prstGeom>
          <a:solidFill>
            <a:srgbClr val="BC8CFF"/>
          </a:solidFill>
          <a:ln/>
        </p:spPr>
      </p:sp>
      <p:sp>
        <p:nvSpPr>
          <p:cNvPr id="13" name="Text 11"/>
          <p:cNvSpPr/>
          <p:nvPr/>
        </p:nvSpPr>
        <p:spPr>
          <a:xfrm>
            <a:off x="530352" y="2331720"/>
            <a:ext cx="1005840" cy="274320"/>
          </a:xfrm>
          <a:prstGeom prst="rect">
            <a:avLst/>
          </a:prstGeom>
          <a:noFill/>
          <a:ln/>
        </p:spPr>
        <p:txBody>
          <a:bodyPr wrap="square" rtlCol="0" anchor="ctr"/>
          <a:lstStyle/>
          <a:p>
            <a:pPr indent="0" marL="0">
              <a:buNone/>
            </a:pPr>
            <a:r>
              <a:rPr lang="en-US" sz="1000" b="1" dirty="0">
                <a:solidFill>
                  <a:srgbClr val="BC8CFF"/>
                </a:solidFill>
                <a:latin typeface="Calibri" pitchFamily="34" charset="0"/>
                <a:ea typeface="Calibri" pitchFamily="34" charset="-122"/>
                <a:cs typeface="Calibri" pitchFamily="34" charset="-120"/>
              </a:rPr>
              <a:t>Step 2</a:t>
            </a:r>
            <a:endParaRPr lang="en-US" sz="1000" dirty="0"/>
          </a:p>
        </p:txBody>
      </p:sp>
      <p:sp>
        <p:nvSpPr>
          <p:cNvPr id="14" name="Text 12"/>
          <p:cNvSpPr/>
          <p:nvPr/>
        </p:nvSpPr>
        <p:spPr>
          <a:xfrm>
            <a:off x="1554480" y="2331720"/>
            <a:ext cx="219456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Memory Injection</a:t>
            </a:r>
            <a:endParaRPr lang="en-US" sz="1100" dirty="0"/>
          </a:p>
        </p:txBody>
      </p:sp>
      <p:sp>
        <p:nvSpPr>
          <p:cNvPr id="15" name="Text 13"/>
          <p:cNvSpPr/>
          <p:nvPr/>
        </p:nvSpPr>
        <p:spPr>
          <a:xfrm>
            <a:off x="3840480" y="2331720"/>
            <a:ext cx="4754880" cy="384048"/>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get_memory_context() — Fetches chunks from /memory/query and injects them into the prompt as extra context.</a:t>
            </a:r>
            <a:endParaRPr lang="en-US" sz="1000" dirty="0"/>
          </a:p>
        </p:txBody>
      </p:sp>
      <p:sp>
        <p:nvSpPr>
          <p:cNvPr id="16" name="Shape 14"/>
          <p:cNvSpPr/>
          <p:nvPr/>
        </p:nvSpPr>
        <p:spPr>
          <a:xfrm>
            <a:off x="365760" y="2907792"/>
            <a:ext cx="8412480" cy="5303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7" name="Shape 15"/>
          <p:cNvSpPr/>
          <p:nvPr/>
        </p:nvSpPr>
        <p:spPr>
          <a:xfrm>
            <a:off x="365760" y="2907792"/>
            <a:ext cx="73152" cy="530352"/>
          </a:xfrm>
          <a:prstGeom prst="rect">
            <a:avLst/>
          </a:prstGeom>
          <a:solidFill>
            <a:srgbClr val="79C0FF"/>
          </a:solidFill>
          <a:ln/>
        </p:spPr>
      </p:sp>
      <p:sp>
        <p:nvSpPr>
          <p:cNvPr id="18" name="Text 16"/>
          <p:cNvSpPr/>
          <p:nvPr/>
        </p:nvSpPr>
        <p:spPr>
          <a:xfrm>
            <a:off x="530352" y="2953512"/>
            <a:ext cx="1005840" cy="274320"/>
          </a:xfrm>
          <a:prstGeom prst="rect">
            <a:avLst/>
          </a:prstGeom>
          <a:noFill/>
          <a:ln/>
        </p:spPr>
        <p:txBody>
          <a:bodyPr wrap="square" rtlCol="0" anchor="ctr"/>
          <a:lstStyle/>
          <a:p>
            <a:pPr indent="0" marL="0">
              <a:buNone/>
            </a:pPr>
            <a:r>
              <a:rPr lang="en-US" sz="1000" b="1" dirty="0">
                <a:solidFill>
                  <a:srgbClr val="79C0FF"/>
                </a:solidFill>
                <a:latin typeface="Calibri" pitchFamily="34" charset="0"/>
                <a:ea typeface="Calibri" pitchFamily="34" charset="-122"/>
                <a:cs typeface="Calibri" pitchFamily="34" charset="-120"/>
              </a:rPr>
              <a:t>Step 3</a:t>
            </a:r>
            <a:endParaRPr lang="en-US" sz="1000" dirty="0"/>
          </a:p>
        </p:txBody>
      </p:sp>
      <p:sp>
        <p:nvSpPr>
          <p:cNvPr id="19" name="Text 17"/>
          <p:cNvSpPr/>
          <p:nvPr/>
        </p:nvSpPr>
        <p:spPr>
          <a:xfrm>
            <a:off x="1554480" y="2953512"/>
            <a:ext cx="219456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Update _chat_impl</a:t>
            </a:r>
            <a:endParaRPr lang="en-US" sz="1100" dirty="0"/>
          </a:p>
        </p:txBody>
      </p:sp>
      <p:sp>
        <p:nvSpPr>
          <p:cNvPr id="20" name="Text 18"/>
          <p:cNvSpPr/>
          <p:nvPr/>
        </p:nvSpPr>
        <p:spPr>
          <a:xfrm>
            <a:off x="3840480" y="2953512"/>
            <a:ext cx="4754880" cy="384048"/>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Add security check at the top of _chat_impl. If security-related, inject memory chunks before build_prompt().</a:t>
            </a:r>
            <a:endParaRPr lang="en-US" sz="1000" dirty="0"/>
          </a:p>
        </p:txBody>
      </p:sp>
      <p:sp>
        <p:nvSpPr>
          <p:cNvPr id="21" name="Shape 19"/>
          <p:cNvSpPr/>
          <p:nvPr/>
        </p:nvSpPr>
        <p:spPr>
          <a:xfrm>
            <a:off x="365760" y="3529584"/>
            <a:ext cx="8412480" cy="5303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2" name="Shape 20"/>
          <p:cNvSpPr/>
          <p:nvPr/>
        </p:nvSpPr>
        <p:spPr>
          <a:xfrm>
            <a:off x="365760" y="3529584"/>
            <a:ext cx="73152" cy="530352"/>
          </a:xfrm>
          <a:prstGeom prst="rect">
            <a:avLst/>
          </a:prstGeom>
          <a:solidFill>
            <a:srgbClr val="D29922"/>
          </a:solidFill>
          <a:ln/>
        </p:spPr>
      </p:sp>
      <p:sp>
        <p:nvSpPr>
          <p:cNvPr id="23" name="Text 21"/>
          <p:cNvSpPr/>
          <p:nvPr/>
        </p:nvSpPr>
        <p:spPr>
          <a:xfrm>
            <a:off x="530352" y="3575304"/>
            <a:ext cx="1005840" cy="274320"/>
          </a:xfrm>
          <a:prstGeom prst="rect">
            <a:avLst/>
          </a:prstGeom>
          <a:noFill/>
          <a:ln/>
        </p:spPr>
        <p:txBody>
          <a:bodyPr wrap="square" rtlCol="0" anchor="ctr"/>
          <a:lstStyle/>
          <a:p>
            <a:pPr indent="0" marL="0">
              <a:buNone/>
            </a:pPr>
            <a:r>
              <a:rPr lang="en-US" sz="1000" b="1" dirty="0">
                <a:solidFill>
                  <a:srgbClr val="D29922"/>
                </a:solidFill>
                <a:latin typeface="Calibri" pitchFamily="34" charset="0"/>
                <a:ea typeface="Calibri" pitchFamily="34" charset="-122"/>
                <a:cs typeface="Calibri" pitchFamily="34" charset="-120"/>
              </a:rPr>
              <a:t>Step 4</a:t>
            </a:r>
            <a:endParaRPr lang="en-US" sz="1000" dirty="0"/>
          </a:p>
        </p:txBody>
      </p:sp>
      <p:sp>
        <p:nvSpPr>
          <p:cNvPr id="24" name="Text 22"/>
          <p:cNvSpPr/>
          <p:nvPr/>
        </p:nvSpPr>
        <p:spPr>
          <a:xfrm>
            <a:off x="1554480" y="3575304"/>
            <a:ext cx="219456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Follow-up Suggestions</a:t>
            </a:r>
            <a:endParaRPr lang="en-US" sz="1100" dirty="0"/>
          </a:p>
        </p:txBody>
      </p:sp>
      <p:sp>
        <p:nvSpPr>
          <p:cNvPr id="25" name="Text 23"/>
          <p:cNvSpPr/>
          <p:nvPr/>
        </p:nvSpPr>
        <p:spPr>
          <a:xfrm>
            <a:off x="3840480" y="3575304"/>
            <a:ext cx="4754880" cy="384048"/>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get_followup_suggestions() — Asks Ollama to generate 2-3 follow-up questions returned alongside the answer.</a:t>
            </a:r>
            <a:endParaRPr lang="en-US" sz="1000" dirty="0"/>
          </a:p>
        </p:txBody>
      </p:sp>
      <p:sp>
        <p:nvSpPr>
          <p:cNvPr id="26" name="Shape 24"/>
          <p:cNvSpPr/>
          <p:nvPr/>
        </p:nvSpPr>
        <p:spPr>
          <a:xfrm>
            <a:off x="365760" y="4151376"/>
            <a:ext cx="8412480" cy="530352"/>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7" name="Shape 25"/>
          <p:cNvSpPr/>
          <p:nvPr/>
        </p:nvSpPr>
        <p:spPr>
          <a:xfrm>
            <a:off x="365760" y="4151376"/>
            <a:ext cx="73152" cy="530352"/>
          </a:xfrm>
          <a:prstGeom prst="rect">
            <a:avLst/>
          </a:prstGeom>
          <a:solidFill>
            <a:srgbClr val="F78166"/>
          </a:solidFill>
          <a:ln/>
        </p:spPr>
      </p:sp>
      <p:sp>
        <p:nvSpPr>
          <p:cNvPr id="28" name="Text 26"/>
          <p:cNvSpPr/>
          <p:nvPr/>
        </p:nvSpPr>
        <p:spPr>
          <a:xfrm>
            <a:off x="530352" y="4197096"/>
            <a:ext cx="1005840" cy="274320"/>
          </a:xfrm>
          <a:prstGeom prst="rect">
            <a:avLst/>
          </a:prstGeom>
          <a:noFill/>
          <a:ln/>
        </p:spPr>
        <p:txBody>
          <a:bodyPr wrap="square" rtlCol="0" anchor="ctr"/>
          <a:lstStyle/>
          <a:p>
            <a:pPr indent="0" marL="0">
              <a:buNone/>
            </a:pPr>
            <a:r>
              <a:rPr lang="en-US" sz="1000" b="1" dirty="0">
                <a:solidFill>
                  <a:srgbClr val="F78166"/>
                </a:solidFill>
                <a:latin typeface="Calibri" pitchFamily="34" charset="0"/>
                <a:ea typeface="Calibri" pitchFamily="34" charset="-122"/>
                <a:cs typeface="Calibri" pitchFamily="34" charset="-120"/>
              </a:rPr>
              <a:t>Step 5</a:t>
            </a:r>
            <a:endParaRPr lang="en-US" sz="1000" dirty="0"/>
          </a:p>
        </p:txBody>
      </p:sp>
      <p:sp>
        <p:nvSpPr>
          <p:cNvPr id="29" name="Text 27"/>
          <p:cNvSpPr/>
          <p:nvPr/>
        </p:nvSpPr>
        <p:spPr>
          <a:xfrm>
            <a:off x="1554480" y="4197096"/>
            <a:ext cx="2194560" cy="274320"/>
          </a:xfrm>
          <a:prstGeom prst="rect">
            <a:avLst/>
          </a:prstGeom>
          <a:noFill/>
          <a:ln/>
        </p:spPr>
        <p:txBody>
          <a:bodyPr wrap="square" rtlCol="0" anchor="ctr"/>
          <a:lstStyle/>
          <a:p>
            <a:pPr indent="0" marL="0">
              <a:buNone/>
            </a:pPr>
            <a:r>
              <a:rPr lang="en-US" sz="1100" b="1" dirty="0">
                <a:solidFill>
                  <a:srgbClr val="E6EDF3"/>
                </a:solidFill>
                <a:latin typeface="Calibri" pitchFamily="34" charset="0"/>
                <a:ea typeface="Calibri" pitchFamily="34" charset="-122"/>
                <a:cs typeface="Calibri" pitchFamily="34" charset="-120"/>
              </a:rPr>
              <a:t>Scope Enforcement</a:t>
            </a:r>
            <a:endParaRPr lang="en-US" sz="1100" dirty="0"/>
          </a:p>
        </p:txBody>
      </p:sp>
      <p:sp>
        <p:nvSpPr>
          <p:cNvPr id="30" name="Text 28"/>
          <p:cNvSpPr/>
          <p:nvPr/>
        </p:nvSpPr>
        <p:spPr>
          <a:xfrm>
            <a:off x="3840480" y="4197096"/>
            <a:ext cx="4754880" cy="384048"/>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enforce_security_scope() — Non-security questions get a polite redirect. Turns the chatbot into a focused security tool.</a:t>
            </a:r>
            <a:endParaRPr lang="en-US" sz="1000" dirty="0"/>
          </a:p>
        </p:txBody>
      </p:sp>
      <p:sp>
        <p:nvSpPr>
          <p:cNvPr id="31" name="Shape 29"/>
          <p:cNvSpPr/>
          <p:nvPr/>
        </p:nvSpPr>
        <p:spPr>
          <a:xfrm>
            <a:off x="365760" y="4828032"/>
            <a:ext cx="8412480" cy="201168"/>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32" name="Text 30"/>
          <p:cNvSpPr/>
          <p:nvPr/>
        </p:nvSpPr>
        <p:spPr>
          <a:xfrm>
            <a:off x="548640" y="4846320"/>
            <a:ext cx="8046720" cy="164592"/>
          </a:xfrm>
          <a:prstGeom prst="rect">
            <a:avLst/>
          </a:prstGeom>
          <a:noFill/>
          <a:ln/>
        </p:spPr>
        <p:txBody>
          <a:bodyPr wrap="square" rtlCol="0" anchor="ctr"/>
          <a:lstStyle/>
          <a:p>
            <a:pPr indent="0" marL="0">
              <a:buNone/>
            </a:pPr>
            <a:r>
              <a:rPr lang="en-US" sz="900" dirty="0">
                <a:solidFill>
                  <a:srgbClr val="79C0FF"/>
                </a:solidFill>
                <a:latin typeface="Consolas" pitchFamily="34" charset="0"/>
                <a:ea typeface="Consolas" pitchFamily="34" charset="-122"/>
                <a:cs typeface="Consolas" pitchFamily="34" charset="-120"/>
              </a:rPr>
              <a:t>Rebuild after each step:  docker compose up -d --build ingestion-api  →  then test with curl or Gradio at localhost:7860</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4.3</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4.3 — IDE Integration (Part 1): Grounded Security Reviews</a:t>
            </a:r>
            <a:endParaRPr lang="en-US" sz="2800" dirty="0"/>
          </a:p>
        </p:txBody>
      </p:sp>
      <p:sp>
        <p:nvSpPr>
          <p:cNvPr id="5" name="Text 3"/>
          <p:cNvSpPr/>
          <p:nvPr/>
        </p:nvSpPr>
        <p:spPr>
          <a:xfrm>
            <a:off x="365760" y="1234440"/>
            <a:ext cx="8412480" cy="320040"/>
          </a:xfrm>
          <a:prstGeom prst="rect">
            <a:avLst/>
          </a:prstGeom>
          <a:noFill/>
          <a:ln/>
        </p:spPr>
        <p:txBody>
          <a:bodyPr wrap="square" rtlCol="0" anchor="ctr"/>
          <a:lstStyle/>
          <a:p>
            <a:pPr indent="0" marL="0">
              <a:buNone/>
            </a:pPr>
            <a:r>
              <a:rPr lang="en-US" sz="1100" i="1" dirty="0">
                <a:solidFill>
                  <a:srgbClr val="8B949E"/>
                </a:solidFill>
                <a:latin typeface="Calibri" pitchFamily="34" charset="0"/>
                <a:ea typeface="Calibri" pitchFamily="34" charset="-122"/>
                <a:cs typeface="Calibri" pitchFamily="34" charset="-120"/>
              </a:rPr>
              <a:t>What you are building: a workflow where your IDE reviews real lab files against actual security standards</a:t>
            </a:r>
            <a:endParaRPr lang="en-US" sz="1100" dirty="0"/>
          </a:p>
        </p:txBody>
      </p:sp>
      <p:sp>
        <p:nvSpPr>
          <p:cNvPr id="6" name="Shape 4"/>
          <p:cNvSpPr/>
          <p:nvPr/>
        </p:nvSpPr>
        <p:spPr>
          <a:xfrm>
            <a:off x="365760" y="1664208"/>
            <a:ext cx="4114800" cy="13716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7" name="Shape 5"/>
          <p:cNvSpPr/>
          <p:nvPr/>
        </p:nvSpPr>
        <p:spPr>
          <a:xfrm>
            <a:off x="365760" y="1664208"/>
            <a:ext cx="54864" cy="1371600"/>
          </a:xfrm>
          <a:prstGeom prst="rect">
            <a:avLst/>
          </a:prstGeom>
          <a:solidFill>
            <a:srgbClr val="F78166"/>
          </a:solidFill>
          <a:ln/>
        </p:spPr>
      </p:sp>
      <p:sp>
        <p:nvSpPr>
          <p:cNvPr id="8" name="Text 6"/>
          <p:cNvSpPr/>
          <p:nvPr/>
        </p:nvSpPr>
        <p:spPr>
          <a:xfrm>
            <a:off x="548640" y="1755648"/>
            <a:ext cx="3749040" cy="320040"/>
          </a:xfrm>
          <a:prstGeom prst="rect">
            <a:avLst/>
          </a:prstGeom>
          <a:noFill/>
          <a:ln/>
        </p:spPr>
        <p:txBody>
          <a:bodyPr wrap="square" rtlCol="0" anchor="ctr"/>
          <a:lstStyle/>
          <a:p>
            <a:pPr indent="0" marL="0">
              <a:buNone/>
            </a:pPr>
            <a:r>
              <a:rPr lang="en-US" sz="1200" b="1" dirty="0">
                <a:solidFill>
                  <a:srgbClr val="F78166"/>
                </a:solidFill>
                <a:latin typeface="Calibri" pitchFamily="34" charset="0"/>
                <a:ea typeface="Calibri" pitchFamily="34" charset="-122"/>
                <a:cs typeface="Calibri" pitchFamily="34" charset="-120"/>
              </a:rPr>
              <a:t>Ungrounded (no memory)</a:t>
            </a:r>
            <a:endParaRPr lang="en-US" sz="1200" dirty="0"/>
          </a:p>
        </p:txBody>
      </p:sp>
      <p:sp>
        <p:nvSpPr>
          <p:cNvPr id="9" name="Text 7"/>
          <p:cNvSpPr/>
          <p:nvPr/>
        </p:nvSpPr>
        <p:spPr>
          <a:xfrm>
            <a:off x="548640" y="2103120"/>
            <a:ext cx="3749040" cy="822960"/>
          </a:xfrm>
          <a:prstGeom prst="rect">
            <a:avLst/>
          </a:prstGeom>
          <a:noFill/>
          <a:ln/>
        </p:spPr>
        <p:txBody>
          <a:bodyPr wrap="square" rtlCol="0" anchor="ctr"/>
          <a:lstStyle/>
          <a:p>
            <a:pPr indent="0" marL="0">
              <a:buNone/>
            </a:pPr>
            <a:r>
              <a:rPr lang="en-US" sz="1050" dirty="0">
                <a:solidFill>
                  <a:srgbClr val="8B949E"/>
                </a:solidFill>
                <a:latin typeface="Calibri" pitchFamily="34" charset="0"/>
                <a:ea typeface="Calibri" pitchFamily="34" charset="-122"/>
                <a:cs typeface="Calibri" pitchFamily="34" charset="-120"/>
              </a:rPr>
              <a:t>"Is this Dockerfile secure?" → AI answers from training data. May be outdated, vague, or wrong. Cannot be audited. No citation.</a:t>
            </a:r>
            <a:endParaRPr lang="en-US" sz="1050" dirty="0"/>
          </a:p>
        </p:txBody>
      </p:sp>
      <p:sp>
        <p:nvSpPr>
          <p:cNvPr id="10" name="Shape 8"/>
          <p:cNvSpPr/>
          <p:nvPr/>
        </p:nvSpPr>
        <p:spPr>
          <a:xfrm>
            <a:off x="4663440" y="1664208"/>
            <a:ext cx="4114800" cy="137160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9"/>
          <p:cNvSpPr/>
          <p:nvPr/>
        </p:nvSpPr>
        <p:spPr>
          <a:xfrm>
            <a:off x="4663440" y="1664208"/>
            <a:ext cx="54864" cy="1371600"/>
          </a:xfrm>
          <a:prstGeom prst="rect">
            <a:avLst/>
          </a:prstGeom>
          <a:solidFill>
            <a:srgbClr val="3FB950"/>
          </a:solidFill>
          <a:ln/>
        </p:spPr>
      </p:sp>
      <p:sp>
        <p:nvSpPr>
          <p:cNvPr id="12" name="Text 10"/>
          <p:cNvSpPr/>
          <p:nvPr/>
        </p:nvSpPr>
        <p:spPr>
          <a:xfrm>
            <a:off x="4846320" y="1755648"/>
            <a:ext cx="3749040" cy="320040"/>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Grounded (with memory)</a:t>
            </a:r>
            <a:endParaRPr lang="en-US" sz="1200" dirty="0"/>
          </a:p>
        </p:txBody>
      </p:sp>
      <p:sp>
        <p:nvSpPr>
          <p:cNvPr id="13" name="Text 11"/>
          <p:cNvSpPr/>
          <p:nvPr/>
        </p:nvSpPr>
        <p:spPr>
          <a:xfrm>
            <a:off x="4846320" y="2103120"/>
            <a:ext cx="3749040" cy="82296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"Is this Dockerfile secure?" → AI cites CIS Docker Benchmark section 4.1. Specific, versioned, auditable. 'We followed CIS v1.6 section 4.1' is auditable.</a:t>
            </a:r>
            <a:endParaRPr lang="en-US" sz="1050" dirty="0"/>
          </a:p>
        </p:txBody>
      </p:sp>
      <p:sp>
        <p:nvSpPr>
          <p:cNvPr id="14" name="Shape 12"/>
          <p:cNvSpPr/>
          <p:nvPr/>
        </p:nvSpPr>
        <p:spPr>
          <a:xfrm>
            <a:off x="365760" y="3127248"/>
            <a:ext cx="8412480" cy="1783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5" name="Shape 13"/>
          <p:cNvSpPr/>
          <p:nvPr/>
        </p:nvSpPr>
        <p:spPr>
          <a:xfrm>
            <a:off x="365760" y="3127248"/>
            <a:ext cx="54864" cy="1783080"/>
          </a:xfrm>
          <a:prstGeom prst="rect">
            <a:avLst/>
          </a:prstGeom>
          <a:solidFill>
            <a:srgbClr val="79C0FF"/>
          </a:solidFill>
          <a:ln/>
        </p:spPr>
      </p:sp>
      <p:sp>
        <p:nvSpPr>
          <p:cNvPr id="16" name="Text 14"/>
          <p:cNvSpPr/>
          <p:nvPr/>
        </p:nvSpPr>
        <p:spPr>
          <a:xfrm>
            <a:off x="548640" y="3218688"/>
            <a:ext cx="8046720" cy="347472"/>
          </a:xfrm>
          <a:prstGeom prst="rect">
            <a:avLst/>
          </a:prstGeom>
          <a:noFill/>
          <a:ln/>
        </p:spPr>
        <p:txBody>
          <a:bodyPr wrap="square" rtlCol="0" anchor="ctr"/>
          <a:lstStyle/>
          <a:p>
            <a:pPr indent="0" marL="0">
              <a:buNone/>
            </a:pPr>
            <a:r>
              <a:rPr lang="en-US" sz="1300" b="1" dirty="0">
                <a:solidFill>
                  <a:srgbClr val="79C0FF"/>
                </a:solidFill>
                <a:latin typeface="Calibri" pitchFamily="34" charset="0"/>
                <a:ea typeface="Calibri" pitchFamily="34" charset="-122"/>
                <a:cs typeface="Calibri" pitchFamily="34" charset="-120"/>
              </a:rPr>
              <a:t>The Core 2-Step Workflow</a:t>
            </a:r>
            <a:endParaRPr lang="en-US" sz="1300" dirty="0"/>
          </a:p>
        </p:txBody>
      </p:sp>
      <p:sp>
        <p:nvSpPr>
          <p:cNvPr id="17" name="Text 15"/>
          <p:cNvSpPr/>
          <p:nvPr/>
        </p:nvSpPr>
        <p:spPr>
          <a:xfrm>
            <a:off x="548640" y="3611880"/>
            <a:ext cx="3200400" cy="256032"/>
          </a:xfrm>
          <a:prstGeom prst="rect">
            <a:avLst/>
          </a:prstGeom>
          <a:noFill/>
          <a:ln/>
        </p:spPr>
        <p:txBody>
          <a:bodyPr wrap="square" rtlCol="0" anchor="ctr"/>
          <a:lstStyle/>
          <a:p>
            <a:pPr indent="0" marL="0">
              <a:buNone/>
            </a:pPr>
            <a:r>
              <a:rPr lang="en-US" sz="1100" b="1" dirty="0">
                <a:solidFill>
                  <a:srgbClr val="00D4AA"/>
                </a:solidFill>
                <a:latin typeface="Calibri" pitchFamily="34" charset="0"/>
                <a:ea typeface="Calibri" pitchFamily="34" charset="-122"/>
                <a:cs typeface="Calibri" pitchFamily="34" charset="-120"/>
              </a:rPr>
              <a:t>Step 1 — Retrieve from memory API:</a:t>
            </a:r>
            <a:endParaRPr lang="en-US" sz="1100" dirty="0"/>
          </a:p>
        </p:txBody>
      </p:sp>
      <p:sp>
        <p:nvSpPr>
          <p:cNvPr id="18" name="Shape 16"/>
          <p:cNvSpPr/>
          <p:nvPr/>
        </p:nvSpPr>
        <p:spPr>
          <a:xfrm>
            <a:off x="365760" y="3886200"/>
            <a:ext cx="8412480" cy="566928"/>
          </a:xfrm>
          <a:prstGeom prst="rect">
            <a:avLst/>
          </a:prstGeom>
          <a:solidFill>
            <a:srgbClr val="010409"/>
          </a:solidFill>
          <a:ln/>
        </p:spPr>
      </p:sp>
      <p:sp>
        <p:nvSpPr>
          <p:cNvPr id="19" name="Text 17"/>
          <p:cNvSpPr/>
          <p:nvPr/>
        </p:nvSpPr>
        <p:spPr>
          <a:xfrm>
            <a:off x="502920" y="3931920"/>
            <a:ext cx="8138160" cy="475488"/>
          </a:xfrm>
          <a:prstGeom prst="rect">
            <a:avLst/>
          </a:prstGeom>
          <a:noFill/>
          <a:ln/>
        </p:spPr>
        <p:txBody>
          <a:bodyPr wrap="square" rtlCol="0" anchor="t"/>
          <a:lstStyle/>
          <a:p>
            <a:pPr algn="l" indent="0" marL="0">
              <a:buNone/>
            </a:pPr>
            <a:r>
              <a:rPr lang="en-US" sz="1000" dirty="0">
                <a:solidFill>
                  <a:srgbClr val="79C0FF"/>
                </a:solidFill>
                <a:latin typeface="Consolas" pitchFamily="34" charset="0"/>
                <a:ea typeface="Consolas" pitchFamily="34" charset="-122"/>
                <a:cs typeface="Consolas" pitchFamily="34" charset="-120"/>
              </a:rPr>
              <a:t>EDGE_API_KEY=$(grep -E '^EDGE_API_KEY=' .env | cut -d= -f2-)</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curl -sS -X POST http://localhost:8088/memory/query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-H "X-API-Key: $EDGE_API_KEY" \</a:t>
            </a:r>
            <a:endParaRPr lang="en-US" sz="1000" dirty="0"/>
          </a:p>
          <a:p>
            <a:pPr algn="l" indent="0" marL="0">
              <a:buNone/>
            </a:pPr>
            <a:r>
              <a:rPr lang="en-US" sz="1000" dirty="0">
                <a:solidFill>
                  <a:srgbClr val="79C0FF"/>
                </a:solidFill>
                <a:latin typeface="Consolas" pitchFamily="34" charset="0"/>
                <a:ea typeface="Consolas" pitchFamily="34" charset="-122"/>
                <a:cs typeface="Consolas" pitchFamily="34" charset="-120"/>
              </a:rPr>
              <a:t>  -d '{"query": "docker compose secrets ports privileged", "tags": ["docker","cis"], "top_k": 8}' &gt; /tmp/security_context.json</a:t>
            </a:r>
            <a:endParaRPr lang="en-US" sz="1000" dirty="0"/>
          </a:p>
        </p:txBody>
      </p:sp>
      <p:sp>
        <p:nvSpPr>
          <p:cNvPr id="20" name="Text 18"/>
          <p:cNvSpPr/>
          <p:nvPr/>
        </p:nvSpPr>
        <p:spPr>
          <a:xfrm>
            <a:off x="548640" y="4480560"/>
            <a:ext cx="8046720" cy="347472"/>
          </a:xfrm>
          <a:prstGeom prst="rect">
            <a:avLst/>
          </a:prstGeom>
          <a:noFill/>
          <a:ln/>
        </p:spPr>
        <p:txBody>
          <a:bodyPr wrap="square" rtlCol="0" anchor="ctr"/>
          <a:lstStyle/>
          <a:p>
            <a:pPr indent="0" marL="0">
              <a:buNone/>
            </a:pPr>
            <a:r>
              <a:rPr lang="en-US" sz="1000" dirty="0">
                <a:solidFill>
                  <a:srgbClr val="8B949E"/>
                </a:solidFill>
                <a:latin typeface="Calibri" pitchFamily="34" charset="0"/>
                <a:ea typeface="Calibri" pitchFamily="34" charset="-122"/>
                <a:cs typeface="Calibri" pitchFamily="34" charset="-120"/>
              </a:rPr>
              <a:t>Step 2 — Paste chunks + file into IDE chat with grounding instruction: 'Use only these references. If a finding is not in the references, say so explicitly.'</a:t>
            </a:r>
            <a:endParaRPr lang="en-US" sz="1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BC8CFF"/>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LESSON 4.3</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Lesson 4.3 — IDE Integration (Part 2): Prompt Library &amp; Keeping Memory Fresh</a:t>
            </a:r>
            <a:endParaRPr lang="en-US" sz="2800" dirty="0"/>
          </a:p>
        </p:txBody>
      </p:sp>
      <p:sp>
        <p:nvSpPr>
          <p:cNvPr id="5" name="Shape 3"/>
          <p:cNvSpPr/>
          <p:nvPr/>
        </p:nvSpPr>
        <p:spPr>
          <a:xfrm>
            <a:off x="365760" y="1371600"/>
            <a:ext cx="502920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371600"/>
            <a:ext cx="54864" cy="3108960"/>
          </a:xfrm>
          <a:prstGeom prst="rect">
            <a:avLst/>
          </a:prstGeom>
          <a:solidFill>
            <a:srgbClr val="BC8CFF"/>
          </a:solidFill>
          <a:ln/>
        </p:spPr>
      </p:sp>
      <p:sp>
        <p:nvSpPr>
          <p:cNvPr id="7" name="Text 5"/>
          <p:cNvSpPr/>
          <p:nvPr/>
        </p:nvSpPr>
        <p:spPr>
          <a:xfrm>
            <a:off x="548640" y="1463040"/>
            <a:ext cx="4663440" cy="347472"/>
          </a:xfrm>
          <a:prstGeom prst="rect">
            <a:avLst/>
          </a:prstGeom>
          <a:noFill/>
          <a:ln/>
        </p:spPr>
        <p:txBody>
          <a:bodyPr wrap="square" rtlCol="0" anchor="ctr"/>
          <a:lstStyle/>
          <a:p>
            <a:pPr indent="0" marL="0">
              <a:buNone/>
            </a:pPr>
            <a:r>
              <a:rPr lang="en-US" sz="1300" b="1" dirty="0">
                <a:solidFill>
                  <a:srgbClr val="BC8CFF"/>
                </a:solidFill>
                <a:latin typeface="Calibri" pitchFamily="34" charset="0"/>
                <a:ea typeface="Calibri" pitchFamily="34" charset="-122"/>
                <a:cs typeface="Calibri" pitchFamily="34" charset="-120"/>
              </a:rPr>
              <a:t>Prompt Library (security-memory/prompts/)</a:t>
            </a:r>
            <a:endParaRPr lang="en-US" sz="1300" dirty="0"/>
          </a:p>
        </p:txBody>
      </p:sp>
      <p:sp>
        <p:nvSpPr>
          <p:cNvPr id="8" name="Shape 6"/>
          <p:cNvSpPr/>
          <p:nvPr/>
        </p:nvSpPr>
        <p:spPr>
          <a:xfrm>
            <a:off x="548640" y="1901952"/>
            <a:ext cx="4389120" cy="420624"/>
          </a:xfrm>
          <a:prstGeom prst="rect">
            <a:avLst/>
          </a:prstGeom>
          <a:solidFill>
            <a:srgbClr val="0D1117"/>
          </a:solidFill>
          <a:ln/>
        </p:spPr>
      </p:sp>
      <p:sp>
        <p:nvSpPr>
          <p:cNvPr id="9" name="Text 7"/>
          <p:cNvSpPr/>
          <p:nvPr/>
        </p:nvSpPr>
        <p:spPr>
          <a:xfrm>
            <a:off x="640080" y="1920240"/>
            <a:ext cx="2377440" cy="256032"/>
          </a:xfrm>
          <a:prstGeom prst="rect">
            <a:avLst/>
          </a:prstGeom>
          <a:noFill/>
          <a:ln/>
        </p:spPr>
        <p:txBody>
          <a:bodyPr wrap="square" rtlCol="0" anchor="ctr"/>
          <a:lstStyle/>
          <a:p>
            <a:pPr indent="0" marL="0">
              <a:buNone/>
            </a:pPr>
            <a:r>
              <a:rPr lang="en-US" sz="900" dirty="0">
                <a:solidFill>
                  <a:srgbClr val="BC8CFF"/>
                </a:solidFill>
                <a:latin typeface="Consolas" pitchFamily="34" charset="0"/>
                <a:ea typeface="Consolas" pitchFamily="34" charset="-122"/>
                <a:cs typeface="Consolas" pitchFamily="34" charset="-120"/>
              </a:rPr>
              <a:t>01-dockerfile-review.md</a:t>
            </a:r>
            <a:endParaRPr lang="en-US" sz="900" dirty="0"/>
          </a:p>
        </p:txBody>
      </p:sp>
      <p:sp>
        <p:nvSpPr>
          <p:cNvPr id="10" name="Text 8"/>
          <p:cNvSpPr/>
          <p:nvPr/>
        </p:nvSpPr>
        <p:spPr>
          <a:xfrm>
            <a:off x="3063240" y="1920240"/>
            <a:ext cx="1920240" cy="347472"/>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Check base images, root user, hardcoded secrets, HEALTHCHECK</a:t>
            </a:r>
            <a:endParaRPr lang="en-US" sz="850" dirty="0"/>
          </a:p>
        </p:txBody>
      </p:sp>
      <p:sp>
        <p:nvSpPr>
          <p:cNvPr id="11" name="Shape 9"/>
          <p:cNvSpPr/>
          <p:nvPr/>
        </p:nvSpPr>
        <p:spPr>
          <a:xfrm>
            <a:off x="548640" y="2395728"/>
            <a:ext cx="4389120" cy="420624"/>
          </a:xfrm>
          <a:prstGeom prst="rect">
            <a:avLst/>
          </a:prstGeom>
          <a:solidFill>
            <a:srgbClr val="0D1117"/>
          </a:solidFill>
          <a:ln/>
        </p:spPr>
      </p:sp>
      <p:sp>
        <p:nvSpPr>
          <p:cNvPr id="12" name="Text 10"/>
          <p:cNvSpPr/>
          <p:nvPr/>
        </p:nvSpPr>
        <p:spPr>
          <a:xfrm>
            <a:off x="640080" y="2414016"/>
            <a:ext cx="2377440" cy="256032"/>
          </a:xfrm>
          <a:prstGeom prst="rect">
            <a:avLst/>
          </a:prstGeom>
          <a:noFill/>
          <a:ln/>
        </p:spPr>
        <p:txBody>
          <a:bodyPr wrap="square" rtlCol="0" anchor="ctr"/>
          <a:lstStyle/>
          <a:p>
            <a:pPr indent="0" marL="0">
              <a:buNone/>
            </a:pPr>
            <a:r>
              <a:rPr lang="en-US" sz="900" dirty="0">
                <a:solidFill>
                  <a:srgbClr val="BC8CFF"/>
                </a:solidFill>
                <a:latin typeface="Consolas" pitchFamily="34" charset="0"/>
                <a:ea typeface="Consolas" pitchFamily="34" charset="-122"/>
                <a:cs typeface="Consolas" pitchFamily="34" charset="-120"/>
              </a:rPr>
              <a:t>02-compose-review.md</a:t>
            </a:r>
            <a:endParaRPr lang="en-US" sz="900" dirty="0"/>
          </a:p>
        </p:txBody>
      </p:sp>
      <p:sp>
        <p:nvSpPr>
          <p:cNvPr id="13" name="Text 11"/>
          <p:cNvSpPr/>
          <p:nvPr/>
        </p:nvSpPr>
        <p:spPr>
          <a:xfrm>
            <a:off x="3063240" y="2414016"/>
            <a:ext cx="1920240" cy="347472"/>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Check exposed ports, privileged mode, resource limits, volume mounts</a:t>
            </a:r>
            <a:endParaRPr lang="en-US" sz="850" dirty="0"/>
          </a:p>
        </p:txBody>
      </p:sp>
      <p:sp>
        <p:nvSpPr>
          <p:cNvPr id="14" name="Shape 12"/>
          <p:cNvSpPr/>
          <p:nvPr/>
        </p:nvSpPr>
        <p:spPr>
          <a:xfrm>
            <a:off x="548640" y="2889504"/>
            <a:ext cx="4389120" cy="420624"/>
          </a:xfrm>
          <a:prstGeom prst="rect">
            <a:avLst/>
          </a:prstGeom>
          <a:solidFill>
            <a:srgbClr val="0D1117"/>
          </a:solidFill>
          <a:ln/>
        </p:spPr>
      </p:sp>
      <p:sp>
        <p:nvSpPr>
          <p:cNvPr id="15" name="Text 13"/>
          <p:cNvSpPr/>
          <p:nvPr/>
        </p:nvSpPr>
        <p:spPr>
          <a:xfrm>
            <a:off x="640080" y="2907792"/>
            <a:ext cx="2377440" cy="256032"/>
          </a:xfrm>
          <a:prstGeom prst="rect">
            <a:avLst/>
          </a:prstGeom>
          <a:noFill/>
          <a:ln/>
        </p:spPr>
        <p:txBody>
          <a:bodyPr wrap="square" rtlCol="0" anchor="ctr"/>
          <a:lstStyle/>
          <a:p>
            <a:pPr indent="0" marL="0">
              <a:buNone/>
            </a:pPr>
            <a:r>
              <a:rPr lang="en-US" sz="900" dirty="0">
                <a:solidFill>
                  <a:srgbClr val="BC8CFF"/>
                </a:solidFill>
                <a:latin typeface="Consolas" pitchFamily="34" charset="0"/>
                <a:ea typeface="Consolas" pitchFamily="34" charset="-122"/>
                <a:cs typeface="Consolas" pitchFamily="34" charset="-120"/>
              </a:rPr>
              <a:t>03-nginx-review.md</a:t>
            </a:r>
            <a:endParaRPr lang="en-US" sz="900" dirty="0"/>
          </a:p>
        </p:txBody>
      </p:sp>
      <p:sp>
        <p:nvSpPr>
          <p:cNvPr id="16" name="Text 14"/>
          <p:cNvSpPr/>
          <p:nvPr/>
        </p:nvSpPr>
        <p:spPr>
          <a:xfrm>
            <a:off x="3063240" y="2907792"/>
            <a:ext cx="1920240" cy="347472"/>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Check security headers, TLS config, rate limiting, CORS</a:t>
            </a:r>
            <a:endParaRPr lang="en-US" sz="850" dirty="0"/>
          </a:p>
        </p:txBody>
      </p:sp>
      <p:sp>
        <p:nvSpPr>
          <p:cNvPr id="17" name="Shape 15"/>
          <p:cNvSpPr/>
          <p:nvPr/>
        </p:nvSpPr>
        <p:spPr>
          <a:xfrm>
            <a:off x="548640" y="3383280"/>
            <a:ext cx="4389120" cy="420624"/>
          </a:xfrm>
          <a:prstGeom prst="rect">
            <a:avLst/>
          </a:prstGeom>
          <a:solidFill>
            <a:srgbClr val="0D1117"/>
          </a:solidFill>
          <a:ln/>
        </p:spPr>
      </p:sp>
      <p:sp>
        <p:nvSpPr>
          <p:cNvPr id="18" name="Text 16"/>
          <p:cNvSpPr/>
          <p:nvPr/>
        </p:nvSpPr>
        <p:spPr>
          <a:xfrm>
            <a:off x="640080" y="3401568"/>
            <a:ext cx="2377440" cy="256032"/>
          </a:xfrm>
          <a:prstGeom prst="rect">
            <a:avLst/>
          </a:prstGeom>
          <a:noFill/>
          <a:ln/>
        </p:spPr>
        <p:txBody>
          <a:bodyPr wrap="square" rtlCol="0" anchor="ctr"/>
          <a:lstStyle/>
          <a:p>
            <a:pPr indent="0" marL="0">
              <a:buNone/>
            </a:pPr>
            <a:r>
              <a:rPr lang="en-US" sz="900" dirty="0">
                <a:solidFill>
                  <a:srgbClr val="BC8CFF"/>
                </a:solidFill>
                <a:latin typeface="Consolas" pitchFamily="34" charset="0"/>
                <a:ea typeface="Consolas" pitchFamily="34" charset="-122"/>
                <a:cs typeface="Consolas" pitchFamily="34" charset="-120"/>
              </a:rPr>
              <a:t>04-api-auth-review.md</a:t>
            </a:r>
            <a:endParaRPr lang="en-US" sz="900" dirty="0"/>
          </a:p>
        </p:txBody>
      </p:sp>
      <p:sp>
        <p:nvSpPr>
          <p:cNvPr id="19" name="Text 17"/>
          <p:cNvSpPr/>
          <p:nvPr/>
        </p:nvSpPr>
        <p:spPr>
          <a:xfrm>
            <a:off x="3063240" y="3401568"/>
            <a:ext cx="1920240" cy="347472"/>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Check OWASP API Top 10 — auth, access control, rate limiting</a:t>
            </a:r>
            <a:endParaRPr lang="en-US" sz="850" dirty="0"/>
          </a:p>
        </p:txBody>
      </p:sp>
      <p:sp>
        <p:nvSpPr>
          <p:cNvPr id="20" name="Shape 18"/>
          <p:cNvSpPr/>
          <p:nvPr/>
        </p:nvSpPr>
        <p:spPr>
          <a:xfrm>
            <a:off x="548640" y="3877056"/>
            <a:ext cx="4389120" cy="420624"/>
          </a:xfrm>
          <a:prstGeom prst="rect">
            <a:avLst/>
          </a:prstGeom>
          <a:solidFill>
            <a:srgbClr val="0D1117"/>
          </a:solidFill>
          <a:ln/>
        </p:spPr>
      </p:sp>
      <p:sp>
        <p:nvSpPr>
          <p:cNvPr id="21" name="Text 19"/>
          <p:cNvSpPr/>
          <p:nvPr/>
        </p:nvSpPr>
        <p:spPr>
          <a:xfrm>
            <a:off x="640080" y="3895344"/>
            <a:ext cx="2377440" cy="256032"/>
          </a:xfrm>
          <a:prstGeom prst="rect">
            <a:avLst/>
          </a:prstGeom>
          <a:noFill/>
          <a:ln/>
        </p:spPr>
        <p:txBody>
          <a:bodyPr wrap="square" rtlCol="0" anchor="ctr"/>
          <a:lstStyle/>
          <a:p>
            <a:pPr indent="0" marL="0">
              <a:buNone/>
            </a:pPr>
            <a:r>
              <a:rPr lang="en-US" sz="900" dirty="0">
                <a:solidFill>
                  <a:srgbClr val="BC8CFF"/>
                </a:solidFill>
                <a:latin typeface="Consolas" pitchFamily="34" charset="0"/>
                <a:ea typeface="Consolas" pitchFamily="34" charset="-122"/>
                <a:cs typeface="Consolas" pitchFamily="34" charset="-120"/>
              </a:rPr>
              <a:t>05-dependency-risk-review.md</a:t>
            </a:r>
            <a:endParaRPr lang="en-US" sz="900" dirty="0"/>
          </a:p>
        </p:txBody>
      </p:sp>
      <p:sp>
        <p:nvSpPr>
          <p:cNvPr id="22" name="Text 20"/>
          <p:cNvSpPr/>
          <p:nvPr/>
        </p:nvSpPr>
        <p:spPr>
          <a:xfrm>
            <a:off x="3063240" y="3895344"/>
            <a:ext cx="1920240" cy="347472"/>
          </a:xfrm>
          <a:prstGeom prst="rect">
            <a:avLst/>
          </a:prstGeom>
          <a:noFill/>
          <a:ln/>
        </p:spPr>
        <p:txBody>
          <a:bodyPr wrap="square" rtlCol="0" anchor="ctr"/>
          <a:lstStyle/>
          <a:p>
            <a:pPr indent="0" marL="0">
              <a:buNone/>
            </a:pPr>
            <a:r>
              <a:rPr lang="en-US" sz="850" dirty="0">
                <a:solidFill>
                  <a:srgbClr val="8B949E"/>
                </a:solidFill>
                <a:latin typeface="Calibri" pitchFamily="34" charset="0"/>
                <a:ea typeface="Calibri" pitchFamily="34" charset="-122"/>
                <a:cs typeface="Calibri" pitchFamily="34" charset="-120"/>
              </a:rPr>
              <a:t>Check requirements.txt for CVEs, unpinned packages, abandoned libs</a:t>
            </a:r>
            <a:endParaRPr lang="en-US" sz="850" dirty="0"/>
          </a:p>
        </p:txBody>
      </p:sp>
      <p:sp>
        <p:nvSpPr>
          <p:cNvPr id="23" name="Shape 21"/>
          <p:cNvSpPr/>
          <p:nvPr/>
        </p:nvSpPr>
        <p:spPr>
          <a:xfrm>
            <a:off x="5577840" y="1371600"/>
            <a:ext cx="3200400" cy="310896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4" name="Shape 22"/>
          <p:cNvSpPr/>
          <p:nvPr/>
        </p:nvSpPr>
        <p:spPr>
          <a:xfrm>
            <a:off x="5577840" y="1371600"/>
            <a:ext cx="54864" cy="3108960"/>
          </a:xfrm>
          <a:prstGeom prst="rect">
            <a:avLst/>
          </a:prstGeom>
          <a:solidFill>
            <a:srgbClr val="D29922"/>
          </a:solidFill>
          <a:ln/>
        </p:spPr>
      </p:sp>
      <p:sp>
        <p:nvSpPr>
          <p:cNvPr id="25" name="Text 23"/>
          <p:cNvSpPr/>
          <p:nvPr/>
        </p:nvSpPr>
        <p:spPr>
          <a:xfrm>
            <a:off x="5760720" y="1463040"/>
            <a:ext cx="2834640" cy="347472"/>
          </a:xfrm>
          <a:prstGeom prst="rect">
            <a:avLst/>
          </a:prstGeom>
          <a:noFill/>
          <a:ln/>
        </p:spPr>
        <p:txBody>
          <a:bodyPr wrap="square" rtlCol="0" anchor="ctr"/>
          <a:lstStyle/>
          <a:p>
            <a:pPr indent="0" marL="0">
              <a:buNone/>
            </a:pPr>
            <a:r>
              <a:rPr lang="en-US" sz="1300" b="1" dirty="0">
                <a:solidFill>
                  <a:srgbClr val="D29922"/>
                </a:solidFill>
                <a:latin typeface="Calibri" pitchFamily="34" charset="0"/>
                <a:ea typeface="Calibri" pitchFamily="34" charset="-122"/>
                <a:cs typeface="Calibri" pitchFamily="34" charset="-120"/>
              </a:rPr>
              <a:t>Keeping Memory Fresh</a:t>
            </a:r>
            <a:endParaRPr lang="en-US" sz="1300" dirty="0"/>
          </a:p>
        </p:txBody>
      </p:sp>
      <p:sp>
        <p:nvSpPr>
          <p:cNvPr id="26" name="Text 24"/>
          <p:cNvSpPr/>
          <p:nvPr/>
        </p:nvSpPr>
        <p:spPr>
          <a:xfrm>
            <a:off x="5760720" y="1874520"/>
            <a:ext cx="2834640" cy="2423160"/>
          </a:xfrm>
          <a:prstGeom prst="rect">
            <a:avLst/>
          </a:prstGeom>
          <a:noFill/>
          <a:ln/>
        </p:spPr>
        <p:txBody>
          <a:bodyPr wrap="square" rtlCol="0" anchor="t"/>
          <a:lstStyle/>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Add .md or .txt to security-memory/data/</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Re-run ingestion (upsert — no duplicates)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Must recreate collection if embedding model changes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Must recreate if vector dimension changes</a:t>
            </a:r>
            <a:endParaRPr lang="en-US" sz="1000" dirty="0"/>
          </a:p>
          <a:p>
            <a:pPr marL="342900" indent="-342900">
              <a:buSzPct val="100000"/>
              <a:buChar char="•"/>
            </a:pPr>
            <a:r>
              <a:rPr lang="en-US" sz="1000" dirty="0">
                <a:solidFill>
                  <a:srgbClr val="E6EDF3"/>
                </a:solidFill>
                <a:latin typeface="Calibri" pitchFamily="34" charset="0"/>
                <a:ea typeface="Calibri" pitchFamily="34" charset="-122"/>
                <a:cs typeface="Calibri" pitchFamily="34" charset="-120"/>
              </a:rPr>
              <a:t>Use versioned names: ExpandedVSCodeMemory_v2</a:t>
            </a:r>
            <a:endParaRPr lang="en-US" sz="1000" dirty="0"/>
          </a:p>
        </p:txBody>
      </p:sp>
      <p:sp>
        <p:nvSpPr>
          <p:cNvPr id="27" name="Shape 25"/>
          <p:cNvSpPr/>
          <p:nvPr/>
        </p:nvSpPr>
        <p:spPr>
          <a:xfrm>
            <a:off x="365760" y="4553712"/>
            <a:ext cx="8412480" cy="411480"/>
          </a:xfrm>
          <a:prstGeom prst="rect">
            <a:avLst/>
          </a:prstGeom>
          <a:solidFill>
            <a:srgbClr val="0A1628"/>
          </a:solidFill>
          <a:ln/>
          <a:effectLst>
            <a:outerShdw sx="100000" sy="100000" kx="0" ky="0" algn="bl" rotWithShape="0" blurRad="101600" dist="25400" dir="8100000">
              <a:srgbClr val="000000">
                <a:alpha val="30000"/>
              </a:srgbClr>
            </a:outerShdw>
          </a:effectLst>
        </p:spPr>
      </p:sp>
      <p:sp>
        <p:nvSpPr>
          <p:cNvPr id="28" name="Text 26"/>
          <p:cNvSpPr/>
          <p:nvPr/>
        </p:nvSpPr>
        <p:spPr>
          <a:xfrm>
            <a:off x="548640" y="4590288"/>
            <a:ext cx="8046720" cy="320040"/>
          </a:xfrm>
          <a:prstGeom prst="rect">
            <a:avLst/>
          </a:prstGeom>
          <a:noFill/>
          <a:ln/>
        </p:spPr>
        <p:txBody>
          <a:bodyPr wrap="square" rtlCol="0" anchor="ctr"/>
          <a:lstStyle/>
          <a:p>
            <a:pPr indent="0" marL="0">
              <a:buNone/>
            </a:pPr>
            <a:r>
              <a:rPr lang="en-US" sz="1000" dirty="0">
                <a:solidFill>
                  <a:srgbClr val="79C0FF"/>
                </a:solidFill>
                <a:latin typeface="Calibri" pitchFamily="34" charset="0"/>
                <a:ea typeface="Calibri" pitchFamily="34" charset="-122"/>
                <a:cs typeface="Calibri" pitchFamily="34" charset="-120"/>
              </a:rPr>
              <a:t>Optional Gradio upgrade: replace gradio-ui/app.py with the updated version (Security Memory tab + follow-up buttons) → docker compose up -d --build gradio-ui</a:t>
            </a:r>
            <a:endParaRPr lang="en-US" sz="1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117"/>
        </a:solidFill>
      </p:bgPr>
    </p:bg>
    <p:spTree>
      <p:nvGrpSpPr>
        <p:cNvPr id="1" name=""/>
        <p:cNvGrpSpPr/>
        <p:nvPr/>
      </p:nvGrpSpPr>
      <p:grpSpPr>
        <a:xfrm>
          <a:off x="0" y="0"/>
          <a:ext cx="0" cy="0"/>
          <a:chOff x="0" y="0"/>
          <a:chExt cx="0" cy="0"/>
        </a:xfrm>
      </p:grpSpPr>
      <p:sp>
        <p:nvSpPr>
          <p:cNvPr id="2" name="Shape 0"/>
          <p:cNvSpPr/>
          <p:nvPr/>
        </p:nvSpPr>
        <p:spPr>
          <a:xfrm>
            <a:off x="365760" y="182880"/>
            <a:ext cx="1645920" cy="292608"/>
          </a:xfrm>
          <a:prstGeom prst="roundRect">
            <a:avLst>
              <a:gd name="adj" fmla="val 15625"/>
            </a:avLst>
          </a:prstGeom>
          <a:solidFill>
            <a:srgbClr val="00D4AA"/>
          </a:solidFill>
          <a:ln/>
        </p:spPr>
      </p:sp>
      <p:sp>
        <p:nvSpPr>
          <p:cNvPr id="3" name="Text 1"/>
          <p:cNvSpPr/>
          <p:nvPr/>
        </p:nvSpPr>
        <p:spPr>
          <a:xfrm>
            <a:off x="365760" y="182880"/>
            <a:ext cx="1645920" cy="292608"/>
          </a:xfrm>
          <a:prstGeom prst="rect">
            <a:avLst/>
          </a:prstGeom>
          <a:noFill/>
          <a:ln/>
        </p:spPr>
        <p:txBody>
          <a:bodyPr wrap="square" lIns="0" tIns="0" rIns="0" bIns="0" rtlCol="0" anchor="ctr"/>
          <a:lstStyle/>
          <a:p>
            <a:pPr algn="ctr" indent="0" marL="0">
              <a:buNone/>
            </a:pPr>
            <a:r>
              <a:rPr lang="en-US" sz="900" b="1" dirty="0">
                <a:solidFill>
                  <a:srgbClr val="0D1117"/>
                </a:solidFill>
              </a:rPr>
              <a:t>NEXT STEPS</a:t>
            </a:r>
            <a:endParaRPr lang="en-US" sz="900" dirty="0"/>
          </a:p>
        </p:txBody>
      </p:sp>
      <p:sp>
        <p:nvSpPr>
          <p:cNvPr id="4" name="Text 2"/>
          <p:cNvSpPr/>
          <p:nvPr/>
        </p:nvSpPr>
        <p:spPr>
          <a:xfrm>
            <a:off x="365760" y="594360"/>
            <a:ext cx="8412480" cy="548640"/>
          </a:xfrm>
          <a:prstGeom prst="rect">
            <a:avLst/>
          </a:prstGeom>
          <a:noFill/>
          <a:ln/>
        </p:spPr>
        <p:txBody>
          <a:bodyPr wrap="square" rtlCol="0" anchor="ctr"/>
          <a:lstStyle/>
          <a:p>
            <a:pPr indent="0" marL="0">
              <a:buNone/>
            </a:pPr>
            <a:r>
              <a:rPr lang="en-US" sz="2800" b="1" dirty="0">
                <a:solidFill>
                  <a:srgbClr val="E6EDF3"/>
                </a:solidFill>
                <a:latin typeface="Calibri" pitchFamily="34" charset="0"/>
                <a:ea typeface="Calibri" pitchFamily="34" charset="-122"/>
                <a:cs typeface="Calibri" pitchFamily="34" charset="-120"/>
              </a:rPr>
              <a:t>What's Next</a:t>
            </a:r>
            <a:endParaRPr lang="en-US" sz="2800" dirty="0"/>
          </a:p>
        </p:txBody>
      </p:sp>
      <p:sp>
        <p:nvSpPr>
          <p:cNvPr id="5" name="Shape 3"/>
          <p:cNvSpPr/>
          <p:nvPr/>
        </p:nvSpPr>
        <p:spPr>
          <a:xfrm>
            <a:off x="365760" y="1280160"/>
            <a:ext cx="8412480" cy="640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6" name="Shape 4"/>
          <p:cNvSpPr/>
          <p:nvPr/>
        </p:nvSpPr>
        <p:spPr>
          <a:xfrm>
            <a:off x="365760" y="1280160"/>
            <a:ext cx="54864" cy="640080"/>
          </a:xfrm>
          <a:prstGeom prst="rect">
            <a:avLst/>
          </a:prstGeom>
          <a:solidFill>
            <a:srgbClr val="79C0FF"/>
          </a:solidFill>
          <a:ln/>
        </p:spPr>
      </p:sp>
      <p:pic>
        <p:nvPicPr>
          <p:cNvPr id="7" name="Image 0" descr="preencoded.png">    </p:cNvPr>
          <p:cNvPicPr>
            <a:picLocks noChangeAspect="1"/>
          </p:cNvPicPr>
          <p:nvPr/>
        </p:nvPicPr>
        <p:blipFill>
          <a:blip r:embed="rId1"/>
          <a:stretch>
            <a:fillRect/>
          </a:stretch>
        </p:blipFill>
        <p:spPr>
          <a:xfrm>
            <a:off x="502920" y="1435608"/>
            <a:ext cx="384048" cy="384048"/>
          </a:xfrm>
          <a:prstGeom prst="rect">
            <a:avLst/>
          </a:prstGeom>
        </p:spPr>
      </p:pic>
      <p:sp>
        <p:nvSpPr>
          <p:cNvPr id="8" name="Text 5"/>
          <p:cNvSpPr/>
          <p:nvPr/>
        </p:nvSpPr>
        <p:spPr>
          <a:xfrm>
            <a:off x="1005840" y="1399032"/>
            <a:ext cx="2194560" cy="292608"/>
          </a:xfrm>
          <a:prstGeom prst="rect">
            <a:avLst/>
          </a:prstGeom>
          <a:noFill/>
          <a:ln/>
        </p:spPr>
        <p:txBody>
          <a:bodyPr wrap="square" rtlCol="0" anchor="ctr"/>
          <a:lstStyle/>
          <a:p>
            <a:pPr indent="0" marL="0">
              <a:buNone/>
            </a:pPr>
            <a:r>
              <a:rPr lang="en-US" sz="1200" b="1" dirty="0">
                <a:solidFill>
                  <a:srgbClr val="79C0FF"/>
                </a:solidFill>
                <a:latin typeface="Calibri" pitchFamily="34" charset="0"/>
                <a:ea typeface="Calibri" pitchFamily="34" charset="-122"/>
                <a:cs typeface="Calibri" pitchFamily="34" charset="-120"/>
              </a:rPr>
              <a:t>Lab 2 — Weaviate</a:t>
            </a:r>
            <a:endParaRPr lang="en-US" sz="1200" dirty="0"/>
          </a:p>
        </p:txBody>
      </p:sp>
      <p:sp>
        <p:nvSpPr>
          <p:cNvPr id="9" name="Text 6"/>
          <p:cNvSpPr/>
          <p:nvPr/>
        </p:nvSpPr>
        <p:spPr>
          <a:xfrm>
            <a:off x="3291840" y="1399032"/>
            <a:ext cx="5349240" cy="45720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Same architecture, different vector database. Weaviate uses a class-based schema and auto-generates embeddings via text2vec-transformers.</a:t>
            </a:r>
            <a:endParaRPr lang="en-US" sz="1050" dirty="0"/>
          </a:p>
        </p:txBody>
      </p:sp>
      <p:sp>
        <p:nvSpPr>
          <p:cNvPr id="10" name="Shape 7"/>
          <p:cNvSpPr/>
          <p:nvPr/>
        </p:nvSpPr>
        <p:spPr>
          <a:xfrm>
            <a:off x="365760" y="2011680"/>
            <a:ext cx="8412480" cy="640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1" name="Shape 8"/>
          <p:cNvSpPr/>
          <p:nvPr/>
        </p:nvSpPr>
        <p:spPr>
          <a:xfrm>
            <a:off x="365760" y="2011680"/>
            <a:ext cx="54864" cy="640080"/>
          </a:xfrm>
          <a:prstGeom prst="rect">
            <a:avLst/>
          </a:prstGeom>
          <a:solidFill>
            <a:srgbClr val="BC8CFF"/>
          </a:solidFill>
          <a:ln/>
        </p:spPr>
      </p:sp>
      <p:pic>
        <p:nvPicPr>
          <p:cNvPr id="12" name="Image 1" descr="preencoded.png">    </p:cNvPr>
          <p:cNvPicPr>
            <a:picLocks noChangeAspect="1"/>
          </p:cNvPicPr>
          <p:nvPr/>
        </p:nvPicPr>
        <p:blipFill>
          <a:blip r:embed="rId2"/>
          <a:stretch>
            <a:fillRect/>
          </a:stretch>
        </p:blipFill>
        <p:spPr>
          <a:xfrm>
            <a:off x="502920" y="2167128"/>
            <a:ext cx="384048" cy="384048"/>
          </a:xfrm>
          <a:prstGeom prst="rect">
            <a:avLst/>
          </a:prstGeom>
        </p:spPr>
      </p:pic>
      <p:sp>
        <p:nvSpPr>
          <p:cNvPr id="13" name="Text 9"/>
          <p:cNvSpPr/>
          <p:nvPr/>
        </p:nvSpPr>
        <p:spPr>
          <a:xfrm>
            <a:off x="1005840" y="2130552"/>
            <a:ext cx="2194560" cy="292608"/>
          </a:xfrm>
          <a:prstGeom prst="rect">
            <a:avLst/>
          </a:prstGeom>
          <a:noFill/>
          <a:ln/>
        </p:spPr>
        <p:txBody>
          <a:bodyPr wrap="square" rtlCol="0" anchor="ctr"/>
          <a:lstStyle/>
          <a:p>
            <a:pPr indent="0" marL="0">
              <a:buNone/>
            </a:pPr>
            <a:r>
              <a:rPr lang="en-US" sz="1200" b="1" dirty="0">
                <a:solidFill>
                  <a:srgbClr val="BC8CFF"/>
                </a:solidFill>
                <a:latin typeface="Calibri" pitchFamily="34" charset="0"/>
                <a:ea typeface="Calibri" pitchFamily="34" charset="-122"/>
                <a:cs typeface="Calibri" pitchFamily="34" charset="-120"/>
              </a:rPr>
              <a:t>Lab 3 — Milvus</a:t>
            </a:r>
            <a:endParaRPr lang="en-US" sz="1200" dirty="0"/>
          </a:p>
        </p:txBody>
      </p:sp>
      <p:sp>
        <p:nvSpPr>
          <p:cNvPr id="14" name="Text 10"/>
          <p:cNvSpPr/>
          <p:nvPr/>
        </p:nvSpPr>
        <p:spPr>
          <a:xfrm>
            <a:off x="3291840" y="2130552"/>
            <a:ext cx="5349240" cy="45720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Production-scale vector database. Requires etcd and MinIO. Typed schemas, columnar inserts, HNSW indexing, gRPC-based client.</a:t>
            </a:r>
            <a:endParaRPr lang="en-US" sz="1050" dirty="0"/>
          </a:p>
        </p:txBody>
      </p:sp>
      <p:sp>
        <p:nvSpPr>
          <p:cNvPr id="15" name="Shape 11"/>
          <p:cNvSpPr/>
          <p:nvPr/>
        </p:nvSpPr>
        <p:spPr>
          <a:xfrm>
            <a:off x="365760" y="2743200"/>
            <a:ext cx="8412480" cy="640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16" name="Shape 12"/>
          <p:cNvSpPr/>
          <p:nvPr/>
        </p:nvSpPr>
        <p:spPr>
          <a:xfrm>
            <a:off x="365760" y="2743200"/>
            <a:ext cx="54864" cy="640080"/>
          </a:xfrm>
          <a:prstGeom prst="rect">
            <a:avLst/>
          </a:prstGeom>
          <a:solidFill>
            <a:srgbClr val="00D4AA"/>
          </a:solidFill>
          <a:ln/>
        </p:spPr>
      </p:sp>
      <p:pic>
        <p:nvPicPr>
          <p:cNvPr id="17" name="Image 2" descr="preencoded.png">    </p:cNvPr>
          <p:cNvPicPr>
            <a:picLocks noChangeAspect="1"/>
          </p:cNvPicPr>
          <p:nvPr/>
        </p:nvPicPr>
        <p:blipFill>
          <a:blip r:embed="rId3"/>
          <a:stretch>
            <a:fillRect/>
          </a:stretch>
        </p:blipFill>
        <p:spPr>
          <a:xfrm>
            <a:off x="502920" y="2898648"/>
            <a:ext cx="384048" cy="384048"/>
          </a:xfrm>
          <a:prstGeom prst="rect">
            <a:avLst/>
          </a:prstGeom>
        </p:spPr>
      </p:pic>
      <p:sp>
        <p:nvSpPr>
          <p:cNvPr id="18" name="Text 13"/>
          <p:cNvSpPr/>
          <p:nvPr/>
        </p:nvSpPr>
        <p:spPr>
          <a:xfrm>
            <a:off x="1005840" y="2862072"/>
            <a:ext cx="2194560" cy="292608"/>
          </a:xfrm>
          <a:prstGeom prst="rect">
            <a:avLst/>
          </a:prstGeom>
          <a:noFill/>
          <a:ln/>
        </p:spPr>
        <p:txBody>
          <a:bodyPr wrap="square" rtlCol="0" anchor="ctr"/>
          <a:lstStyle/>
          <a:p>
            <a:pPr indent="0" marL="0">
              <a:buNone/>
            </a:pPr>
            <a:r>
              <a:rPr lang="en-US" sz="1200" b="1" dirty="0">
                <a:solidFill>
                  <a:srgbClr val="00D4AA"/>
                </a:solidFill>
                <a:latin typeface="Calibri" pitchFamily="34" charset="0"/>
                <a:ea typeface="Calibri" pitchFamily="34" charset="-122"/>
                <a:cs typeface="Calibri" pitchFamily="34" charset="-120"/>
              </a:rPr>
              <a:t>Extend the Corpus</a:t>
            </a:r>
            <a:endParaRPr lang="en-US" sz="1200" dirty="0"/>
          </a:p>
        </p:txBody>
      </p:sp>
      <p:sp>
        <p:nvSpPr>
          <p:cNvPr id="19" name="Text 14"/>
          <p:cNvSpPr/>
          <p:nvPr/>
        </p:nvSpPr>
        <p:spPr>
          <a:xfrm>
            <a:off x="3291840" y="2862072"/>
            <a:ext cx="5349240" cy="45720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Add more security frameworks to security-memory/data/. New NIST publications, MITRE ATT&amp;CK updates, CVE feeds, organization-specific policies.</a:t>
            </a:r>
            <a:endParaRPr lang="en-US" sz="1050" dirty="0"/>
          </a:p>
        </p:txBody>
      </p:sp>
      <p:sp>
        <p:nvSpPr>
          <p:cNvPr id="20" name="Shape 15"/>
          <p:cNvSpPr/>
          <p:nvPr/>
        </p:nvSpPr>
        <p:spPr>
          <a:xfrm>
            <a:off x="365760" y="3474720"/>
            <a:ext cx="8412480" cy="640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1" name="Shape 16"/>
          <p:cNvSpPr/>
          <p:nvPr/>
        </p:nvSpPr>
        <p:spPr>
          <a:xfrm>
            <a:off x="365760" y="3474720"/>
            <a:ext cx="54864" cy="640080"/>
          </a:xfrm>
          <a:prstGeom prst="rect">
            <a:avLst/>
          </a:prstGeom>
          <a:solidFill>
            <a:srgbClr val="D29922"/>
          </a:solidFill>
          <a:ln/>
        </p:spPr>
      </p:sp>
      <p:pic>
        <p:nvPicPr>
          <p:cNvPr id="22" name="Image 3" descr="preencoded.png">    </p:cNvPr>
          <p:cNvPicPr>
            <a:picLocks noChangeAspect="1"/>
          </p:cNvPicPr>
          <p:nvPr/>
        </p:nvPicPr>
        <p:blipFill>
          <a:blip r:embed="rId4"/>
          <a:stretch>
            <a:fillRect/>
          </a:stretch>
        </p:blipFill>
        <p:spPr>
          <a:xfrm>
            <a:off x="502920" y="3630168"/>
            <a:ext cx="384048" cy="384048"/>
          </a:xfrm>
          <a:prstGeom prst="rect">
            <a:avLst/>
          </a:prstGeom>
        </p:spPr>
      </p:pic>
      <p:sp>
        <p:nvSpPr>
          <p:cNvPr id="23" name="Text 17"/>
          <p:cNvSpPr/>
          <p:nvPr/>
        </p:nvSpPr>
        <p:spPr>
          <a:xfrm>
            <a:off x="1005840" y="3593592"/>
            <a:ext cx="2194560" cy="292608"/>
          </a:xfrm>
          <a:prstGeom prst="rect">
            <a:avLst/>
          </a:prstGeom>
          <a:noFill/>
          <a:ln/>
        </p:spPr>
        <p:txBody>
          <a:bodyPr wrap="square" rtlCol="0" anchor="ctr"/>
          <a:lstStyle/>
          <a:p>
            <a:pPr indent="0" marL="0">
              <a:buNone/>
            </a:pPr>
            <a:r>
              <a:rPr lang="en-US" sz="1200" b="1" dirty="0">
                <a:solidFill>
                  <a:srgbClr val="D29922"/>
                </a:solidFill>
                <a:latin typeface="Calibri" pitchFamily="34" charset="0"/>
                <a:ea typeface="Calibri" pitchFamily="34" charset="-122"/>
                <a:cs typeface="Calibri" pitchFamily="34" charset="-120"/>
              </a:rPr>
              <a:t>MCP Integration</a:t>
            </a:r>
            <a:endParaRPr lang="en-US" sz="1200" dirty="0"/>
          </a:p>
        </p:txBody>
      </p:sp>
      <p:sp>
        <p:nvSpPr>
          <p:cNvPr id="24" name="Text 18"/>
          <p:cNvSpPr/>
          <p:nvPr/>
        </p:nvSpPr>
        <p:spPr>
          <a:xfrm>
            <a:off x="3291840" y="3593592"/>
            <a:ext cx="5349240" cy="45720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Configure Cursor IDE to call /memory/query automatically. security-memory/mcp/ has configuration examples. No more manual curl commands.</a:t>
            </a:r>
            <a:endParaRPr lang="en-US" sz="1050" dirty="0"/>
          </a:p>
        </p:txBody>
      </p:sp>
      <p:sp>
        <p:nvSpPr>
          <p:cNvPr id="25" name="Shape 19"/>
          <p:cNvSpPr/>
          <p:nvPr/>
        </p:nvSpPr>
        <p:spPr>
          <a:xfrm>
            <a:off x="365760" y="4206240"/>
            <a:ext cx="8412480" cy="640080"/>
          </a:xfrm>
          <a:prstGeom prst="rect">
            <a:avLst/>
          </a:prstGeom>
          <a:solidFill>
            <a:srgbClr val="161B22"/>
          </a:solidFill>
          <a:ln/>
          <a:effectLst>
            <a:outerShdw sx="100000" sy="100000" kx="0" ky="0" algn="bl" rotWithShape="0" blurRad="101600" dist="25400" dir="8100000">
              <a:srgbClr val="000000">
                <a:alpha val="30000"/>
              </a:srgbClr>
            </a:outerShdw>
          </a:effectLst>
        </p:spPr>
      </p:sp>
      <p:sp>
        <p:nvSpPr>
          <p:cNvPr id="26" name="Shape 20"/>
          <p:cNvSpPr/>
          <p:nvPr/>
        </p:nvSpPr>
        <p:spPr>
          <a:xfrm>
            <a:off x="365760" y="4206240"/>
            <a:ext cx="54864" cy="640080"/>
          </a:xfrm>
          <a:prstGeom prst="rect">
            <a:avLst/>
          </a:prstGeom>
          <a:solidFill>
            <a:srgbClr val="3FB950"/>
          </a:solidFill>
          <a:ln/>
        </p:spPr>
      </p:sp>
      <p:pic>
        <p:nvPicPr>
          <p:cNvPr id="27" name="Image 4" descr="preencoded.png">    </p:cNvPr>
          <p:cNvPicPr>
            <a:picLocks noChangeAspect="1"/>
          </p:cNvPicPr>
          <p:nvPr/>
        </p:nvPicPr>
        <p:blipFill>
          <a:blip r:embed="rId5"/>
          <a:stretch>
            <a:fillRect/>
          </a:stretch>
        </p:blipFill>
        <p:spPr>
          <a:xfrm>
            <a:off x="502920" y="4361688"/>
            <a:ext cx="384048" cy="384048"/>
          </a:xfrm>
          <a:prstGeom prst="rect">
            <a:avLst/>
          </a:prstGeom>
        </p:spPr>
      </p:pic>
      <p:sp>
        <p:nvSpPr>
          <p:cNvPr id="28" name="Text 21"/>
          <p:cNvSpPr/>
          <p:nvPr/>
        </p:nvSpPr>
        <p:spPr>
          <a:xfrm>
            <a:off x="1005840" y="4325112"/>
            <a:ext cx="2194560" cy="292608"/>
          </a:xfrm>
          <a:prstGeom prst="rect">
            <a:avLst/>
          </a:prstGeom>
          <a:noFill/>
          <a:ln/>
        </p:spPr>
        <p:txBody>
          <a:bodyPr wrap="square" rtlCol="0" anchor="ctr"/>
          <a:lstStyle/>
          <a:p>
            <a:pPr indent="0" marL="0">
              <a:buNone/>
            </a:pPr>
            <a:r>
              <a:rPr lang="en-US" sz="1200" b="1" dirty="0">
                <a:solidFill>
                  <a:srgbClr val="3FB950"/>
                </a:solidFill>
                <a:latin typeface="Calibri" pitchFamily="34" charset="0"/>
                <a:ea typeface="Calibri" pitchFamily="34" charset="-122"/>
                <a:cs typeface="Calibri" pitchFamily="34" charset="-120"/>
              </a:rPr>
              <a:t>Production Deployment</a:t>
            </a:r>
            <a:endParaRPr lang="en-US" sz="1200" dirty="0"/>
          </a:p>
        </p:txBody>
      </p:sp>
      <p:sp>
        <p:nvSpPr>
          <p:cNvPr id="29" name="Text 22"/>
          <p:cNvSpPr/>
          <p:nvPr/>
        </p:nvSpPr>
        <p:spPr>
          <a:xfrm>
            <a:off x="3291840" y="4325112"/>
            <a:ext cx="5349240" cy="457200"/>
          </a:xfrm>
          <a:prstGeom prst="rect">
            <a:avLst/>
          </a:prstGeom>
          <a:noFill/>
          <a:ln/>
        </p:spPr>
        <p:txBody>
          <a:bodyPr wrap="square" rtlCol="0" anchor="ctr"/>
          <a:lstStyle/>
          <a:p>
            <a:pPr indent="0" marL="0">
              <a:buNone/>
            </a:pPr>
            <a:r>
              <a:rPr lang="en-US" sz="1050" dirty="0">
                <a:solidFill>
                  <a:srgbClr val="E6EDF3"/>
                </a:solidFill>
                <a:latin typeface="Calibri" pitchFamily="34" charset="0"/>
                <a:ea typeface="Calibri" pitchFamily="34" charset="-122"/>
                <a:cs typeface="Calibri" pitchFamily="34" charset="-120"/>
              </a:rPr>
              <a:t>Swap Qdrant for managed service, .env for secret manager, API keys for OAuth/JWT, add Prometheus/Grafana observability. Same architecture pattern.</a:t>
            </a:r>
            <a:endParaRPr lang="en-US" sz="1050" dirty="0"/>
          </a:p>
        </p:txBody>
      </p:sp>
      <p:sp>
        <p:nvSpPr>
          <p:cNvPr id="30" name="Shape 23"/>
          <p:cNvSpPr/>
          <p:nvPr/>
        </p:nvSpPr>
        <p:spPr>
          <a:xfrm>
            <a:off x="365760" y="4956048"/>
            <a:ext cx="8412480" cy="91440"/>
          </a:xfrm>
          <a:prstGeom prst="rect">
            <a:avLst/>
          </a:prstGeom>
          <a:solidFill>
            <a:srgbClr val="0A1628"/>
          </a:solidFill>
          <a:ln/>
          <a:effectLst>
            <a:outerShdw sx="100000" sy="100000" kx="0" ky="0" algn="bl" rotWithShape="0" blurRad="101600" dist="25400" dir="8100000">
              <a:srgbClr val="000000">
                <a:alpha val="30000"/>
              </a:srgbClr>
            </a:outerShdw>
          </a:effectLst>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1 — Production-Grade RAG Infrastructure with Qdrant</dc:title>
  <dc:subject>PptxGenJS Presentation</dc:subject>
  <dc:creator>PptxGenJS</dc:creator>
  <cp:lastModifiedBy>PptxGenJS</cp:lastModifiedBy>
  <cp:revision>1</cp:revision>
  <dcterms:created xsi:type="dcterms:W3CDTF">2026-03-24T00:15:40Z</dcterms:created>
  <dcterms:modified xsi:type="dcterms:W3CDTF">2026-03-24T00:15:40Z</dcterms:modified>
</cp:coreProperties>
</file>